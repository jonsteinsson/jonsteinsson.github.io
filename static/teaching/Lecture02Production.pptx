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handoutMasterIdLst>
    <p:handoutMasterId r:id="rId70"/>
  </p:handoutMasterIdLst>
  <p:sldIdLst>
    <p:sldId id="257" r:id="rId2"/>
    <p:sldId id="434" r:id="rId3"/>
    <p:sldId id="353" r:id="rId4"/>
    <p:sldId id="435" r:id="rId5"/>
    <p:sldId id="436" r:id="rId6"/>
    <p:sldId id="354" r:id="rId7"/>
    <p:sldId id="437" r:id="rId8"/>
    <p:sldId id="356" r:id="rId9"/>
    <p:sldId id="438" r:id="rId10"/>
    <p:sldId id="441" r:id="rId11"/>
    <p:sldId id="439" r:id="rId12"/>
    <p:sldId id="440" r:id="rId13"/>
    <p:sldId id="442" r:id="rId14"/>
    <p:sldId id="443" r:id="rId15"/>
    <p:sldId id="399" r:id="rId16"/>
    <p:sldId id="444" r:id="rId17"/>
    <p:sldId id="445" r:id="rId18"/>
    <p:sldId id="364" r:id="rId19"/>
    <p:sldId id="446" r:id="rId20"/>
    <p:sldId id="447" r:id="rId21"/>
    <p:sldId id="448" r:id="rId22"/>
    <p:sldId id="449" r:id="rId23"/>
    <p:sldId id="450" r:id="rId24"/>
    <p:sldId id="451" r:id="rId25"/>
    <p:sldId id="452" r:id="rId26"/>
    <p:sldId id="453" r:id="rId27"/>
    <p:sldId id="423" r:id="rId28"/>
    <p:sldId id="424" r:id="rId29"/>
    <p:sldId id="425" r:id="rId30"/>
    <p:sldId id="426" r:id="rId31"/>
    <p:sldId id="427" r:id="rId32"/>
    <p:sldId id="454" r:id="rId33"/>
    <p:sldId id="455" r:id="rId34"/>
    <p:sldId id="456" r:id="rId35"/>
    <p:sldId id="431" r:id="rId36"/>
    <p:sldId id="457" r:id="rId37"/>
    <p:sldId id="478" r:id="rId38"/>
    <p:sldId id="479" r:id="rId39"/>
    <p:sldId id="459" r:id="rId40"/>
    <p:sldId id="480" r:id="rId41"/>
    <p:sldId id="462" r:id="rId42"/>
    <p:sldId id="463" r:id="rId43"/>
    <p:sldId id="464" r:id="rId44"/>
    <p:sldId id="465" r:id="rId45"/>
    <p:sldId id="466" r:id="rId46"/>
    <p:sldId id="468" r:id="rId47"/>
    <p:sldId id="469" r:id="rId48"/>
    <p:sldId id="481" r:id="rId49"/>
    <p:sldId id="470" r:id="rId50"/>
    <p:sldId id="472" r:id="rId51"/>
    <p:sldId id="473" r:id="rId52"/>
    <p:sldId id="482" r:id="rId53"/>
    <p:sldId id="483" r:id="rId54"/>
    <p:sldId id="484" r:id="rId55"/>
    <p:sldId id="485" r:id="rId56"/>
    <p:sldId id="486" r:id="rId57"/>
    <p:sldId id="496" r:id="rId58"/>
    <p:sldId id="497" r:id="rId59"/>
    <p:sldId id="498" r:id="rId60"/>
    <p:sldId id="499" r:id="rId61"/>
    <p:sldId id="500" r:id="rId62"/>
    <p:sldId id="490" r:id="rId63"/>
    <p:sldId id="491" r:id="rId64"/>
    <p:sldId id="492" r:id="rId65"/>
    <p:sldId id="493" r:id="rId66"/>
    <p:sldId id="494" r:id="rId67"/>
    <p:sldId id="495" r:id="rId68"/>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988" autoAdjust="0"/>
    <p:restoredTop sz="85012" autoAdjust="0"/>
  </p:normalViewPr>
  <p:slideViewPr>
    <p:cSldViewPr>
      <p:cViewPr varScale="1">
        <p:scale>
          <a:sx n="137" d="100"/>
          <a:sy n="137" d="100"/>
        </p:scale>
        <p:origin x="704" y="76"/>
      </p:cViewPr>
      <p:guideLst>
        <p:guide orient="horz" pos="2160"/>
        <p:guide pos="384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7FA73A9C-448F-4A33-862A-C04D239C66A1}" type="datetimeFigureOut">
              <a:rPr lang="en-US" smtClean="0"/>
              <a:pPr/>
              <a:t>9/17/2026</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2BBFEEAC-4701-463D-8B94-C029B589E90F}" type="slidenum">
              <a:rPr lang="en-US" smtClean="0"/>
              <a:pPr/>
              <a:t>‹#›</a:t>
            </a:fld>
            <a:endParaRPr lang="en-US"/>
          </a:p>
        </p:txBody>
      </p:sp>
    </p:spTree>
    <p:extLst>
      <p:ext uri="{BB962C8B-B14F-4D97-AF65-F5344CB8AC3E}">
        <p14:creationId xmlns:p14="http://schemas.microsoft.com/office/powerpoint/2010/main" val="28746670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BD4B097-A274-460B-B325-CAB71DDB84D0}" type="datetimeFigureOut">
              <a:rPr lang="en-US" smtClean="0"/>
              <a:pPr/>
              <a:t>9/17/2026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DF6A2EEE-03AB-4930-86A3-B34A1408EC36}" type="slidenum">
              <a:rPr lang="en-US" smtClean="0"/>
              <a:pPr/>
              <a:t>‹#›</a:t>
            </a:fld>
            <a:endParaRPr lang="en-US"/>
          </a:p>
        </p:txBody>
      </p:sp>
    </p:spTree>
    <p:extLst>
      <p:ext uri="{BB962C8B-B14F-4D97-AF65-F5344CB8AC3E}">
        <p14:creationId xmlns:p14="http://schemas.microsoft.com/office/powerpoint/2010/main" val="601952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A8A1ED9-3D08-4E8F-A333-AC80F87524EA}" type="slidenum">
              <a:rPr lang="en-US" smtClean="0"/>
              <a:pPr/>
              <a:t>1</a:t>
            </a:fld>
            <a:endParaRPr lang="en-US" dirty="0"/>
          </a:p>
        </p:txBody>
      </p:sp>
    </p:spTree>
    <p:extLst>
      <p:ext uri="{BB962C8B-B14F-4D97-AF65-F5344CB8AC3E}">
        <p14:creationId xmlns:p14="http://schemas.microsoft.com/office/powerpoint/2010/main" val="6025664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A8A1ED9-3D08-4E8F-A333-AC80F87524EA}" type="slidenum">
              <a:rPr lang="en-US" smtClean="0"/>
              <a:pPr/>
              <a:t>3</a:t>
            </a:fld>
            <a:endParaRPr lang="en-US"/>
          </a:p>
        </p:txBody>
      </p:sp>
    </p:spTree>
    <p:extLst>
      <p:ext uri="{BB962C8B-B14F-4D97-AF65-F5344CB8AC3E}">
        <p14:creationId xmlns:p14="http://schemas.microsoft.com/office/powerpoint/2010/main" val="348410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6</a:t>
            </a:fld>
            <a:endParaRPr lang="en-US"/>
          </a:p>
        </p:txBody>
      </p:sp>
    </p:spTree>
    <p:extLst>
      <p:ext uri="{BB962C8B-B14F-4D97-AF65-F5344CB8AC3E}">
        <p14:creationId xmlns:p14="http://schemas.microsoft.com/office/powerpoint/2010/main" val="4006990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8</a:t>
            </a:fld>
            <a:endParaRPr lang="en-US"/>
          </a:p>
        </p:txBody>
      </p:sp>
    </p:spTree>
    <p:extLst>
      <p:ext uri="{BB962C8B-B14F-4D97-AF65-F5344CB8AC3E}">
        <p14:creationId xmlns:p14="http://schemas.microsoft.com/office/powerpoint/2010/main" val="4043432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18</a:t>
            </a:fld>
            <a:endParaRPr lang="en-US"/>
          </a:p>
        </p:txBody>
      </p:sp>
    </p:spTree>
    <p:extLst>
      <p:ext uri="{BB962C8B-B14F-4D97-AF65-F5344CB8AC3E}">
        <p14:creationId xmlns:p14="http://schemas.microsoft.com/office/powerpoint/2010/main" val="1958089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27</a:t>
            </a:fld>
            <a:endParaRPr lang="en-US"/>
          </a:p>
        </p:txBody>
      </p:sp>
    </p:spTree>
    <p:extLst>
      <p:ext uri="{BB962C8B-B14F-4D97-AF65-F5344CB8AC3E}">
        <p14:creationId xmlns:p14="http://schemas.microsoft.com/office/powerpoint/2010/main" val="3041860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28</a:t>
            </a:fld>
            <a:endParaRPr lang="en-US"/>
          </a:p>
        </p:txBody>
      </p:sp>
    </p:spTree>
    <p:extLst>
      <p:ext uri="{BB962C8B-B14F-4D97-AF65-F5344CB8AC3E}">
        <p14:creationId xmlns:p14="http://schemas.microsoft.com/office/powerpoint/2010/main" val="4065595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29</a:t>
            </a:fld>
            <a:endParaRPr lang="en-US"/>
          </a:p>
        </p:txBody>
      </p:sp>
    </p:spTree>
    <p:extLst>
      <p:ext uri="{BB962C8B-B14F-4D97-AF65-F5344CB8AC3E}">
        <p14:creationId xmlns:p14="http://schemas.microsoft.com/office/powerpoint/2010/main" val="18452727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A2EEE-03AB-4930-86A3-B34A1408EC36}" type="slidenum">
              <a:rPr lang="en-US" smtClean="0"/>
              <a:pPr/>
              <a:t>30</a:t>
            </a:fld>
            <a:endParaRPr lang="en-US"/>
          </a:p>
        </p:txBody>
      </p:sp>
    </p:spTree>
    <p:extLst>
      <p:ext uri="{BB962C8B-B14F-4D97-AF65-F5344CB8AC3E}">
        <p14:creationId xmlns:p14="http://schemas.microsoft.com/office/powerpoint/2010/main" val="2915514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F6A2EEE-03AB-4930-86A3-B34A1408EC36}" type="slidenum">
              <a:rPr lang="en-US" smtClean="0"/>
              <a:pPr/>
              <a:t>35</a:t>
            </a:fld>
            <a:endParaRPr lang="en-US"/>
          </a:p>
        </p:txBody>
      </p:sp>
    </p:spTree>
    <p:extLst>
      <p:ext uri="{BB962C8B-B14F-4D97-AF65-F5344CB8AC3E}">
        <p14:creationId xmlns:p14="http://schemas.microsoft.com/office/powerpoint/2010/main" val="735162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D5CC6F3-C9CB-48E6-B810-010F997D0F6D}"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1EF668-3F1A-4861-813B-6C9A9C9DC93B}"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AAAFE3-EFB5-4E2D-A0DC-C39D7BD16890}"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98DA10F-75B2-4B27-8B06-4661DEDB7DEA}" type="datetime1">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C2DEE8A-D118-49AC-A788-EFCC60FED9D1}" type="datetime1">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16C9E4-9BB0-4D64-9F94-BF60919ECCA1}" type="datetime1">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1125E-42E6-41B8-B17C-C9D2E72E3497}" type="datetime1">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9ADF5B6-4EDA-48EA-AC53-CA3F988E09D2}" type="datetime1">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E15589-FE45-42C5-A68D-EA3CDB5D6FF3}" type="datetime1">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394104-4048-40C9-A4BA-A91B490DF877}"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5A8A4A-2AE9-4287-A087-D37A9D466A2E}" type="datetime1">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3BE34B-9575-430D-9A41-469C30B8F0E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5F539C-F8F1-4A1E-8C8E-9F75FEBB1ED1}" type="datetime1">
              <a:rPr lang="en-US" smtClean="0"/>
              <a:t>9/17/2026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3BE34B-9575-430D-9A41-469C30B8F0E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0.png"/><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600201"/>
            <a:ext cx="7772400" cy="1752600"/>
          </a:xfrm>
        </p:spPr>
        <p:txBody>
          <a:bodyPr>
            <a:normAutofit fontScale="90000"/>
          </a:bodyPr>
          <a:lstStyle/>
          <a:p>
            <a:r>
              <a:rPr lang="en-US"/>
              <a:t>Lecture 2 </a:t>
            </a:r>
            <a:br>
              <a:rPr lang="en-US"/>
            </a:br>
            <a:r>
              <a:rPr lang="en-US"/>
              <a:t>Production</a:t>
            </a:r>
            <a:br>
              <a:rPr lang="en-US" dirty="0"/>
            </a:br>
            <a:r>
              <a:rPr lang="en-US" sz="3100" dirty="0"/>
              <a:t>Macroeconomics</a:t>
            </a:r>
            <a:r>
              <a:rPr lang="en-US" dirty="0"/>
              <a:t> </a:t>
            </a:r>
            <a:r>
              <a:rPr lang="en-US" sz="3100" dirty="0"/>
              <a:t>(Quantitative)</a:t>
            </a:r>
            <a:br>
              <a:rPr lang="en-US" sz="3100" dirty="0"/>
            </a:br>
            <a:r>
              <a:rPr lang="en-US" sz="2800" dirty="0"/>
              <a:t>Econ 101B</a:t>
            </a:r>
            <a:endParaRPr lang="en-US" dirty="0"/>
          </a:p>
        </p:txBody>
      </p:sp>
      <p:sp>
        <p:nvSpPr>
          <p:cNvPr id="3" name="Subtitle 2"/>
          <p:cNvSpPr>
            <a:spLocks noGrp="1"/>
          </p:cNvSpPr>
          <p:nvPr>
            <p:ph type="subTitle" idx="1"/>
          </p:nvPr>
        </p:nvSpPr>
        <p:spPr/>
        <p:txBody>
          <a:bodyPr>
            <a:normAutofit/>
          </a:bodyPr>
          <a:lstStyle/>
          <a:p>
            <a:r>
              <a:rPr lang="en-US" dirty="0"/>
              <a:t>J</a:t>
            </a:r>
            <a:r>
              <a:rPr lang="is-IS" dirty="0"/>
              <a:t>ón Steinsson</a:t>
            </a:r>
          </a:p>
          <a:p>
            <a:r>
              <a:rPr lang="is-IS" dirty="0"/>
              <a:t>University of California, Berkeley</a:t>
            </a:r>
          </a:p>
          <a:p>
            <a:endParaRPr lang="en-US" dirty="0"/>
          </a:p>
        </p:txBody>
      </p:sp>
      <p:sp>
        <p:nvSpPr>
          <p:cNvPr id="4" name="Slide Number Placeholder 3"/>
          <p:cNvSpPr>
            <a:spLocks noGrp="1"/>
          </p:cNvSpPr>
          <p:nvPr>
            <p:ph type="sldNum" sz="quarter" idx="12"/>
          </p:nvPr>
        </p:nvSpPr>
        <p:spPr/>
        <p:txBody>
          <a:bodyPr/>
          <a:lstStyle/>
          <a:p>
            <a:fld id="{BB3BE34B-9575-430D-9A41-469C30B8F0EA}"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92DFA-5D6F-7DE2-39F9-74C6B6B6F53E}"/>
              </a:ext>
            </a:extLst>
          </p:cNvPr>
          <p:cNvSpPr>
            <a:spLocks noGrp="1"/>
          </p:cNvSpPr>
          <p:nvPr>
            <p:ph type="title"/>
          </p:nvPr>
        </p:nvSpPr>
        <p:spPr/>
        <p:txBody>
          <a:bodyPr/>
          <a:lstStyle/>
          <a:p>
            <a:r>
              <a:rPr lang="is-IS" dirty="0"/>
              <a:t>A Model of Production</a:t>
            </a:r>
            <a:endParaRPr lang="en-US" dirty="0"/>
          </a:p>
        </p:txBody>
      </p:sp>
      <p:sp>
        <p:nvSpPr>
          <p:cNvPr id="3" name="Content Placeholder 2">
            <a:extLst>
              <a:ext uri="{FF2B5EF4-FFF2-40B4-BE49-F238E27FC236}">
                <a16:creationId xmlns:a16="http://schemas.microsoft.com/office/drawing/2014/main" id="{494A1D23-5C8A-99D6-6093-3B74DF7914E6}"/>
              </a:ext>
            </a:extLst>
          </p:cNvPr>
          <p:cNvSpPr>
            <a:spLocks noGrp="1"/>
          </p:cNvSpPr>
          <p:nvPr>
            <p:ph idx="1"/>
          </p:nvPr>
        </p:nvSpPr>
        <p:spPr/>
        <p:txBody>
          <a:bodyPr/>
          <a:lstStyle/>
          <a:p>
            <a:endParaRPr lang="is-IS" dirty="0"/>
          </a:p>
          <a:p>
            <a:r>
              <a:rPr lang="is-IS" dirty="0"/>
              <a:t>Economists use mathematical </a:t>
            </a:r>
            <a:r>
              <a:rPr lang="is-IS" dirty="0">
                <a:solidFill>
                  <a:srgbClr val="C00000"/>
                </a:solidFill>
              </a:rPr>
              <a:t>models</a:t>
            </a:r>
            <a:r>
              <a:rPr lang="is-IS" dirty="0"/>
              <a:t> to describe and understand the world</a:t>
            </a:r>
          </a:p>
          <a:p>
            <a:endParaRPr lang="is-IS" dirty="0"/>
          </a:p>
          <a:p>
            <a:r>
              <a:rPr lang="en-US" dirty="0"/>
              <a:t>In this lecture, we take our first steps in this direction</a:t>
            </a:r>
          </a:p>
        </p:txBody>
      </p:sp>
      <p:sp>
        <p:nvSpPr>
          <p:cNvPr id="4" name="Slide Number Placeholder 3">
            <a:extLst>
              <a:ext uri="{FF2B5EF4-FFF2-40B4-BE49-F238E27FC236}">
                <a16:creationId xmlns:a16="http://schemas.microsoft.com/office/drawing/2014/main" id="{139F36E1-282A-037C-4FCE-5710630570ED}"/>
              </a:ext>
            </a:extLst>
          </p:cNvPr>
          <p:cNvSpPr>
            <a:spLocks noGrp="1"/>
          </p:cNvSpPr>
          <p:nvPr>
            <p:ph type="sldNum" sz="quarter" idx="12"/>
          </p:nvPr>
        </p:nvSpPr>
        <p:spPr/>
        <p:txBody>
          <a:bodyPr/>
          <a:lstStyle/>
          <a:p>
            <a:fld id="{BB3BE34B-9575-430D-9A41-469C30B8F0EA}" type="slidenum">
              <a:rPr lang="en-US" smtClean="0"/>
              <a:pPr/>
              <a:t>2</a:t>
            </a:fld>
            <a:endParaRPr lang="en-US"/>
          </a:p>
        </p:txBody>
      </p:sp>
    </p:spTree>
    <p:extLst>
      <p:ext uri="{BB962C8B-B14F-4D97-AF65-F5344CB8AC3E}">
        <p14:creationId xmlns:p14="http://schemas.microsoft.com/office/powerpoint/2010/main" val="1128466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Simple Canonical Model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a:lnSpc>
                    <a:spcPct val="124000"/>
                  </a:lnSpc>
                </a:pPr>
                <a:r>
                  <a:rPr lang="en-US" dirty="0"/>
                  <a:t>One market: Supply and demand:</a:t>
                </a:r>
              </a:p>
              <a:p>
                <a:pPr algn="ctr">
                  <a:lnSpc>
                    <a:spcPct val="140000"/>
                  </a:lnSpc>
                  <a:buNone/>
                </a:pPr>
                <a14:m>
                  <m:oMathPara xmlns:m="http://schemas.openxmlformats.org/officeDocument/2006/math">
                    <m:oMath>
                      <m:m>
                        <m:mPr>
                          <m:mcs>
                            <m:mc>
                              <m:mcPr>
                                <m:count m:val="3"/>
                                <m:mcJc m:val="center"/>
                              </m:mcPr>
                            </m:mc>
                          </m:mcs>
                          <m:ctrlPr>
                            <a:rPr lang="en-US" b="0" i="1" smtClean="0">
                              <a:latin typeface="Cambria Math" panose="02040503050406030204" pitchFamily="18" charset="0"/>
                            </a:rPr>
                          </m:ctrlPr>
                        </m:mPr>
                        <m:mr>
                          <m:e>
                            <m:sSub>
                              <m:sSubPr>
                                <m:ctrlPr>
                                  <a:rPr lang="is-IS" i="1">
                                    <a:latin typeface="Cambria Math" panose="02040503050406030204" pitchFamily="18" charset="0"/>
                                  </a:rPr>
                                </m:ctrlPr>
                              </m:sSubPr>
                              <m:e>
                                <m:r>
                                  <a:rPr lang="is-I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𝑡</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m:t>
                            </m:r>
                            <m:r>
                              <a:rPr lang="en-US" i="1">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𝑡</m:t>
                                </m:r>
                              </m:sub>
                              <m:sup>
                                <m:r>
                                  <a:rPr lang="en-US" i="1">
                                    <a:latin typeface="Cambria Math" panose="02040503050406030204" pitchFamily="18" charset="0"/>
                                  </a:rPr>
                                  <m:t>𝑥𝑦𝑧</m:t>
                                </m:r>
                              </m:sup>
                            </m:sSubSup>
                          </m:e>
                        </m:mr>
                      </m:m>
                    </m:oMath>
                  </m:oMathPara>
                </a14:m>
                <a:endParaRPr lang="en-US" dirty="0"/>
              </a:p>
              <a:p>
                <a:pPr>
                  <a:lnSpc>
                    <a:spcPct val="124000"/>
                  </a:lnSpc>
                </a:pPr>
                <a:r>
                  <a:rPr lang="en-US" dirty="0"/>
                  <a:t>Two equations look very similar</a:t>
                </a:r>
              </a:p>
              <a:p>
                <a:pPr>
                  <a:lnSpc>
                    <a:spcPct val="140000"/>
                  </a:lnSpc>
                </a:pPr>
                <a:r>
                  <a:rPr lang="en-US" dirty="0"/>
                  <a:t>Which one is the supply curve?</a:t>
                </a:r>
              </a:p>
              <a:p>
                <a:pPr lvl="1">
                  <a:lnSpc>
                    <a:spcPct val="140000"/>
                  </a:lnSpc>
                </a:pPr>
                <a:r>
                  <a:rPr lang="en-US" dirty="0"/>
                  <a:t>If </a:t>
                </a:r>
                <a14:m>
                  <m:oMath xmlns:m="http://schemas.openxmlformats.org/officeDocument/2006/math">
                    <m:r>
                      <a:rPr lang="en-US" b="0" i="1" smtClean="0">
                        <a:latin typeface="Cambria Math" panose="02040503050406030204" pitchFamily="18" charset="0"/>
                      </a:rPr>
                      <m:t>𝑎</m:t>
                    </m:r>
                  </m:oMath>
                </a14:m>
                <a:r>
                  <a:rPr lang="en-US" dirty="0"/>
                  <a:t> and </a:t>
                </a:r>
                <a14:m>
                  <m:oMath xmlns:m="http://schemas.openxmlformats.org/officeDocument/2006/math">
                    <m:r>
                      <a:rPr lang="en-US" b="0" i="1" smtClean="0">
                        <a:latin typeface="Cambria Math" panose="02040503050406030204" pitchFamily="18" charset="0"/>
                      </a:rPr>
                      <m:t>𝑏</m:t>
                    </m:r>
                  </m:oMath>
                </a14:m>
                <a:r>
                  <a:rPr lang="en-US" dirty="0"/>
                  <a:t> are positive, first equation is supply curve </a:t>
                </a:r>
                <a:br>
                  <a:rPr lang="en-US" dirty="0"/>
                </a:br>
                <a:r>
                  <a:rPr lang="en-US" dirty="0"/>
                  <a:t>because supply curves slope upward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11" t="-135" b="-269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F872FFD1-D1BF-4241-838E-C58500DFF598}" type="slidenum">
              <a:rPr lang="en-US" smtClean="0"/>
              <a:pPr/>
              <a:t>3</a:t>
            </a:fld>
            <a:endParaRPr lang="en-US" dirty="0"/>
          </a:p>
        </p:txBody>
      </p:sp>
    </p:spTree>
    <p:extLst>
      <p:ext uri="{BB962C8B-B14F-4D97-AF65-F5344CB8AC3E}">
        <p14:creationId xmlns:p14="http://schemas.microsoft.com/office/powerpoint/2010/main" val="18816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CFE90-3126-EEE5-712F-BFD4605ECB58}"/>
              </a:ext>
            </a:extLst>
          </p:cNvPr>
          <p:cNvSpPr>
            <a:spLocks noGrp="1"/>
          </p:cNvSpPr>
          <p:nvPr>
            <p:ph type="title"/>
          </p:nvPr>
        </p:nvSpPr>
        <p:spPr/>
        <p:txBody>
          <a:bodyPr/>
          <a:lstStyle/>
          <a:p>
            <a:r>
              <a:rPr lang="en-US" dirty="0"/>
              <a:t>Components of a Model</a:t>
            </a:r>
          </a:p>
        </p:txBody>
      </p:sp>
      <p:sp>
        <p:nvSpPr>
          <p:cNvPr id="3" name="Content Placeholder 2">
            <a:extLst>
              <a:ext uri="{FF2B5EF4-FFF2-40B4-BE49-F238E27FC236}">
                <a16:creationId xmlns:a16="http://schemas.microsoft.com/office/drawing/2014/main" id="{1064F2F8-1F25-B254-4BC1-D7DB81B59296}"/>
              </a:ext>
            </a:extLst>
          </p:cNvPr>
          <p:cNvSpPr>
            <a:spLocks noGrp="1"/>
          </p:cNvSpPr>
          <p:nvPr>
            <p:ph idx="1"/>
          </p:nvPr>
        </p:nvSpPr>
        <p:spPr/>
        <p:txBody>
          <a:bodyPr/>
          <a:lstStyle/>
          <a:p>
            <a:pPr marL="514350" indent="-514350">
              <a:lnSpc>
                <a:spcPct val="150000"/>
              </a:lnSpc>
              <a:buFont typeface="+mj-lt"/>
              <a:buAutoNum type="arabicPeriod"/>
            </a:pPr>
            <a:endParaRPr lang="en-US" dirty="0"/>
          </a:p>
          <a:p>
            <a:pPr marL="514350" indent="-514350">
              <a:lnSpc>
                <a:spcPct val="150000"/>
              </a:lnSpc>
              <a:buFont typeface="+mj-lt"/>
              <a:buAutoNum type="arabicPeriod"/>
            </a:pPr>
            <a:r>
              <a:rPr lang="en-US" dirty="0"/>
              <a:t>Endogenous variables</a:t>
            </a:r>
          </a:p>
          <a:p>
            <a:pPr marL="514350" indent="-514350">
              <a:lnSpc>
                <a:spcPct val="150000"/>
              </a:lnSpc>
              <a:buFont typeface="+mj-lt"/>
              <a:buAutoNum type="arabicPeriod"/>
            </a:pPr>
            <a:r>
              <a:rPr lang="en-US" dirty="0"/>
              <a:t>Exogenous variables and parameters</a:t>
            </a:r>
          </a:p>
          <a:p>
            <a:pPr marL="514350" indent="-514350">
              <a:lnSpc>
                <a:spcPct val="150000"/>
              </a:lnSpc>
              <a:buFont typeface="+mj-lt"/>
              <a:buAutoNum type="arabicPeriod"/>
            </a:pPr>
            <a:r>
              <a:rPr lang="en-US" dirty="0"/>
              <a:t>Equations that relate these variable to each other</a:t>
            </a:r>
          </a:p>
        </p:txBody>
      </p:sp>
      <p:sp>
        <p:nvSpPr>
          <p:cNvPr id="4" name="Slide Number Placeholder 3">
            <a:extLst>
              <a:ext uri="{FF2B5EF4-FFF2-40B4-BE49-F238E27FC236}">
                <a16:creationId xmlns:a16="http://schemas.microsoft.com/office/drawing/2014/main" id="{265EC0E1-69BA-0AAE-2DD1-615E67653569}"/>
              </a:ext>
            </a:extLst>
          </p:cNvPr>
          <p:cNvSpPr>
            <a:spLocks noGrp="1"/>
          </p:cNvSpPr>
          <p:nvPr>
            <p:ph type="sldNum" sz="quarter" idx="12"/>
          </p:nvPr>
        </p:nvSpPr>
        <p:spPr/>
        <p:txBody>
          <a:bodyPr/>
          <a:lstStyle/>
          <a:p>
            <a:fld id="{BB3BE34B-9575-430D-9A41-469C30B8F0EA}" type="slidenum">
              <a:rPr lang="en-US" smtClean="0"/>
              <a:pPr/>
              <a:t>4</a:t>
            </a:fld>
            <a:endParaRPr lang="en-US"/>
          </a:p>
        </p:txBody>
      </p:sp>
    </p:spTree>
    <p:extLst>
      <p:ext uri="{BB962C8B-B14F-4D97-AF65-F5344CB8AC3E}">
        <p14:creationId xmlns:p14="http://schemas.microsoft.com/office/powerpoint/2010/main" val="559706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FF716-C6A0-15FE-482D-232A3AEDE114}"/>
              </a:ext>
            </a:extLst>
          </p:cNvPr>
          <p:cNvSpPr>
            <a:spLocks noGrp="1"/>
          </p:cNvSpPr>
          <p:nvPr>
            <p:ph type="title"/>
          </p:nvPr>
        </p:nvSpPr>
        <p:spPr/>
        <p:txBody>
          <a:bodyPr/>
          <a:lstStyle/>
          <a:p>
            <a:r>
              <a:rPr lang="en-US" dirty="0"/>
              <a:t>Components of a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C76CC2-7286-B47D-09CC-DFA1C2188354}"/>
                  </a:ext>
                </a:extLst>
              </p:cNvPr>
              <p:cNvSpPr>
                <a:spLocks noGrp="1"/>
              </p:cNvSpPr>
              <p:nvPr>
                <p:ph idx="1"/>
              </p:nvPr>
            </p:nvSpPr>
            <p:spPr>
              <a:xfrm>
                <a:off x="609600" y="1600201"/>
                <a:ext cx="10972800" cy="4756150"/>
              </a:xfrm>
            </p:spPr>
            <p:txBody>
              <a:bodyPr>
                <a:normAutofit fontScale="92500" lnSpcReduction="10000"/>
              </a:bodyPr>
              <a:lstStyle/>
              <a:p>
                <a:pPr marL="0" indent="0">
                  <a:lnSpc>
                    <a:spcPct val="114000"/>
                  </a:lnSpc>
                  <a:buNone/>
                </a:pPr>
                <a14:m>
                  <m:oMathPara xmlns:m="http://schemas.openxmlformats.org/officeDocument/2006/math">
                    <m:oMath>
                      <m:m>
                        <m:mPr>
                          <m:mcs>
                            <m:mc>
                              <m:mcPr>
                                <m:count m:val="3"/>
                                <m:mcJc m:val="center"/>
                              </m:mcPr>
                            </m:mc>
                          </m:mcs>
                          <m:ctrlPr>
                            <a:rPr lang="en-US" b="0" i="1" smtClean="0">
                              <a:latin typeface="Cambria Math" panose="02040503050406030204" pitchFamily="18" charset="0"/>
                            </a:rPr>
                          </m:ctrlPr>
                        </m:mPr>
                        <m:mr>
                          <m:e>
                            <m:sSub>
                              <m:sSubPr>
                                <m:ctrlPr>
                                  <a:rPr lang="is-IS" i="1">
                                    <a:latin typeface="Cambria Math" panose="02040503050406030204" pitchFamily="18" charset="0"/>
                                  </a:rPr>
                                </m:ctrlPr>
                              </m:sSubPr>
                              <m:e>
                                <m:r>
                                  <a:rPr lang="is-I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𝑎</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𝑡</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𝑞</m:t>
                                </m:r>
                              </m:e>
                              <m:sub>
                                <m:r>
                                  <a:rPr lang="en-US" i="1">
                                    <a:latin typeface="Cambria Math" panose="02040503050406030204" pitchFamily="18" charset="0"/>
                                  </a:rPr>
                                  <m:t>𝑡</m:t>
                                </m:r>
                              </m:sub>
                            </m:sSub>
                          </m:e>
                          <m:e>
                            <m:r>
                              <a:rPr lang="en-US" b="0" i="1" smtClean="0">
                                <a:latin typeface="Cambria Math" panose="02040503050406030204" pitchFamily="18" charset="0"/>
                              </a:rPr>
                              <m:t>=</m:t>
                            </m:r>
                          </m:e>
                          <m:e>
                            <m:r>
                              <a:rPr lang="en-US" i="1">
                                <a:latin typeface="Cambria Math" panose="02040503050406030204" pitchFamily="18" charset="0"/>
                              </a:rPr>
                              <m:t>−</m:t>
                            </m:r>
                            <m:r>
                              <a:rPr lang="en-US" i="1">
                                <a:latin typeface="Cambria Math" panose="02040503050406030204" pitchFamily="18" charset="0"/>
                              </a:rPr>
                              <m:t>𝑏</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𝑝</m:t>
                                </m:r>
                              </m:e>
                              <m:sub>
                                <m:r>
                                  <a:rPr lang="en-US" i="1">
                                    <a:latin typeface="Cambria Math" panose="02040503050406030204" pitchFamily="18" charset="0"/>
                                  </a:rPr>
                                  <m:t>𝑡</m:t>
                                </m:r>
                              </m:sub>
                              <m:sup>
                                <m:r>
                                  <a:rPr lang="en-US" i="1">
                                    <a:latin typeface="Cambria Math" panose="02040503050406030204" pitchFamily="18" charset="0"/>
                                  </a:rPr>
                                  <m:t>𝑥𝑦𝑧</m:t>
                                </m:r>
                              </m:sup>
                            </m:sSubSup>
                          </m:e>
                        </m:mr>
                      </m:m>
                    </m:oMath>
                  </m:oMathPara>
                </a14:m>
                <a:endParaRPr lang="en-US" dirty="0"/>
              </a:p>
              <a:p>
                <a:pPr>
                  <a:lnSpc>
                    <a:spcPct val="114000"/>
                  </a:lnSpc>
                  <a:spcBef>
                    <a:spcPts val="1800"/>
                  </a:spcBef>
                </a:pPr>
                <a:r>
                  <a:rPr lang="en-US" dirty="0"/>
                  <a:t>Endogenous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𝑡</m:t>
                        </m:r>
                      </m:sub>
                    </m:sSub>
                  </m:oMath>
                </a14:m>
                <a:endParaRPr lang="en-US" dirty="0"/>
              </a:p>
              <a:p>
                <a:pPr>
                  <a:lnSpc>
                    <a:spcPct val="114000"/>
                  </a:lnSpc>
                </a:pPr>
                <a:r>
                  <a:rPr lang="en-US" dirty="0"/>
                  <a:t>Exogenous variables: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𝑡</m:t>
                        </m:r>
                      </m:sub>
                    </m:sSub>
                  </m:oMath>
                </a14:m>
                <a:r>
                  <a:rPr lang="en-US" dirty="0"/>
                  <a:t> and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𝑝</m:t>
                        </m:r>
                      </m:e>
                      <m:sub>
                        <m:r>
                          <a:rPr lang="en-US" b="0" i="1" smtClean="0">
                            <a:latin typeface="Cambria Math" panose="02040503050406030204" pitchFamily="18" charset="0"/>
                          </a:rPr>
                          <m:t>𝑡</m:t>
                        </m:r>
                      </m:sub>
                      <m:sup>
                        <m:r>
                          <a:rPr lang="en-US" b="0" i="1" smtClean="0">
                            <a:latin typeface="Cambria Math" panose="02040503050406030204" pitchFamily="18" charset="0"/>
                          </a:rPr>
                          <m:t>𝑥𝑦𝑧</m:t>
                        </m:r>
                      </m:sup>
                    </m:sSubSup>
                  </m:oMath>
                </a14:m>
                <a:endParaRPr lang="en-US" dirty="0"/>
              </a:p>
              <a:p>
                <a:pPr>
                  <a:lnSpc>
                    <a:spcPct val="114000"/>
                  </a:lnSpc>
                </a:pPr>
                <a:r>
                  <a:rPr lang="en-US" dirty="0"/>
                  <a:t>Parameters: </a:t>
                </a:r>
                <a14:m>
                  <m:oMath xmlns:m="http://schemas.openxmlformats.org/officeDocument/2006/math">
                    <m:r>
                      <a:rPr lang="en-US" b="0" i="1" smtClean="0">
                        <a:latin typeface="Cambria Math" panose="02040503050406030204" pitchFamily="18" charset="0"/>
                      </a:rPr>
                      <m:t>𝑎</m:t>
                    </m:r>
                  </m:oMath>
                </a14:m>
                <a:r>
                  <a:rPr lang="en-US" dirty="0"/>
                  <a:t> and </a:t>
                </a:r>
                <a14:m>
                  <m:oMath xmlns:m="http://schemas.openxmlformats.org/officeDocument/2006/math">
                    <m:r>
                      <a:rPr lang="en-US" b="0" i="1" smtClean="0">
                        <a:latin typeface="Cambria Math" panose="02040503050406030204" pitchFamily="18" charset="0"/>
                      </a:rPr>
                      <m:t>𝑏</m:t>
                    </m:r>
                  </m:oMath>
                </a14:m>
                <a:r>
                  <a:rPr lang="en-US" dirty="0"/>
                  <a:t> </a:t>
                </a:r>
              </a:p>
              <a:p>
                <a:pPr>
                  <a:lnSpc>
                    <a:spcPct val="114000"/>
                  </a:lnSpc>
                </a:pPr>
                <a:endParaRPr lang="en-US" dirty="0"/>
              </a:p>
              <a:p>
                <a:pPr>
                  <a:lnSpc>
                    <a:spcPct val="114000"/>
                  </a:lnSpc>
                </a:pPr>
                <a:r>
                  <a:rPr lang="en-US" dirty="0"/>
                  <a:t>If you don’t know what the endogenous variables are, </a:t>
                </a:r>
                <a:br>
                  <a:rPr lang="en-US" dirty="0"/>
                </a:br>
                <a:r>
                  <a:rPr lang="en-US" dirty="0"/>
                  <a:t>you don’t know what you are solving for.</a:t>
                </a:r>
              </a:p>
            </p:txBody>
          </p:sp>
        </mc:Choice>
        <mc:Fallback xmlns="">
          <p:sp>
            <p:nvSpPr>
              <p:cNvPr id="3" name="Content Placeholder 2">
                <a:extLst>
                  <a:ext uri="{FF2B5EF4-FFF2-40B4-BE49-F238E27FC236}">
                    <a16:creationId xmlns:a16="http://schemas.microsoft.com/office/drawing/2014/main" id="{09C76CC2-7286-B47D-09CC-DFA1C2188354}"/>
                  </a:ext>
                </a:extLst>
              </p:cNvPr>
              <p:cNvSpPr>
                <a:spLocks noGrp="1" noRot="1" noChangeAspect="1" noMove="1" noResize="1" noEditPoints="1" noAdjustHandles="1" noChangeArrowheads="1" noChangeShapeType="1" noTextEdit="1"/>
              </p:cNvSpPr>
              <p:nvPr>
                <p:ph idx="1"/>
              </p:nvPr>
            </p:nvSpPr>
            <p:spPr>
              <a:xfrm>
                <a:off x="609600" y="1600201"/>
                <a:ext cx="10972800" cy="4756150"/>
              </a:xfrm>
              <a:blipFill>
                <a:blip r:embed="rId2"/>
                <a:stretch>
                  <a:fillRect l="-1111" b="-141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0D45463-E2C4-E22A-FB72-1BD38AB0DA7B}"/>
              </a:ext>
            </a:extLst>
          </p:cNvPr>
          <p:cNvSpPr>
            <a:spLocks noGrp="1"/>
          </p:cNvSpPr>
          <p:nvPr>
            <p:ph type="sldNum" sz="quarter" idx="12"/>
          </p:nvPr>
        </p:nvSpPr>
        <p:spPr/>
        <p:txBody>
          <a:bodyPr/>
          <a:lstStyle/>
          <a:p>
            <a:fld id="{BB3BE34B-9575-430D-9A41-469C30B8F0EA}" type="slidenum">
              <a:rPr lang="en-US" smtClean="0"/>
              <a:pPr/>
              <a:t>5</a:t>
            </a:fld>
            <a:endParaRPr lang="en-US"/>
          </a:p>
        </p:txBody>
      </p:sp>
    </p:spTree>
    <p:extLst>
      <p:ext uri="{BB962C8B-B14F-4D97-AF65-F5344CB8AC3E}">
        <p14:creationId xmlns:p14="http://schemas.microsoft.com/office/powerpoint/2010/main" val="2191943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Equilibrium Model</a:t>
            </a:r>
          </a:p>
        </p:txBody>
      </p:sp>
      <p:sp>
        <p:nvSpPr>
          <p:cNvPr id="3" name="Content Placeholder 2"/>
          <p:cNvSpPr>
            <a:spLocks noGrp="1"/>
          </p:cNvSpPr>
          <p:nvPr>
            <p:ph idx="1"/>
          </p:nvPr>
        </p:nvSpPr>
        <p:spPr/>
        <p:txBody>
          <a:bodyPr/>
          <a:lstStyle/>
          <a:p>
            <a:pPr>
              <a:lnSpc>
                <a:spcPct val="114000"/>
              </a:lnSpc>
            </a:pPr>
            <a:r>
              <a:rPr lang="en-US" dirty="0"/>
              <a:t>In macro, we usually study </a:t>
            </a:r>
            <a:r>
              <a:rPr lang="en-US" dirty="0">
                <a:solidFill>
                  <a:srgbClr val="C00000"/>
                </a:solidFill>
              </a:rPr>
              <a:t>general equilibrium </a:t>
            </a:r>
            <a:r>
              <a:rPr lang="en-US" dirty="0"/>
              <a:t>models</a:t>
            </a:r>
          </a:p>
          <a:p>
            <a:pPr>
              <a:lnSpc>
                <a:spcPct val="114000"/>
              </a:lnSpc>
            </a:pPr>
            <a:r>
              <a:rPr lang="en-US" dirty="0"/>
              <a:t>A model is a general equilibrium model if price </a:t>
            </a:r>
            <a:r>
              <a:rPr lang="en-US" b="1" dirty="0"/>
              <a:t>and</a:t>
            </a:r>
            <a:r>
              <a:rPr lang="en-US" dirty="0"/>
              <a:t> quantity </a:t>
            </a:r>
            <a:br>
              <a:rPr lang="en-US" dirty="0"/>
            </a:br>
            <a:r>
              <a:rPr lang="en-US" dirty="0"/>
              <a:t>in </a:t>
            </a:r>
            <a:r>
              <a:rPr lang="en-US" b="1" dirty="0"/>
              <a:t>all</a:t>
            </a:r>
            <a:r>
              <a:rPr lang="en-US" dirty="0"/>
              <a:t> markets are endogenous variables</a:t>
            </a:r>
          </a:p>
          <a:p>
            <a:pPr>
              <a:lnSpc>
                <a:spcPct val="114000"/>
              </a:lnSpc>
            </a:pPr>
            <a:r>
              <a:rPr lang="en-US" dirty="0"/>
              <a:t>Today we will study our first general equilibrium model </a:t>
            </a:r>
            <a:br>
              <a:rPr lang="en-US" dirty="0"/>
            </a:br>
            <a:r>
              <a:rPr lang="en-US" dirty="0"/>
              <a:t>with three markets:</a:t>
            </a:r>
          </a:p>
          <a:p>
            <a:pPr lvl="1">
              <a:lnSpc>
                <a:spcPct val="114000"/>
              </a:lnSpc>
            </a:pPr>
            <a:r>
              <a:rPr lang="en-US" dirty="0"/>
              <a:t>Labor market, capital market, goods market</a:t>
            </a:r>
          </a:p>
        </p:txBody>
      </p:sp>
      <p:sp>
        <p:nvSpPr>
          <p:cNvPr id="4" name="Slide Number Placeholder 3"/>
          <p:cNvSpPr>
            <a:spLocks noGrp="1"/>
          </p:cNvSpPr>
          <p:nvPr>
            <p:ph type="sldNum" sz="quarter" idx="12"/>
          </p:nvPr>
        </p:nvSpPr>
        <p:spPr/>
        <p:txBody>
          <a:bodyPr/>
          <a:lstStyle/>
          <a:p>
            <a:fld id="{BB3BE34B-9575-430D-9A41-469C30B8F0EA}" type="slidenum">
              <a:rPr lang="en-US" smtClean="0"/>
              <a:pPr/>
              <a:t>6</a:t>
            </a:fld>
            <a:endParaRPr lang="en-US"/>
          </a:p>
        </p:txBody>
      </p:sp>
    </p:spTree>
    <p:extLst>
      <p:ext uri="{BB962C8B-B14F-4D97-AF65-F5344CB8AC3E}">
        <p14:creationId xmlns:p14="http://schemas.microsoft.com/office/powerpoint/2010/main" val="808375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D8102-A191-DABB-544E-434F69A7A240}"/>
              </a:ext>
            </a:extLst>
          </p:cNvPr>
          <p:cNvSpPr>
            <a:spLocks noGrp="1"/>
          </p:cNvSpPr>
          <p:nvPr>
            <p:ph type="title"/>
          </p:nvPr>
        </p:nvSpPr>
        <p:spPr/>
        <p:txBody>
          <a:bodyPr/>
          <a:lstStyle/>
          <a:p>
            <a:r>
              <a:rPr lang="en-US" dirty="0"/>
              <a:t>Roadmap</a:t>
            </a:r>
          </a:p>
        </p:txBody>
      </p:sp>
      <p:sp>
        <p:nvSpPr>
          <p:cNvPr id="3" name="Content Placeholder 2">
            <a:extLst>
              <a:ext uri="{FF2B5EF4-FFF2-40B4-BE49-F238E27FC236}">
                <a16:creationId xmlns:a16="http://schemas.microsoft.com/office/drawing/2014/main" id="{0DED04FF-2FCB-26BD-34AA-1E1AE3B38B3B}"/>
              </a:ext>
            </a:extLst>
          </p:cNvPr>
          <p:cNvSpPr>
            <a:spLocks noGrp="1"/>
          </p:cNvSpPr>
          <p:nvPr>
            <p:ph idx="1"/>
          </p:nvPr>
        </p:nvSpPr>
        <p:spPr>
          <a:xfrm>
            <a:off x="609600" y="1600201"/>
            <a:ext cx="10972800" cy="4756150"/>
          </a:xfrm>
        </p:spPr>
        <p:txBody>
          <a:bodyPr>
            <a:normAutofit fontScale="92500" lnSpcReduction="10000"/>
          </a:bodyPr>
          <a:lstStyle/>
          <a:p>
            <a:r>
              <a:rPr lang="en-US" dirty="0"/>
              <a:t>Simple general equilibrium models will consist of:</a:t>
            </a:r>
          </a:p>
          <a:p>
            <a:pPr lvl="1"/>
            <a:r>
              <a:rPr lang="en-US" dirty="0"/>
              <a:t>Demand and supply curves for each market</a:t>
            </a:r>
          </a:p>
          <a:p>
            <a:r>
              <a:rPr lang="en-US" dirty="0"/>
              <a:t>Important caveat #1: Only relative prices matter</a:t>
            </a:r>
          </a:p>
          <a:p>
            <a:pPr lvl="1"/>
            <a:r>
              <a:rPr lang="en-US" dirty="0"/>
              <a:t>This implies that we can set one of the prices equal to 1</a:t>
            </a:r>
          </a:p>
          <a:p>
            <a:pPr lvl="1"/>
            <a:r>
              <a:rPr lang="en-US" dirty="0"/>
              <a:t>We call this the numeraire</a:t>
            </a:r>
          </a:p>
          <a:p>
            <a:r>
              <a:rPr lang="en-US" dirty="0"/>
              <a:t>Important caveat #2: Walras’ Law</a:t>
            </a:r>
          </a:p>
          <a:p>
            <a:pPr lvl="1"/>
            <a:r>
              <a:rPr lang="en-US" dirty="0"/>
              <a:t>If all but one market is in equilibrium, then the last one is necessarily </a:t>
            </a:r>
            <a:br>
              <a:rPr lang="en-US" dirty="0"/>
            </a:br>
            <a:r>
              <a:rPr lang="en-US" dirty="0"/>
              <a:t>also in equilibrium. </a:t>
            </a:r>
          </a:p>
          <a:p>
            <a:pPr lvl="1"/>
            <a:r>
              <a:rPr lang="en-US" dirty="0"/>
              <a:t>This implies that we only need to write down equations for </a:t>
            </a:r>
            <a:br>
              <a:rPr lang="en-US" dirty="0"/>
            </a:br>
            <a:r>
              <a:rPr lang="en-US" dirty="0"/>
              <a:t>all but one of the markets</a:t>
            </a:r>
          </a:p>
          <a:p>
            <a:pPr marL="0" indent="0">
              <a:buNone/>
            </a:pPr>
            <a:endParaRPr lang="en-US" dirty="0"/>
          </a:p>
        </p:txBody>
      </p:sp>
      <p:sp>
        <p:nvSpPr>
          <p:cNvPr id="4" name="Slide Number Placeholder 3">
            <a:extLst>
              <a:ext uri="{FF2B5EF4-FFF2-40B4-BE49-F238E27FC236}">
                <a16:creationId xmlns:a16="http://schemas.microsoft.com/office/drawing/2014/main" id="{D62E88D6-19AA-D011-7054-EA78BE22FD22}"/>
              </a:ext>
            </a:extLst>
          </p:cNvPr>
          <p:cNvSpPr>
            <a:spLocks noGrp="1"/>
          </p:cNvSpPr>
          <p:nvPr>
            <p:ph type="sldNum" sz="quarter" idx="12"/>
          </p:nvPr>
        </p:nvSpPr>
        <p:spPr/>
        <p:txBody>
          <a:bodyPr/>
          <a:lstStyle/>
          <a:p>
            <a:fld id="{BB3BE34B-9575-430D-9A41-469C30B8F0EA}" type="slidenum">
              <a:rPr lang="en-US" smtClean="0"/>
              <a:pPr/>
              <a:t>7</a:t>
            </a:fld>
            <a:endParaRPr lang="en-US"/>
          </a:p>
        </p:txBody>
      </p:sp>
    </p:spTree>
    <p:extLst>
      <p:ext uri="{BB962C8B-B14F-4D97-AF65-F5344CB8AC3E}">
        <p14:creationId xmlns:p14="http://schemas.microsoft.com/office/powerpoint/2010/main" val="38297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Roadmap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To solve a model, you need as many equations as there are endogenous variables</a:t>
                </a:r>
              </a:p>
              <a:p>
                <a:r>
                  <a:rPr lang="en-US" dirty="0"/>
                  <a:t>Example: 3 markets (labor, capital, goods)</a:t>
                </a:r>
              </a:p>
              <a:p>
                <a:pPr lvl="1"/>
                <a:r>
                  <a:rPr lang="en-US" dirty="0"/>
                  <a:t>How many endogenous variables?</a:t>
                </a:r>
              </a:p>
              <a:p>
                <a:pPr lvl="1"/>
                <a:r>
                  <a:rPr lang="en-US" dirty="0"/>
                  <a:t>Five endogenous variables: </a:t>
                </a:r>
                <a14:m>
                  <m:oMath xmlns:m="http://schemas.openxmlformats.org/officeDocument/2006/math">
                    <m:r>
                      <a:rPr lang="en-US" b="0" i="1" smtClean="0">
                        <a:latin typeface="Cambria Math" panose="02040503050406030204" pitchFamily="18" charset="0"/>
                      </a:rPr>
                      <m:t>𝐿</m:t>
                    </m:r>
                  </m:oMath>
                </a14:m>
                <a:r>
                  <a:rPr lang="en-US" dirty="0"/>
                  <a:t>, </a:t>
                </a:r>
                <a14:m>
                  <m:oMath xmlns:m="http://schemas.openxmlformats.org/officeDocument/2006/math">
                    <m:r>
                      <a:rPr lang="en-US" b="0" i="1" smtClean="0">
                        <a:latin typeface="Cambria Math" panose="02040503050406030204" pitchFamily="18" charset="0"/>
                      </a:rPr>
                      <m:t>𝑤</m:t>
                    </m:r>
                  </m:oMath>
                </a14:m>
                <a:r>
                  <a:rPr lang="en-US" dirty="0"/>
                  <a:t>, </a:t>
                </a:r>
                <a14:m>
                  <m:oMath xmlns:m="http://schemas.openxmlformats.org/officeDocument/2006/math">
                    <m:r>
                      <a:rPr lang="en-US" b="0" i="1" smtClean="0">
                        <a:latin typeface="Cambria Math" panose="02040503050406030204" pitchFamily="18" charset="0"/>
                      </a:rPr>
                      <m:t>𝐾</m:t>
                    </m:r>
                  </m:oMath>
                </a14:m>
                <a:r>
                  <a:rPr lang="en-US" dirty="0"/>
                  <a:t>, </a:t>
                </a:r>
                <a14:m>
                  <m:oMath xmlns:m="http://schemas.openxmlformats.org/officeDocument/2006/math">
                    <m:r>
                      <a:rPr lang="en-US" b="0" i="1" smtClean="0">
                        <a:latin typeface="Cambria Math" panose="02040503050406030204" pitchFamily="18" charset="0"/>
                      </a:rPr>
                      <m:t>𝑟</m:t>
                    </m:r>
                  </m:oMath>
                </a14:m>
                <a:r>
                  <a:rPr lang="en-US" dirty="0"/>
                  <a:t>, </a:t>
                </a:r>
                <a14:m>
                  <m:oMath xmlns:m="http://schemas.openxmlformats.org/officeDocument/2006/math">
                    <m:r>
                      <a:rPr lang="en-US" b="0" i="1" smtClean="0">
                        <a:latin typeface="Cambria Math" panose="02040503050406030204" pitchFamily="18" charset="0"/>
                      </a:rPr>
                      <m:t>𝑌</m:t>
                    </m:r>
                  </m:oMath>
                </a14:m>
                <a:r>
                  <a:rPr lang="en-US" dirty="0"/>
                  <a:t>.</a:t>
                </a:r>
              </a:p>
              <a:p>
                <a:pPr lvl="2"/>
                <a:r>
                  <a:rPr lang="en-US" dirty="0"/>
                  <a:t>Price of goods is the </a:t>
                </a:r>
                <a:r>
                  <a:rPr lang="en-US" dirty="0" err="1"/>
                  <a:t>numeraire</a:t>
                </a:r>
                <a:endParaRPr lang="en-US" dirty="0"/>
              </a:p>
              <a:p>
                <a:pPr lvl="1"/>
                <a:r>
                  <a:rPr lang="en-US" dirty="0"/>
                  <a:t>We will need 5 equations</a:t>
                </a:r>
              </a:p>
              <a:p>
                <a:pPr lvl="2"/>
                <a:r>
                  <a:rPr lang="en-US" dirty="0"/>
                  <a:t>E.g.: demand and supply in the labor and capital markets and </a:t>
                </a:r>
                <a:br>
                  <a:rPr lang="en-US" dirty="0"/>
                </a:br>
                <a:r>
                  <a:rPr lang="en-US" dirty="0"/>
                  <a:t>one more equation to give us output.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78" t="-1752" b="-9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BB3BE34B-9575-430D-9A41-469C30B8F0EA}" type="slidenum">
              <a:rPr lang="en-US" smtClean="0"/>
              <a:pPr/>
              <a:t>8</a:t>
            </a:fld>
            <a:endParaRPr lang="en-US"/>
          </a:p>
        </p:txBody>
      </p:sp>
    </p:spTree>
    <p:extLst>
      <p:ext uri="{BB962C8B-B14F-4D97-AF65-F5344CB8AC3E}">
        <p14:creationId xmlns:p14="http://schemas.microsoft.com/office/powerpoint/2010/main" val="2256267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5EFC6-FEB2-8EFF-7DDF-4155991409A6}"/>
              </a:ext>
            </a:extLst>
          </p:cNvPr>
          <p:cNvSpPr>
            <a:spLocks noGrp="1"/>
          </p:cNvSpPr>
          <p:nvPr>
            <p:ph type="title"/>
          </p:nvPr>
        </p:nvSpPr>
        <p:spPr/>
        <p:txBody>
          <a:bodyPr/>
          <a:lstStyle/>
          <a:p>
            <a:r>
              <a:rPr lang="en-US" dirty="0"/>
              <a:t>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CCA14D-96D9-736D-DD89-975E22BADB45}"/>
                  </a:ext>
                </a:extLst>
              </p:cNvPr>
              <p:cNvSpPr>
                <a:spLocks noGrp="1"/>
              </p:cNvSpPr>
              <p:nvPr>
                <p:ph idx="1"/>
              </p:nvPr>
            </p:nvSpPr>
            <p:spPr>
              <a:xfrm>
                <a:off x="609600" y="1600201"/>
                <a:ext cx="10972800" cy="4983161"/>
              </a:xfrm>
            </p:spPr>
            <p:txBody>
              <a:bodyPr>
                <a:normAutofit/>
              </a:bodyPr>
              <a:lstStyle/>
              <a:p>
                <a:pPr>
                  <a:spcAft>
                    <a:spcPts val="1200"/>
                  </a:spcAft>
                </a:pPr>
                <a:r>
                  <a:rPr lang="en-US" dirty="0"/>
                  <a:t>We represent production process by a production function:</a:t>
                </a:r>
              </a:p>
              <a:p>
                <a:pPr marL="0" indent="0">
                  <a:spcBef>
                    <a:spcPts val="1800"/>
                  </a:spcBef>
                  <a:spcAft>
                    <a:spcPts val="600"/>
                  </a:spcAft>
                  <a:buNone/>
                </a:pPr>
                <a14:m>
                  <m:oMathPara xmlns:m="http://schemas.openxmlformats.org/officeDocument/2006/math">
                    <m:oMathParaPr>
                      <m:jc m:val="center"/>
                    </m:oMathParaPr>
                    <m:oMath>
                      <m:r>
                        <a:rPr lang="en-US" b="0" i="1" smtClean="0">
                          <a:latin typeface="Cambria Math"/>
                        </a:rPr>
                        <m:t>𝑌</m:t>
                      </m:r>
                      <m:r>
                        <a:rPr lang="en-US" b="0" i="1" smtClean="0">
                          <a:latin typeface="Cambria Math"/>
                        </a:rPr>
                        <m:t>=</m:t>
                      </m:r>
                      <m:r>
                        <a:rPr lang="en-US" b="0" i="1" smtClean="0">
                          <a:latin typeface="Cambria Math"/>
                        </a:rPr>
                        <m:t>𝐹</m:t>
                      </m:r>
                      <m:d>
                        <m:dPr>
                          <m:ctrlPr>
                            <a:rPr lang="en-US" b="0" i="1" smtClean="0">
                              <a:latin typeface="Cambria Math"/>
                            </a:rPr>
                          </m:ctrlPr>
                        </m:dPr>
                        <m:e>
                          <m:r>
                            <a:rPr lang="en-US" b="0" i="1" smtClean="0">
                              <a:latin typeface="Cambria Math"/>
                            </a:rPr>
                            <m:t>𝐾</m:t>
                          </m:r>
                          <m:r>
                            <a:rPr lang="en-US" b="0" i="1" smtClean="0">
                              <a:latin typeface="Cambria Math"/>
                            </a:rPr>
                            <m:t>,</m:t>
                          </m:r>
                          <m:r>
                            <a:rPr lang="en-US" b="0" i="1" smtClean="0">
                              <a:latin typeface="Cambria Math"/>
                            </a:rPr>
                            <m:t>𝐿</m:t>
                          </m:r>
                        </m:e>
                      </m:d>
                    </m:oMath>
                  </m:oMathPara>
                </a14:m>
                <a:endParaRPr lang="en-US" dirty="0"/>
              </a:p>
              <a:p>
                <a:r>
                  <a:rPr lang="en-US" dirty="0"/>
                  <a:t>Example: How much ice cream can we make if we have </a:t>
                </a:r>
                <a:br>
                  <a:rPr lang="en-US" dirty="0"/>
                </a:br>
                <a14:m>
                  <m:oMath xmlns:m="http://schemas.openxmlformats.org/officeDocument/2006/math">
                    <m:r>
                      <a:rPr lang="en-US" b="0" i="1" smtClean="0">
                        <a:latin typeface="Cambria Math" panose="02040503050406030204" pitchFamily="18" charset="0"/>
                      </a:rPr>
                      <m:t>𝐿</m:t>
                    </m:r>
                  </m:oMath>
                </a14:m>
                <a:r>
                  <a:rPr lang="en-US" dirty="0"/>
                  <a:t> workers and </a:t>
                </a:r>
                <a14:m>
                  <m:oMath xmlns:m="http://schemas.openxmlformats.org/officeDocument/2006/math">
                    <m:r>
                      <a:rPr lang="en-US" b="0" i="1" smtClean="0">
                        <a:latin typeface="Cambria Math" panose="02040503050406030204" pitchFamily="18" charset="0"/>
                      </a:rPr>
                      <m:t>𝐾</m:t>
                    </m:r>
                  </m:oMath>
                </a14:m>
                <a:r>
                  <a:rPr lang="en-US" dirty="0"/>
                  <a:t> ice cream machines?</a:t>
                </a:r>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𝑌</m:t>
                    </m:r>
                  </m:oMath>
                </a14:m>
                <a:r>
                  <a:rPr lang="en-US" dirty="0"/>
                  <a:t>: amount of ice cream produced</a:t>
                </a:r>
              </a:p>
              <a:p>
                <a14:m>
                  <m:oMath xmlns:m="http://schemas.openxmlformats.org/officeDocument/2006/math">
                    <m:r>
                      <a:rPr lang="en-US" b="0" i="1" smtClean="0">
                        <a:latin typeface="Cambria Math" panose="02040503050406030204" pitchFamily="18" charset="0"/>
                      </a:rPr>
                      <m:t>𝐿</m:t>
                    </m:r>
                  </m:oMath>
                </a14:m>
                <a:r>
                  <a:rPr lang="en-US" dirty="0"/>
                  <a:t>: Number of workers (or hours of work)</a:t>
                </a:r>
              </a:p>
              <a:p>
                <a14:m>
                  <m:oMath xmlns:m="http://schemas.openxmlformats.org/officeDocument/2006/math">
                    <m:r>
                      <a:rPr lang="en-US" b="0" i="1" smtClean="0">
                        <a:latin typeface="Cambria Math" panose="02040503050406030204" pitchFamily="18" charset="0"/>
                      </a:rPr>
                      <m:t>𝐾</m:t>
                    </m:r>
                  </m:oMath>
                </a14:m>
                <a:r>
                  <a:rPr lang="en-US" dirty="0"/>
                  <a:t>: Number of machines (amount of capital)</a:t>
                </a:r>
              </a:p>
              <a:p>
                <a:r>
                  <a:rPr lang="en-US" dirty="0"/>
                  <a:t>Inputs or </a:t>
                </a:r>
                <a:r>
                  <a:rPr lang="en-US" dirty="0">
                    <a:solidFill>
                      <a:schemeClr val="accent2"/>
                    </a:solidFill>
                  </a:rPr>
                  <a:t>factors of production</a:t>
                </a:r>
                <a:r>
                  <a:rPr lang="en-US" dirty="0"/>
                  <a:t>: Labor, Capital</a:t>
                </a:r>
              </a:p>
            </p:txBody>
          </p:sp>
        </mc:Choice>
        <mc:Fallback xmlns="">
          <p:sp>
            <p:nvSpPr>
              <p:cNvPr id="3" name="Content Placeholder 2">
                <a:extLst>
                  <a:ext uri="{FF2B5EF4-FFF2-40B4-BE49-F238E27FC236}">
                    <a16:creationId xmlns:a16="http://schemas.microsoft.com/office/drawing/2014/main" id="{87CCA14D-96D9-736D-DD89-975E22BADB45}"/>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l="-1278" t="-159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C802BAC-3BA6-E81E-28A6-D231647968DF}"/>
              </a:ext>
            </a:extLst>
          </p:cNvPr>
          <p:cNvSpPr>
            <a:spLocks noGrp="1"/>
          </p:cNvSpPr>
          <p:nvPr>
            <p:ph type="sldNum" sz="quarter" idx="12"/>
          </p:nvPr>
        </p:nvSpPr>
        <p:spPr/>
        <p:txBody>
          <a:bodyPr/>
          <a:lstStyle/>
          <a:p>
            <a:fld id="{BB3BE34B-9575-430D-9A41-469C30B8F0EA}" type="slidenum">
              <a:rPr lang="en-US" smtClean="0"/>
              <a:pPr/>
              <a:t>9</a:t>
            </a:fld>
            <a:endParaRPr lang="en-US"/>
          </a:p>
        </p:txBody>
      </p:sp>
    </p:spTree>
    <p:extLst>
      <p:ext uri="{BB962C8B-B14F-4D97-AF65-F5344CB8AC3E}">
        <p14:creationId xmlns:p14="http://schemas.microsoft.com/office/powerpoint/2010/main" val="54609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4EA9B-1F98-F29D-B040-5C1338970411}"/>
              </a:ext>
            </a:extLst>
          </p:cNvPr>
          <p:cNvSpPr>
            <a:spLocks noGrp="1"/>
          </p:cNvSpPr>
          <p:nvPr>
            <p:ph type="title"/>
          </p:nvPr>
        </p:nvSpPr>
        <p:spPr/>
        <p:txBody>
          <a:bodyPr/>
          <a:lstStyle/>
          <a:p>
            <a:r>
              <a:rPr lang="is-IS" dirty="0"/>
              <a:t>Properties of Production Functions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495EFD-0256-D67F-D038-8455069E3DB2}"/>
                  </a:ext>
                </a:extLst>
              </p:cNvPr>
              <p:cNvSpPr>
                <a:spLocks noGrp="1"/>
              </p:cNvSpPr>
              <p:nvPr>
                <p:ph idx="1"/>
              </p:nvPr>
            </p:nvSpPr>
            <p:spPr>
              <a:xfrm>
                <a:off x="304800" y="1600201"/>
                <a:ext cx="11506200" cy="4525963"/>
              </a:xfrm>
            </p:spPr>
            <p:txBody>
              <a:bodyPr/>
              <a:lstStyle/>
              <a:p>
                <a:r>
                  <a:rPr lang="en-US" dirty="0"/>
                  <a:t>What properties should a reasonable production function satisfy?</a:t>
                </a:r>
                <a:endParaRPr lang="en-US" b="0" i="1" dirty="0">
                  <a:latin typeface="Cambria Math"/>
                </a:endParaRPr>
              </a:p>
              <a:p>
                <a:pPr marL="0" indent="0">
                  <a:buNone/>
                </a:pPr>
                <a14:m>
                  <m:oMathPara xmlns:m="http://schemas.openxmlformats.org/officeDocument/2006/math">
                    <m:oMath>
                      <m:r>
                        <a:rPr lang="en-US" b="0" i="1" smtClean="0">
                          <a:latin typeface="Cambria Math"/>
                        </a:rPr>
                        <m:t>𝑌</m:t>
                      </m:r>
                      <m:r>
                        <a:rPr lang="en-US" b="0" i="1" smtClean="0">
                          <a:latin typeface="Cambria Math"/>
                        </a:rPr>
                        <m:t>=</m:t>
                      </m:r>
                      <m:r>
                        <a:rPr lang="en-US" b="0" i="1" smtClean="0">
                          <a:latin typeface="Cambria Math"/>
                        </a:rPr>
                        <m:t>𝐹</m:t>
                      </m:r>
                      <m:d>
                        <m:dPr>
                          <m:ctrlPr>
                            <a:rPr lang="en-US" b="0" i="1" smtClean="0">
                              <a:latin typeface="Cambria Math"/>
                            </a:rPr>
                          </m:ctrlPr>
                        </m:dPr>
                        <m:e>
                          <m:r>
                            <a:rPr lang="en-US" b="0" i="1" smtClean="0">
                              <a:latin typeface="Cambria Math"/>
                            </a:rPr>
                            <m:t>𝐾</m:t>
                          </m:r>
                          <m:r>
                            <a:rPr lang="en-US" b="0" i="1" smtClean="0">
                              <a:latin typeface="Cambria Math"/>
                            </a:rPr>
                            <m:t>,</m:t>
                          </m:r>
                          <m:r>
                            <a:rPr lang="en-US" b="0" i="1" smtClean="0">
                              <a:latin typeface="Cambria Math"/>
                            </a:rPr>
                            <m:t>𝐿</m:t>
                          </m:r>
                        </m:e>
                      </m:d>
                    </m:oMath>
                  </m:oMathPara>
                </a14:m>
                <a:endParaRPr lang="en-US" dirty="0"/>
              </a:p>
              <a:p>
                <a:r>
                  <a:rPr lang="is-IS" dirty="0"/>
                  <a:t>Suppose we increase </a:t>
                </a:r>
                <a14:m>
                  <m:oMath xmlns:m="http://schemas.openxmlformats.org/officeDocument/2006/math">
                    <m:r>
                      <a:rPr lang="is-IS" b="0" i="1" smtClean="0">
                        <a:latin typeface="Cambria Math" panose="02040503050406030204" pitchFamily="18" charset="0"/>
                      </a:rPr>
                      <m:t>𝐿</m:t>
                    </m:r>
                  </m:oMath>
                </a14:m>
                <a:endParaRPr lang="is-IS" dirty="0"/>
              </a:p>
              <a:p>
                <a:pPr lvl="1"/>
                <a:r>
                  <a:rPr lang="is-IS" dirty="0"/>
                  <a:t>Output increases</a:t>
                </a:r>
              </a:p>
              <a:p>
                <a:pPr lvl="1"/>
                <a:r>
                  <a:rPr lang="is-IS" dirty="0"/>
                  <a:t>But at a declining rate</a:t>
                </a:r>
              </a:p>
              <a:p>
                <a:r>
                  <a:rPr lang="en-US" dirty="0"/>
                  <a:t>Suppose we increase </a:t>
                </a:r>
                <a14:m>
                  <m:oMath xmlns:m="http://schemas.openxmlformats.org/officeDocument/2006/math">
                    <m:r>
                      <a:rPr lang="is-IS" b="0" i="1" smtClean="0">
                        <a:latin typeface="Cambria Math" panose="02040503050406030204" pitchFamily="18" charset="0"/>
                      </a:rPr>
                      <m:t>𝐾</m:t>
                    </m:r>
                  </m:oMath>
                </a14:m>
                <a:endParaRPr lang="en-US" dirty="0"/>
              </a:p>
              <a:p>
                <a:pPr lvl="1"/>
                <a:r>
                  <a:rPr lang="en-US" dirty="0"/>
                  <a:t>Output increases</a:t>
                </a:r>
              </a:p>
              <a:p>
                <a:pPr lvl="1"/>
                <a:r>
                  <a:rPr lang="en-US" dirty="0"/>
                  <a:t>But at a declining rate</a:t>
                </a:r>
              </a:p>
            </p:txBody>
          </p:sp>
        </mc:Choice>
        <mc:Fallback xmlns="">
          <p:sp>
            <p:nvSpPr>
              <p:cNvPr id="3" name="Content Placeholder 2">
                <a:extLst>
                  <a:ext uri="{FF2B5EF4-FFF2-40B4-BE49-F238E27FC236}">
                    <a16:creationId xmlns:a16="http://schemas.microsoft.com/office/drawing/2014/main" id="{16495EFD-0256-D67F-D038-8455069E3DB2}"/>
                  </a:ext>
                </a:extLst>
              </p:cNvPr>
              <p:cNvSpPr>
                <a:spLocks noGrp="1" noRot="1" noChangeAspect="1" noMove="1" noResize="1" noEditPoints="1" noAdjustHandles="1" noChangeArrowheads="1" noChangeShapeType="1" noTextEdit="1"/>
              </p:cNvSpPr>
              <p:nvPr>
                <p:ph idx="1"/>
              </p:nvPr>
            </p:nvSpPr>
            <p:spPr>
              <a:xfrm>
                <a:off x="304800" y="1600201"/>
                <a:ext cx="11506200" cy="4525963"/>
              </a:xfrm>
              <a:blipFill>
                <a:blip r:embed="rId2"/>
                <a:stretch>
                  <a:fillRect l="-1218" t="-16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BFBA45-D6AE-9575-F084-D34CAA4B000B}"/>
              </a:ext>
            </a:extLst>
          </p:cNvPr>
          <p:cNvSpPr>
            <a:spLocks noGrp="1"/>
          </p:cNvSpPr>
          <p:nvPr>
            <p:ph type="sldNum" sz="quarter" idx="12"/>
          </p:nvPr>
        </p:nvSpPr>
        <p:spPr/>
        <p:txBody>
          <a:bodyPr/>
          <a:lstStyle/>
          <a:p>
            <a:fld id="{BB3BE34B-9575-430D-9A41-469C30B8F0EA}" type="slidenum">
              <a:rPr lang="en-US" smtClean="0"/>
              <a:pPr/>
              <a:t>10</a:t>
            </a:fld>
            <a:endParaRPr lang="en-US"/>
          </a:p>
        </p:txBody>
      </p:sp>
    </p:spTree>
    <p:extLst>
      <p:ext uri="{BB962C8B-B14F-4D97-AF65-F5344CB8AC3E}">
        <p14:creationId xmlns:p14="http://schemas.microsoft.com/office/powerpoint/2010/main" val="3485948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58B36-7DE3-852A-2D5F-0A60ED4DBA68}"/>
              </a:ext>
            </a:extLst>
          </p:cNvPr>
          <p:cNvSpPr>
            <a:spLocks noGrp="1"/>
          </p:cNvSpPr>
          <p:nvPr>
            <p:ph type="title"/>
          </p:nvPr>
        </p:nvSpPr>
        <p:spPr/>
        <p:txBody>
          <a:bodyPr/>
          <a:lstStyle/>
          <a:p>
            <a:r>
              <a:rPr lang="en-US" dirty="0"/>
              <a:t>Properties of Production Functions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E1D300-34F1-FE94-DD87-FBA85AD59343}"/>
                  </a:ext>
                </a:extLst>
              </p:cNvPr>
              <p:cNvSpPr>
                <a:spLocks noGrp="1"/>
              </p:cNvSpPr>
              <p:nvPr>
                <p:ph idx="1"/>
              </p:nvPr>
            </p:nvSpPr>
            <p:spPr>
              <a:xfrm>
                <a:off x="304800" y="1600201"/>
                <a:ext cx="11430000" cy="4800599"/>
              </a:xfrm>
            </p:spPr>
            <p:txBody>
              <a:bodyPr>
                <a:normAutofit/>
              </a:bodyPr>
              <a:lstStyle/>
              <a:p>
                <a:r>
                  <a:rPr lang="en-US" dirty="0"/>
                  <a:t>What properties should a reasonable production function satisfy?</a:t>
                </a:r>
              </a:p>
              <a:p>
                <a:r>
                  <a:rPr lang="en-US" dirty="0"/>
                  <a:t>Positive marginal products of factors:</a:t>
                </a:r>
              </a:p>
              <a:p>
                <a:pPr marL="0" indent="0" algn="ctr">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b="0" i="1" smtClean="0">
                        <a:latin typeface="Cambria Math" panose="02040503050406030204" pitchFamily="18" charset="0"/>
                      </a:rPr>
                      <m:t>≥0</m:t>
                    </m:r>
                  </m:oMath>
                </a14:m>
                <a:r>
                  <a:rPr lang="en-US" dirty="0"/>
                  <a:t> and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m:t>
                        </m:r>
                        <m:r>
                          <a:rPr lang="en-US" i="1">
                            <a:latin typeface="Cambria Math" panose="02040503050406030204" pitchFamily="18" charset="0"/>
                          </a:rPr>
                          <m:t>𝐹</m:t>
                        </m:r>
                      </m:num>
                      <m:den>
                        <m:r>
                          <a:rPr lang="en-US" i="1">
                            <a:latin typeface="Cambria Math" panose="02040503050406030204" pitchFamily="18" charset="0"/>
                          </a:rPr>
                          <m:t>𝜕</m:t>
                        </m:r>
                        <m:r>
                          <a:rPr lang="en-US" b="0" i="1" smtClean="0">
                            <a:latin typeface="Cambria Math" panose="02040503050406030204" pitchFamily="18" charset="0"/>
                          </a:rPr>
                          <m:t>𝐾</m:t>
                        </m:r>
                      </m:den>
                    </m:f>
                    <m:r>
                      <a:rPr lang="en-US" i="1">
                        <a:latin typeface="Cambria Math" panose="02040503050406030204" pitchFamily="18" charset="0"/>
                      </a:rPr>
                      <m:t>≥0</m:t>
                    </m:r>
                  </m:oMath>
                </a14:m>
                <a:r>
                  <a:rPr lang="en-US" dirty="0"/>
                  <a:t> </a:t>
                </a:r>
              </a:p>
              <a:p>
                <a:r>
                  <a:rPr lang="en-US" dirty="0"/>
                  <a:t>Diminishing marginal products:</a:t>
                </a:r>
              </a:p>
              <a:p>
                <a:pPr marL="0" indent="0" algn="ctr">
                  <a:buNone/>
                </a:pPr>
                <a14:m>
                  <m:oMath xmlns:m="http://schemas.openxmlformats.org/officeDocument/2006/math">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𝐹</m:t>
                        </m:r>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2</m:t>
                            </m:r>
                          </m:sup>
                        </m:sSup>
                      </m:den>
                    </m:f>
                    <m:r>
                      <a:rPr lang="en-US" b="0" i="1" smtClean="0">
                        <a:latin typeface="Cambria Math" panose="02040503050406030204" pitchFamily="18" charset="0"/>
                      </a:rPr>
                      <m:t>≤0</m:t>
                    </m:r>
                  </m:oMath>
                </a14:m>
                <a:r>
                  <a:rPr lang="en-US" dirty="0"/>
                  <a:t> and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m:t>
                            </m:r>
                          </m:e>
                          <m:sup>
                            <m:r>
                              <a:rPr lang="en-US" i="1">
                                <a:latin typeface="Cambria Math" panose="02040503050406030204" pitchFamily="18" charset="0"/>
                              </a:rPr>
                              <m:t>2</m:t>
                            </m:r>
                          </m:sup>
                        </m:sSup>
                        <m:r>
                          <a:rPr lang="en-US" i="1">
                            <a:latin typeface="Cambria Math" panose="02040503050406030204" pitchFamily="18" charset="0"/>
                          </a:rPr>
                          <m:t>𝐹</m:t>
                        </m:r>
                      </m:num>
                      <m:den>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i="1">
                                <a:latin typeface="Cambria Math" panose="02040503050406030204" pitchFamily="18" charset="0"/>
                              </a:rPr>
                              <m:t>2</m:t>
                            </m:r>
                          </m:sup>
                        </m:sSup>
                      </m:den>
                    </m:f>
                    <m:r>
                      <a:rPr lang="en-US" i="1">
                        <a:latin typeface="Cambria Math" panose="02040503050406030204" pitchFamily="18" charset="0"/>
                      </a:rPr>
                      <m:t>≤0</m:t>
                    </m:r>
                  </m:oMath>
                </a14:m>
                <a:r>
                  <a:rPr lang="en-US" dirty="0"/>
                  <a:t> </a:t>
                </a:r>
              </a:p>
              <a:p>
                <a:pPr marL="0" indent="0">
                  <a:spcBef>
                    <a:spcPts val="2400"/>
                  </a:spcBef>
                  <a:buNone/>
                </a:pPr>
                <a:r>
                  <a:rPr lang="en-US" dirty="0"/>
                  <a:t>    (What about </a:t>
                </a:r>
                <a14:m>
                  <m:oMath xmlns:m="http://schemas.openxmlformats.org/officeDocument/2006/math">
                    <m:f>
                      <m:fPr>
                        <m:type m:val="lin"/>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𝐹</m:t>
                        </m:r>
                      </m:num>
                      <m:den>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𝐾</m:t>
                        </m:r>
                      </m:den>
                    </m:f>
                  </m:oMath>
                </a14:m>
                <a:r>
                  <a:rPr lang="en-US" dirty="0"/>
                  <a:t>?)</a:t>
                </a:r>
              </a:p>
            </p:txBody>
          </p:sp>
        </mc:Choice>
        <mc:Fallback xmlns="">
          <p:sp>
            <p:nvSpPr>
              <p:cNvPr id="3" name="Content Placeholder 2">
                <a:extLst>
                  <a:ext uri="{FF2B5EF4-FFF2-40B4-BE49-F238E27FC236}">
                    <a16:creationId xmlns:a16="http://schemas.microsoft.com/office/drawing/2014/main" id="{F7E1D300-34F1-FE94-DD87-FBA85AD59343}"/>
                  </a:ext>
                </a:extLst>
              </p:cNvPr>
              <p:cNvSpPr>
                <a:spLocks noGrp="1" noRot="1" noChangeAspect="1" noMove="1" noResize="1" noEditPoints="1" noAdjustHandles="1" noChangeArrowheads="1" noChangeShapeType="1" noTextEdit="1"/>
              </p:cNvSpPr>
              <p:nvPr>
                <p:ph idx="1"/>
              </p:nvPr>
            </p:nvSpPr>
            <p:spPr>
              <a:xfrm>
                <a:off x="304800" y="1600201"/>
                <a:ext cx="11430000" cy="4800599"/>
              </a:xfrm>
              <a:blipFill>
                <a:blip r:embed="rId2"/>
                <a:stretch>
                  <a:fillRect l="-1227" t="-1652" r="-53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D7BEB4D-DA5B-FB65-BA76-E36CFD22BACC}"/>
              </a:ext>
            </a:extLst>
          </p:cNvPr>
          <p:cNvSpPr>
            <a:spLocks noGrp="1"/>
          </p:cNvSpPr>
          <p:nvPr>
            <p:ph type="sldNum" sz="quarter" idx="12"/>
          </p:nvPr>
        </p:nvSpPr>
        <p:spPr/>
        <p:txBody>
          <a:bodyPr/>
          <a:lstStyle/>
          <a:p>
            <a:fld id="{BB3BE34B-9575-430D-9A41-469C30B8F0EA}" type="slidenum">
              <a:rPr lang="en-US" smtClean="0"/>
              <a:pPr/>
              <a:t>11</a:t>
            </a:fld>
            <a:endParaRPr lang="en-US"/>
          </a:p>
        </p:txBody>
      </p:sp>
    </p:spTree>
    <p:extLst>
      <p:ext uri="{BB962C8B-B14F-4D97-AF65-F5344CB8AC3E}">
        <p14:creationId xmlns:p14="http://schemas.microsoft.com/office/powerpoint/2010/main" val="3880878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9D2D5-EA7A-FD3A-82B6-DCCC51731AFB}"/>
              </a:ext>
            </a:extLst>
          </p:cNvPr>
          <p:cNvSpPr>
            <a:spLocks noGrp="1"/>
          </p:cNvSpPr>
          <p:nvPr>
            <p:ph type="title"/>
          </p:nvPr>
        </p:nvSpPr>
        <p:spPr/>
        <p:txBody>
          <a:bodyPr/>
          <a:lstStyle/>
          <a:p>
            <a:r>
              <a:rPr lang="en-US" dirty="0"/>
              <a:t>Cobb-Douglas 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AAC920-3173-F2DE-F59B-F6EB31709D3F}"/>
                  </a:ext>
                </a:extLst>
              </p:cNvPr>
              <p:cNvSpPr>
                <a:spLocks noGrp="1"/>
              </p:cNvSpPr>
              <p:nvPr>
                <p:ph idx="1"/>
              </p:nvPr>
            </p:nvSpPr>
            <p:spPr>
              <a:xfrm>
                <a:off x="228600" y="1600201"/>
                <a:ext cx="11658600" cy="4983161"/>
              </a:xfrm>
            </p:spPr>
            <p:txBody>
              <a:bodyPr>
                <a:normAutofit/>
              </a:bodyPr>
              <a:lstStyle/>
              <a:p>
                <a:pPr>
                  <a:lnSpc>
                    <a:spcPct val="114000"/>
                  </a:lnSpc>
                </a:pPr>
                <a:r>
                  <a:rPr lang="en-US" dirty="0"/>
                  <a:t>Most commonly used production function </a:t>
                </a:r>
              </a:p>
              <a:p>
                <a:pPr marL="0" indent="0">
                  <a:lnSpc>
                    <a:spcPct val="114000"/>
                  </a:lnSpc>
                  <a:buNone/>
                </a:pPr>
                <a14:m>
                  <m:oMathPara xmlns:m="http://schemas.openxmlformats.org/officeDocument/2006/math">
                    <m:oMath>
                      <m:r>
                        <a:rPr lang="en-US" i="1">
                          <a:latin typeface="Cambria Math"/>
                        </a:rPr>
                        <m:t>𝑌</m:t>
                      </m:r>
                      <m:r>
                        <a:rPr lang="en-US" i="1">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a:p>
                <a:pPr marL="0" indent="0">
                  <a:lnSpc>
                    <a:spcPct val="114000"/>
                  </a:lnSpc>
                  <a:buNone/>
                </a:pPr>
                <a:endParaRPr lang="en-US" dirty="0"/>
              </a:p>
              <a:p>
                <a:pPr marL="0" indent="0" algn="ctr">
                  <a:lnSpc>
                    <a:spcPct val="120000"/>
                  </a:lnSpc>
                  <a:buNone/>
                </a:pPr>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m:t>
                        </m:r>
                        <m:r>
                          <a:rPr lang="en-US" sz="2800" b="0" i="1" smtClean="0">
                            <a:latin typeface="Cambria Math" panose="02040503050406030204" pitchFamily="18" charset="0"/>
                          </a:rPr>
                          <m:t>𝑌</m:t>
                        </m:r>
                      </m:num>
                      <m:den>
                        <m:r>
                          <a:rPr lang="en-US" sz="2800" b="0" i="1" smtClean="0">
                            <a:latin typeface="Cambria Math" panose="02040503050406030204" pitchFamily="18" charset="0"/>
                          </a:rPr>
                          <m:t>𝜕</m:t>
                        </m:r>
                        <m:r>
                          <a:rPr lang="en-US" sz="2800" b="0" i="1" smtClean="0">
                            <a:latin typeface="Cambria Math" panose="02040503050406030204" pitchFamily="18" charset="0"/>
                          </a:rPr>
                          <m:t>𝐿</m:t>
                        </m:r>
                      </m:den>
                    </m:f>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𝑎</m:t>
                        </m:r>
                      </m:e>
                    </m:d>
                    <m:r>
                      <a:rPr lang="en-US" sz="2800" b="0" i="1" smtClean="0">
                        <a:latin typeface="Cambria Math" panose="02040503050406030204" pitchFamily="18" charset="0"/>
                      </a:rPr>
                      <m:t>𝐴</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b="0" i="1" smtClean="0">
                            <a:latin typeface="Cambria Math" panose="02040503050406030204" pitchFamily="18" charset="0"/>
                          </a:rPr>
                          <m:t>𝑎</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m:t>
                        </m:r>
                        <m:r>
                          <a:rPr lang="en-US" sz="2800" b="0" i="1" smtClean="0">
                            <a:latin typeface="Cambria Math" panose="02040503050406030204" pitchFamily="18" charset="0"/>
                          </a:rPr>
                          <m:t>𝑎</m:t>
                        </m:r>
                      </m:sup>
                    </m:sSup>
                    <m:r>
                      <a:rPr lang="en-US" sz="2800" b="0" i="1" smtClean="0">
                        <a:latin typeface="Cambria Math" panose="02040503050406030204" pitchFamily="18" charset="0"/>
                      </a:rPr>
                      <m:t>≥0</m:t>
                    </m:r>
                  </m:oMath>
                </a14:m>
                <a:r>
                  <a:rPr lang="en-US" sz="2800" dirty="0"/>
                  <a:t>  and  </a:t>
                </a:r>
                <a14:m>
                  <m:oMath xmlns:m="http://schemas.openxmlformats.org/officeDocument/2006/math">
                    <m:f>
                      <m:fPr>
                        <m:ctrlPr>
                          <a:rPr lang="en-US" sz="2800" i="1">
                            <a:latin typeface="Cambria Math" panose="02040503050406030204" pitchFamily="18" charset="0"/>
                          </a:rPr>
                        </m:ctrlPr>
                      </m:fPr>
                      <m:num>
                        <m:r>
                          <a:rPr lang="en-US" sz="2800" i="1">
                            <a:latin typeface="Cambria Math" panose="02040503050406030204" pitchFamily="18" charset="0"/>
                          </a:rPr>
                          <m:t>𝜕</m:t>
                        </m:r>
                        <m:r>
                          <a:rPr lang="en-US" sz="2800" i="1">
                            <a:latin typeface="Cambria Math" panose="02040503050406030204" pitchFamily="18" charset="0"/>
                          </a:rPr>
                          <m:t>𝑌</m:t>
                        </m:r>
                      </m:num>
                      <m:den>
                        <m:r>
                          <a:rPr lang="en-US" sz="2800" i="1">
                            <a:latin typeface="Cambria Math" panose="02040503050406030204" pitchFamily="18" charset="0"/>
                          </a:rPr>
                          <m:t>𝜕</m:t>
                        </m:r>
                        <m:r>
                          <a:rPr lang="en-US" sz="2800" b="0" i="1" smtClean="0">
                            <a:latin typeface="Cambria Math" panose="02040503050406030204" pitchFamily="18" charset="0"/>
                          </a:rPr>
                          <m:t>𝐾</m:t>
                        </m:r>
                      </m:den>
                    </m:f>
                    <m:r>
                      <a:rPr lang="en-US" sz="2800" i="1">
                        <a:latin typeface="Cambria Math" panose="02040503050406030204" pitchFamily="18" charset="0"/>
                      </a:rPr>
                      <m:t>=</m:t>
                    </m:r>
                    <m:r>
                      <a:rPr lang="en-US" sz="2800" b="0" i="1" smtClean="0">
                        <a:latin typeface="Cambria Math" panose="02040503050406030204" pitchFamily="18" charset="0"/>
                      </a:rPr>
                      <m:t>𝑎</m:t>
                    </m:r>
                    <m:r>
                      <a:rPr lang="en-US" sz="2800" i="1">
                        <a:latin typeface="Cambria Math" panose="02040503050406030204" pitchFamily="18" charset="0"/>
                      </a:rPr>
                      <m:t>𝐴</m:t>
                    </m:r>
                    <m:sSup>
                      <m:sSupPr>
                        <m:ctrlPr>
                          <a:rPr lang="en-US" sz="2800" i="1">
                            <a:latin typeface="Cambria Math" panose="02040503050406030204" pitchFamily="18" charset="0"/>
                          </a:rPr>
                        </m:ctrlPr>
                      </m:sSupPr>
                      <m:e>
                        <m:r>
                          <a:rPr lang="en-US" sz="2800" i="1">
                            <a:latin typeface="Cambria Math" panose="02040503050406030204" pitchFamily="18" charset="0"/>
                          </a:rPr>
                          <m:t>𝐾</m:t>
                        </m:r>
                      </m:e>
                      <m:sup>
                        <m:r>
                          <a:rPr lang="en-US" sz="2800" i="1">
                            <a:latin typeface="Cambria Math" panose="02040503050406030204" pitchFamily="18" charset="0"/>
                          </a:rPr>
                          <m:t>𝑎</m:t>
                        </m:r>
                        <m:r>
                          <a:rPr lang="en-US" sz="2800" b="0" i="1" smtClean="0">
                            <a:latin typeface="Cambria Math" panose="02040503050406030204" pitchFamily="18" charset="0"/>
                          </a:rPr>
                          <m:t>−1</m:t>
                        </m:r>
                      </m:sup>
                    </m:sSup>
                    <m:sSup>
                      <m:sSupPr>
                        <m:ctrlPr>
                          <a:rPr lang="en-US" sz="2800" i="1">
                            <a:latin typeface="Cambria Math" panose="02040503050406030204" pitchFamily="18" charset="0"/>
                          </a:rPr>
                        </m:ctrlPr>
                      </m:sSupPr>
                      <m:e>
                        <m:r>
                          <a:rPr lang="en-US" sz="2800" i="1">
                            <a:latin typeface="Cambria Math" panose="02040503050406030204" pitchFamily="18" charset="0"/>
                          </a:rPr>
                          <m:t>𝐿</m:t>
                        </m:r>
                      </m:e>
                      <m:sup>
                        <m:r>
                          <a:rPr lang="en-US" sz="2800" b="0" i="1" smtClean="0">
                            <a:latin typeface="Cambria Math" panose="02040503050406030204" pitchFamily="18" charset="0"/>
                          </a:rPr>
                          <m:t>1</m:t>
                        </m:r>
                        <m:r>
                          <a:rPr lang="en-US" sz="2800" i="1">
                            <a:latin typeface="Cambria Math" panose="02040503050406030204" pitchFamily="18" charset="0"/>
                          </a:rPr>
                          <m:t>−</m:t>
                        </m:r>
                        <m:r>
                          <a:rPr lang="en-US" sz="2800" i="1">
                            <a:latin typeface="Cambria Math" panose="02040503050406030204" pitchFamily="18" charset="0"/>
                          </a:rPr>
                          <m:t>𝑎</m:t>
                        </m:r>
                      </m:sup>
                    </m:sSup>
                    <m:r>
                      <a:rPr lang="en-US" sz="2800" i="1">
                        <a:latin typeface="Cambria Math" panose="02040503050406030204" pitchFamily="18" charset="0"/>
                      </a:rPr>
                      <m:t>≥0</m:t>
                    </m:r>
                  </m:oMath>
                </a14:m>
                <a:endParaRPr lang="en-US" sz="2800" dirty="0"/>
              </a:p>
              <a:p>
                <a:pPr marL="0" indent="0" algn="ctr">
                  <a:lnSpc>
                    <a:spcPct val="120000"/>
                  </a:lnSpc>
                  <a:buNone/>
                </a:pPr>
                <a14:m>
                  <m:oMath xmlns:m="http://schemas.openxmlformats.org/officeDocument/2006/math">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𝑌</m:t>
                        </m:r>
                      </m:num>
                      <m:den>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2</m:t>
                            </m:r>
                          </m:sup>
                        </m:sSup>
                      </m:den>
                    </m:f>
                    <m:r>
                      <a:rPr lang="en-US" sz="2800" b="0" i="1" smtClean="0">
                        <a:latin typeface="Cambria Math" panose="02040503050406030204" pitchFamily="18" charset="0"/>
                      </a:rPr>
                      <m:t>=−</m:t>
                    </m:r>
                    <m:r>
                      <a:rPr lang="en-US" sz="2800" b="0" i="1" smtClean="0">
                        <a:latin typeface="Cambria Math" panose="02040503050406030204" pitchFamily="18" charset="0"/>
                      </a:rPr>
                      <m:t>𝑎</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𝑎</m:t>
                        </m:r>
                      </m:e>
                    </m:d>
                    <m:r>
                      <a:rPr lang="en-US" sz="2800" b="0" i="1" smtClean="0">
                        <a:latin typeface="Cambria Math" panose="02040503050406030204" pitchFamily="18" charset="0"/>
                      </a:rPr>
                      <m:t>𝐴</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b="0" i="1" smtClean="0">
                            <a:latin typeface="Cambria Math" panose="02040503050406030204" pitchFamily="18" charset="0"/>
                          </a:rPr>
                          <m:t>𝑎</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m:t>
                        </m:r>
                        <m:r>
                          <a:rPr lang="en-US" sz="2800" b="0" i="1" smtClean="0">
                            <a:latin typeface="Cambria Math" panose="02040503050406030204" pitchFamily="18" charset="0"/>
                          </a:rPr>
                          <m:t>𝑎</m:t>
                        </m:r>
                        <m:r>
                          <a:rPr lang="en-US" sz="2800" b="0" i="1" smtClean="0">
                            <a:latin typeface="Cambria Math" panose="02040503050406030204" pitchFamily="18" charset="0"/>
                          </a:rPr>
                          <m:t>−1</m:t>
                        </m:r>
                      </m:sup>
                    </m:sSup>
                    <m:r>
                      <a:rPr lang="en-US" sz="2800" b="0" i="1" smtClean="0">
                        <a:latin typeface="Cambria Math" panose="02040503050406030204" pitchFamily="18" charset="0"/>
                      </a:rPr>
                      <m:t>≤0</m:t>
                    </m:r>
                  </m:oMath>
                </a14:m>
                <a:r>
                  <a:rPr lang="en-US" sz="2800" dirty="0"/>
                  <a:t>  and </a:t>
                </a:r>
                <a14:m>
                  <m:oMath xmlns:m="http://schemas.openxmlformats.org/officeDocument/2006/math">
                    <m:f>
                      <m:fPr>
                        <m:ctrlPr>
                          <a:rPr lang="en-US" sz="2800" i="1">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m:t>
                            </m:r>
                          </m:e>
                          <m:sup>
                            <m:r>
                              <a:rPr lang="en-US" sz="2800" i="1">
                                <a:latin typeface="Cambria Math" panose="02040503050406030204" pitchFamily="18" charset="0"/>
                              </a:rPr>
                              <m:t>2</m:t>
                            </m:r>
                          </m:sup>
                        </m:sSup>
                        <m:r>
                          <a:rPr lang="en-US" sz="2800" i="1">
                            <a:latin typeface="Cambria Math" panose="02040503050406030204" pitchFamily="18" charset="0"/>
                          </a:rPr>
                          <m:t>𝑌</m:t>
                        </m:r>
                      </m:num>
                      <m:den>
                        <m:r>
                          <a:rPr lang="en-US" sz="2800" i="1">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i="1">
                                <a:latin typeface="Cambria Math" panose="02040503050406030204" pitchFamily="18" charset="0"/>
                              </a:rPr>
                              <m:t>2</m:t>
                            </m:r>
                          </m:sup>
                        </m:sSup>
                      </m:den>
                    </m:f>
                    <m:r>
                      <a:rPr lang="en-US" sz="2800" i="1">
                        <a:latin typeface="Cambria Math" panose="02040503050406030204" pitchFamily="18" charset="0"/>
                      </a:rPr>
                      <m:t>=−</m:t>
                    </m:r>
                    <m:r>
                      <a:rPr lang="en-US" sz="2800" i="1">
                        <a:latin typeface="Cambria Math" panose="02040503050406030204" pitchFamily="18" charset="0"/>
                      </a:rPr>
                      <m:t>𝑎</m:t>
                    </m:r>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i="1">
                            <a:latin typeface="Cambria Math" panose="02040503050406030204" pitchFamily="18" charset="0"/>
                          </a:rPr>
                          <m:t>𝑎</m:t>
                        </m:r>
                      </m:e>
                    </m:d>
                    <m:r>
                      <a:rPr lang="en-US" sz="2800" i="1">
                        <a:latin typeface="Cambria Math" panose="02040503050406030204" pitchFamily="18" charset="0"/>
                      </a:rPr>
                      <m:t>𝐴</m:t>
                    </m:r>
                    <m:sSup>
                      <m:sSupPr>
                        <m:ctrlPr>
                          <a:rPr lang="en-US" sz="2800" i="1">
                            <a:latin typeface="Cambria Math" panose="02040503050406030204" pitchFamily="18" charset="0"/>
                          </a:rPr>
                        </m:ctrlPr>
                      </m:sSupPr>
                      <m:e>
                        <m:r>
                          <a:rPr lang="en-US" sz="2800" i="1">
                            <a:latin typeface="Cambria Math" panose="02040503050406030204" pitchFamily="18" charset="0"/>
                          </a:rPr>
                          <m:t>𝐾</m:t>
                        </m:r>
                      </m:e>
                      <m:sup>
                        <m:r>
                          <a:rPr lang="en-US" sz="2800" i="1">
                            <a:latin typeface="Cambria Math" panose="02040503050406030204" pitchFamily="18" charset="0"/>
                          </a:rPr>
                          <m:t>𝑎</m:t>
                        </m:r>
                        <m:r>
                          <a:rPr lang="en-US" sz="2800" b="0" i="1" smtClean="0">
                            <a:latin typeface="Cambria Math" panose="02040503050406030204" pitchFamily="18" charset="0"/>
                          </a:rPr>
                          <m:t>−2</m:t>
                        </m:r>
                      </m:sup>
                    </m:sSup>
                    <m:sSup>
                      <m:sSupPr>
                        <m:ctrlPr>
                          <a:rPr lang="en-US" sz="2800" i="1">
                            <a:latin typeface="Cambria Math" panose="02040503050406030204" pitchFamily="18" charset="0"/>
                          </a:rPr>
                        </m:ctrlPr>
                      </m:sSupPr>
                      <m:e>
                        <m:r>
                          <a:rPr lang="en-US" sz="2800" i="1">
                            <a:latin typeface="Cambria Math" panose="02040503050406030204" pitchFamily="18" charset="0"/>
                          </a:rPr>
                          <m:t>𝐿</m:t>
                        </m:r>
                      </m:e>
                      <m:sup>
                        <m:r>
                          <a:rPr lang="en-US" sz="2800" b="0" i="1" smtClean="0">
                            <a:latin typeface="Cambria Math" panose="02040503050406030204" pitchFamily="18" charset="0"/>
                          </a:rPr>
                          <m:t>1−</m:t>
                        </m:r>
                        <m:r>
                          <a:rPr lang="en-US" sz="2800" b="0" i="1" smtClean="0">
                            <a:latin typeface="Cambria Math" panose="02040503050406030204" pitchFamily="18" charset="0"/>
                          </a:rPr>
                          <m:t>𝑎</m:t>
                        </m:r>
                      </m:sup>
                    </m:sSup>
                    <m:r>
                      <a:rPr lang="en-US" sz="2800" i="1">
                        <a:latin typeface="Cambria Math" panose="02040503050406030204" pitchFamily="18" charset="0"/>
                      </a:rPr>
                      <m:t>≤0</m:t>
                    </m:r>
                  </m:oMath>
                </a14:m>
                <a:endParaRPr lang="en-US" sz="2800" dirty="0"/>
              </a:p>
              <a:p>
                <a:pPr marL="0" indent="0" algn="ctr">
                  <a:lnSpc>
                    <a:spcPct val="120000"/>
                  </a:lnSpc>
                  <a:buNone/>
                </a:pPr>
                <a14:m>
                  <m:oMathPara xmlns:m="http://schemas.openxmlformats.org/officeDocument/2006/math">
                    <m:oMath>
                      <m:f>
                        <m:fPr>
                          <m:ctrlPr>
                            <a:rPr lang="en-US" sz="2800" b="0" i="1" smtClean="0">
                              <a:latin typeface="Cambria Math" panose="02040503050406030204" pitchFamily="18" charset="0"/>
                            </a:rPr>
                          </m:ctrlPr>
                        </m:fPr>
                        <m:num>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𝑌</m:t>
                          </m:r>
                        </m:num>
                        <m:den>
                          <m:r>
                            <a:rPr lang="en-US" sz="2800" b="0" i="1" smtClean="0">
                              <a:latin typeface="Cambria Math" panose="02040503050406030204" pitchFamily="18" charset="0"/>
                            </a:rPr>
                            <m:t>𝜕</m:t>
                          </m:r>
                          <m:r>
                            <a:rPr lang="en-US" sz="2800" b="0" i="1" smtClean="0">
                              <a:latin typeface="Cambria Math" panose="02040503050406030204" pitchFamily="18" charset="0"/>
                            </a:rPr>
                            <m:t>𝐿</m:t>
                          </m:r>
                          <m:r>
                            <a:rPr lang="en-US" sz="2800" b="0" i="1" smtClean="0">
                              <a:latin typeface="Cambria Math" panose="02040503050406030204" pitchFamily="18" charset="0"/>
                            </a:rPr>
                            <m:t>𝜕</m:t>
                          </m:r>
                          <m:r>
                            <a:rPr lang="en-US" sz="2800" b="0" i="1" smtClean="0">
                              <a:latin typeface="Cambria Math" panose="02040503050406030204" pitchFamily="18" charset="0"/>
                            </a:rPr>
                            <m:t>𝐾</m:t>
                          </m:r>
                        </m:den>
                      </m:f>
                      <m:r>
                        <a:rPr lang="en-US" sz="2800" b="0" i="1" smtClean="0">
                          <a:latin typeface="Cambria Math" panose="02040503050406030204" pitchFamily="18" charset="0"/>
                        </a:rPr>
                        <m:t>=</m:t>
                      </m:r>
                      <m:r>
                        <a:rPr lang="en-US" sz="2800" b="0" i="1" smtClean="0">
                          <a:latin typeface="Cambria Math" panose="02040503050406030204" pitchFamily="18" charset="0"/>
                        </a:rPr>
                        <m:t>𝑎</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1−</m:t>
                          </m:r>
                          <m:r>
                            <a:rPr lang="en-US" sz="2800" b="0" i="1" smtClean="0">
                              <a:latin typeface="Cambria Math" panose="02040503050406030204" pitchFamily="18" charset="0"/>
                            </a:rPr>
                            <m:t>𝑎</m:t>
                          </m:r>
                        </m:e>
                      </m:d>
                      <m:r>
                        <a:rPr lang="en-US" sz="2800" b="0" i="1" smtClean="0">
                          <a:latin typeface="Cambria Math" panose="02040503050406030204" pitchFamily="18" charset="0"/>
                        </a:rPr>
                        <m:t>𝐴</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𝐾</m:t>
                          </m:r>
                        </m:e>
                        <m:sup>
                          <m:r>
                            <a:rPr lang="en-US" sz="2800" b="0" i="1" smtClean="0">
                              <a:latin typeface="Cambria Math" panose="02040503050406030204" pitchFamily="18" charset="0"/>
                            </a:rPr>
                            <m:t>𝑎</m:t>
                          </m:r>
                          <m:r>
                            <a:rPr lang="en-US" sz="2800" b="0" i="1" smtClean="0">
                              <a:latin typeface="Cambria Math" panose="02040503050406030204" pitchFamily="18" charset="0"/>
                            </a:rPr>
                            <m:t>−1</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𝐿</m:t>
                          </m:r>
                        </m:e>
                        <m:sup>
                          <m:r>
                            <a:rPr lang="en-US" sz="2800" b="0" i="1" smtClean="0">
                              <a:latin typeface="Cambria Math" panose="02040503050406030204" pitchFamily="18" charset="0"/>
                            </a:rPr>
                            <m:t>−</m:t>
                          </m:r>
                          <m:r>
                            <a:rPr lang="en-US" sz="2800" b="0" i="1" smtClean="0">
                              <a:latin typeface="Cambria Math" panose="02040503050406030204" pitchFamily="18" charset="0"/>
                            </a:rPr>
                            <m:t>𝑎</m:t>
                          </m:r>
                        </m:sup>
                      </m:sSup>
                      <m:r>
                        <a:rPr lang="en-US" sz="2800" b="0" i="1" smtClean="0">
                          <a:latin typeface="Cambria Math" panose="02040503050406030204" pitchFamily="18" charset="0"/>
                        </a:rPr>
                        <m:t>≥0</m:t>
                      </m:r>
                    </m:oMath>
                  </m:oMathPara>
                </a14:m>
                <a:endParaRPr lang="en-US" sz="2800" dirty="0"/>
              </a:p>
            </p:txBody>
          </p:sp>
        </mc:Choice>
        <mc:Fallback xmlns="">
          <p:sp>
            <p:nvSpPr>
              <p:cNvPr id="3" name="Content Placeholder 2">
                <a:extLst>
                  <a:ext uri="{FF2B5EF4-FFF2-40B4-BE49-F238E27FC236}">
                    <a16:creationId xmlns:a16="http://schemas.microsoft.com/office/drawing/2014/main" id="{98AAC920-3173-F2DE-F59B-F6EB31709D3F}"/>
                  </a:ext>
                </a:extLst>
              </p:cNvPr>
              <p:cNvSpPr>
                <a:spLocks noGrp="1" noRot="1" noChangeAspect="1" noMove="1" noResize="1" noEditPoints="1" noAdjustHandles="1" noChangeArrowheads="1" noChangeShapeType="1" noTextEdit="1"/>
              </p:cNvSpPr>
              <p:nvPr>
                <p:ph idx="1"/>
              </p:nvPr>
            </p:nvSpPr>
            <p:spPr>
              <a:xfrm>
                <a:off x="228600" y="1600201"/>
                <a:ext cx="11658600" cy="4983161"/>
              </a:xfrm>
              <a:blipFill>
                <a:blip r:embed="rId2"/>
                <a:stretch>
                  <a:fillRect l="-1203" t="-85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87C8708-5486-45D0-9702-DC497D1CE4BC}"/>
              </a:ext>
            </a:extLst>
          </p:cNvPr>
          <p:cNvSpPr>
            <a:spLocks noGrp="1"/>
          </p:cNvSpPr>
          <p:nvPr>
            <p:ph type="sldNum" sz="quarter" idx="12"/>
          </p:nvPr>
        </p:nvSpPr>
        <p:spPr/>
        <p:txBody>
          <a:bodyPr/>
          <a:lstStyle/>
          <a:p>
            <a:fld id="{BB3BE34B-9575-430D-9A41-469C30B8F0EA}" type="slidenum">
              <a:rPr lang="en-US" smtClean="0"/>
              <a:pPr/>
              <a:t>12</a:t>
            </a:fld>
            <a:endParaRPr lang="en-US"/>
          </a:p>
        </p:txBody>
      </p:sp>
    </p:spTree>
    <p:extLst>
      <p:ext uri="{BB962C8B-B14F-4D97-AF65-F5344CB8AC3E}">
        <p14:creationId xmlns:p14="http://schemas.microsoft.com/office/powerpoint/2010/main" val="231822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1BC4-9075-A3DC-3DA9-C01CAEA265DE}"/>
              </a:ext>
            </a:extLst>
          </p:cNvPr>
          <p:cNvSpPr>
            <a:spLocks noGrp="1"/>
          </p:cNvSpPr>
          <p:nvPr>
            <p:ph type="title"/>
          </p:nvPr>
        </p:nvSpPr>
        <p:spPr/>
        <p:txBody>
          <a:bodyPr/>
          <a:lstStyle/>
          <a:p>
            <a:r>
              <a:rPr lang="en-US" dirty="0"/>
              <a:t>Returns to Scale</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6B06D50-FB21-7C9F-BD76-10025DFB7315}"/>
                  </a:ext>
                </a:extLst>
              </p:cNvPr>
              <p:cNvSpPr>
                <a:spLocks noGrp="1"/>
              </p:cNvSpPr>
              <p:nvPr>
                <p:ph sz="half" idx="1"/>
              </p:nvPr>
            </p:nvSpPr>
            <p:spPr>
              <a:xfrm>
                <a:off x="228600" y="1606297"/>
                <a:ext cx="5384800" cy="4525963"/>
              </a:xfrm>
            </p:spPr>
            <p:txBody>
              <a:bodyPr>
                <a:normAutofit/>
              </a:bodyPr>
              <a:lstStyle/>
              <a:p>
                <a:pPr>
                  <a:lnSpc>
                    <a:spcPct val="120000"/>
                  </a:lnSpc>
                </a:pPr>
                <a:r>
                  <a:rPr lang="en-US" dirty="0"/>
                  <a:t>Suppose:</a:t>
                </a:r>
              </a:p>
              <a:p>
                <a:pPr marL="0" indent="0" algn="ctr">
                  <a:lnSpc>
                    <a:spcPct val="120000"/>
                  </a:lnSpc>
                  <a:buNone/>
                </a:pPr>
                <a14:m>
                  <m:oMathPara xmlns:m="http://schemas.openxmlformats.org/officeDocument/2006/math">
                    <m:o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a:p>
                <a:pPr>
                  <a:lnSpc>
                    <a:spcPct val="120000"/>
                  </a:lnSpc>
                </a:pPr>
                <a:r>
                  <a:rPr lang="en-US" dirty="0"/>
                  <a:t>What happens if we double all inputs to production? </a:t>
                </a:r>
                <a:br>
                  <a:rPr lang="en-US" dirty="0"/>
                </a:br>
                <a:r>
                  <a:rPr lang="en-US" dirty="0"/>
                  <a:t>(i.e., both </a:t>
                </a:r>
                <a14:m>
                  <m:oMath xmlns:m="http://schemas.openxmlformats.org/officeDocument/2006/math">
                    <m:r>
                      <a:rPr lang="en-US" b="0" i="1" smtClean="0">
                        <a:latin typeface="Cambria Math" panose="02040503050406030204" pitchFamily="18" charset="0"/>
                      </a:rPr>
                      <m:t>𝐾</m:t>
                    </m:r>
                  </m:oMath>
                </a14:m>
                <a:r>
                  <a:rPr lang="en-US" dirty="0"/>
                  <a:t> and </a:t>
                </a:r>
                <a14:m>
                  <m:oMath xmlns:m="http://schemas.openxmlformats.org/officeDocument/2006/math">
                    <m:r>
                      <a:rPr lang="en-US" b="0" i="1" smtClean="0">
                        <a:latin typeface="Cambria Math" panose="02040503050406030204" pitchFamily="18" charset="0"/>
                      </a:rPr>
                      <m:t>𝐿</m:t>
                    </m:r>
                  </m:oMath>
                </a14:m>
                <a:r>
                  <a:rPr lang="en-US" dirty="0"/>
                  <a:t>)</a:t>
                </a:r>
              </a:p>
            </p:txBody>
          </p:sp>
        </mc:Choice>
        <mc:Fallback xmlns="">
          <p:sp>
            <p:nvSpPr>
              <p:cNvPr id="5" name="Content Placeholder 4">
                <a:extLst>
                  <a:ext uri="{FF2B5EF4-FFF2-40B4-BE49-F238E27FC236}">
                    <a16:creationId xmlns:a16="http://schemas.microsoft.com/office/drawing/2014/main" id="{36B06D50-FB21-7C9F-BD76-10025DFB7315}"/>
                  </a:ext>
                </a:extLst>
              </p:cNvPr>
              <p:cNvSpPr>
                <a:spLocks noGrp="1" noRot="1" noChangeAspect="1" noMove="1" noResize="1" noEditPoints="1" noAdjustHandles="1" noChangeArrowheads="1" noChangeShapeType="1" noTextEdit="1"/>
              </p:cNvSpPr>
              <p:nvPr>
                <p:ph sz="half" idx="1"/>
              </p:nvPr>
            </p:nvSpPr>
            <p:spPr>
              <a:xfrm>
                <a:off x="228600" y="1606297"/>
                <a:ext cx="5384800" cy="4525963"/>
              </a:xfrm>
              <a:blipFill>
                <a:blip r:embed="rId2"/>
                <a:stretch>
                  <a:fillRect l="-2039" t="-27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857028F7-026D-608F-E4AD-D31D5E141008}"/>
                  </a:ext>
                </a:extLst>
              </p:cNvPr>
              <p:cNvSpPr>
                <a:spLocks noGrp="1"/>
              </p:cNvSpPr>
              <p:nvPr>
                <p:ph sz="half" idx="2"/>
              </p:nvPr>
            </p:nvSpPr>
            <p:spPr>
              <a:xfrm>
                <a:off x="5791200" y="1594105"/>
                <a:ext cx="5715000" cy="4762246"/>
              </a:xfrm>
            </p:spPr>
            <p:txBody>
              <a:bodyPr>
                <a:normAutofit/>
              </a:bodyPr>
              <a:lstStyle/>
              <a:p>
                <a:pPr marL="0" indent="0" algn="ctr">
                  <a:buNone/>
                </a:pPr>
                <a:endParaRPr lang="en-US" i="1" dirty="0">
                  <a:latin typeface="Cambria Math" panose="02040503050406030204" pitchFamily="18" charset="0"/>
                </a:endParaRPr>
              </a:p>
              <a:p>
                <a:pPr marL="0" indent="0" algn="ctr">
                  <a:buNone/>
                </a:pPr>
                <a14:m>
                  <m:oMathPara xmlns:m="http://schemas.openxmlformats.org/officeDocument/2006/math">
                    <m:oMath>
                      <m:m>
                        <m:mPr>
                          <m:mcs>
                            <m:mc>
                              <m:mcPr>
                                <m:count m:val="3"/>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𝐹</m:t>
                            </m:r>
                            <m:r>
                              <a:rPr lang="en-US" b="0" i="1" smtClean="0">
                                <a:latin typeface="Cambria Math" panose="02040503050406030204" pitchFamily="18" charset="0"/>
                              </a:rPr>
                              <m:t>(2</m:t>
                            </m:r>
                            <m:r>
                              <a:rPr lang="en-US" b="0" i="1" smtClean="0">
                                <a:latin typeface="Cambria Math" panose="02040503050406030204" pitchFamily="18" charset="0"/>
                              </a:rPr>
                              <m:t>𝐾</m:t>
                            </m:r>
                            <m:r>
                              <a:rPr lang="en-US" b="0" i="1" smtClean="0">
                                <a:latin typeface="Cambria Math" panose="02040503050406030204" pitchFamily="18" charset="0"/>
                              </a:rPr>
                              <m:t>,2</m:t>
                            </m:r>
                            <m:r>
                              <a:rPr lang="en-US" b="0" i="1" smtClean="0">
                                <a:latin typeface="Cambria Math" panose="02040503050406030204" pitchFamily="18" charset="0"/>
                              </a:rPr>
                              <m:t>𝐿</m:t>
                            </m:r>
                            <m:r>
                              <a:rPr lang="en-US" b="0" i="1" smtClean="0">
                                <a:latin typeface="Cambria Math" panose="02040503050406030204" pitchFamily="18" charset="0"/>
                              </a:rPr>
                              <m:t>)</m:t>
                            </m:r>
                          </m:e>
                          <m:e>
                            <m:r>
                              <a:rPr lang="en-US" b="0" i="1" smtClean="0">
                                <a:latin typeface="Cambria Math" panose="02040503050406030204" pitchFamily="18" charset="0"/>
                              </a:rPr>
                              <m:t>=</m:t>
                            </m:r>
                          </m:e>
                          <m:e>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𝐾</m:t>
                                    </m:r>
                                  </m:e>
                                </m:d>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2</m:t>
                                    </m:r>
                                    <m:r>
                                      <a:rPr lang="en-US" b="0" i="1" smtClean="0">
                                        <a:latin typeface="Cambria Math" panose="02040503050406030204" pitchFamily="18" charset="0"/>
                                      </a:rPr>
                                      <m:t>𝐿</m:t>
                                    </m:r>
                                  </m:e>
                                </m:d>
                              </m:e>
                              <m:sup>
                                <m:r>
                                  <a:rPr lang="en-US" b="0" i="1" smtClean="0">
                                    <a:latin typeface="Cambria Math" panose="02040503050406030204" pitchFamily="18" charset="0"/>
                                  </a:rPr>
                                  <m:t>1−</m:t>
                                </m:r>
                                <m:r>
                                  <a:rPr lang="en-US" b="0" i="1" smtClean="0">
                                    <a:latin typeface="Cambria Math" panose="02040503050406030204" pitchFamily="18" charset="0"/>
                                  </a:rPr>
                                  <m:t>𝑎</m:t>
                                </m:r>
                              </m:sup>
                            </m:sSup>
                          </m:e>
                        </m:mr>
                        <m:mr>
                          <m:e/>
                          <m:e>
                            <m:r>
                              <a:rPr lang="en-US" b="0" i="1" smtClean="0">
                                <a:latin typeface="Cambria Math" panose="02040503050406030204" pitchFamily="18" charset="0"/>
                              </a:rPr>
                              <m:t>=</m:t>
                            </m:r>
                          </m:e>
                          <m:e>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1−</m:t>
                                </m:r>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e>
                        </m:mr>
                        <m:mr>
                          <m:e>
                            <m:m>
                              <m:mPr>
                                <m:mcs>
                                  <m:mc>
                                    <m:mcPr>
                                      <m:count m:val="1"/>
                                      <m:mcJc m:val="center"/>
                                    </m:mcPr>
                                  </m:mc>
                                </m:mcs>
                                <m:ctrlPr>
                                  <a:rPr lang="en-US" i="1" smtClean="0">
                                    <a:latin typeface="Cambria Math" panose="02040503050406030204" pitchFamily="18" charset="0"/>
                                  </a:rPr>
                                </m:ctrlPr>
                              </m:mPr>
                              <m:mr>
                                <m:e/>
                              </m:mr>
                              <m:mr>
                                <m:e/>
                              </m:mr>
                            </m:m>
                          </m:e>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
                          </m:e>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2</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𝐾</m:t>
                                      </m:r>
                                    </m:e>
                                    <m:sup>
                                      <m:r>
                                        <m:rPr>
                                          <m:brk m:alnAt="7"/>
                                        </m:rP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m:rPr>
                                          <m:brk m:alnAt="7"/>
                                        </m:rPr>
                                        <a:rPr lang="en-US" b="0" i="1" smtClean="0">
                                          <a:latin typeface="Cambria Math" panose="02040503050406030204" pitchFamily="18" charset="0"/>
                                        </a:rPr>
                                        <m:t>𝐿</m:t>
                                      </m:r>
                                    </m:e>
                                    <m:sup>
                                      <m:r>
                                        <m:rPr>
                                          <m:brk m:alnAt="7"/>
                                        </m:rP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𝑎</m:t>
                                      </m:r>
                                    </m:sup>
                                  </m:sSup>
                                </m:e>
                              </m:mr>
                              <m:mr>
                                <m:e>
                                  <m:r>
                                    <a:rPr lang="en-US" b="0" i="1" smtClean="0">
                                      <a:latin typeface="Cambria Math" panose="02040503050406030204" pitchFamily="18" charset="0"/>
                                    </a:rPr>
                                    <m:t>2</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r>
                                    <a:rPr lang="en-US" b="0" i="1" smtClean="0">
                                      <a:latin typeface="Cambria Math" panose="02040503050406030204" pitchFamily="18" charset="0"/>
                                    </a:rPr>
                                    <m:t>)</m:t>
                                  </m:r>
                                </m:e>
                              </m:mr>
                            </m:m>
                          </m:e>
                        </m:mr>
                      </m:m>
                    </m:oMath>
                  </m:oMathPara>
                </a14:m>
                <a:endParaRPr lang="en-US" dirty="0"/>
              </a:p>
              <a:p>
                <a:pPr marL="0" indent="0">
                  <a:buNone/>
                </a:pPr>
                <a:endParaRPr lang="en-US" dirty="0"/>
              </a:p>
              <a:p>
                <a:r>
                  <a:rPr lang="en-US" dirty="0"/>
                  <a:t>Twice as much of every input yields twice as much output</a:t>
                </a:r>
              </a:p>
              <a:p>
                <a:r>
                  <a:rPr lang="en-US" dirty="0"/>
                  <a:t>Production function is </a:t>
                </a:r>
                <a:r>
                  <a:rPr lang="en-US" dirty="0">
                    <a:solidFill>
                      <a:srgbClr val="C00000"/>
                    </a:solidFill>
                  </a:rPr>
                  <a:t>constant returns to scale</a:t>
                </a:r>
              </a:p>
            </p:txBody>
          </p:sp>
        </mc:Choice>
        <mc:Fallback xmlns="">
          <p:sp>
            <p:nvSpPr>
              <p:cNvPr id="6" name="Content Placeholder 5">
                <a:extLst>
                  <a:ext uri="{FF2B5EF4-FFF2-40B4-BE49-F238E27FC236}">
                    <a16:creationId xmlns:a16="http://schemas.microsoft.com/office/drawing/2014/main" id="{857028F7-026D-608F-E4AD-D31D5E141008}"/>
                  </a:ext>
                </a:extLst>
              </p:cNvPr>
              <p:cNvSpPr>
                <a:spLocks noGrp="1" noRot="1" noChangeAspect="1" noMove="1" noResize="1" noEditPoints="1" noAdjustHandles="1" noChangeArrowheads="1" noChangeShapeType="1" noTextEdit="1"/>
              </p:cNvSpPr>
              <p:nvPr>
                <p:ph sz="half" idx="2"/>
              </p:nvPr>
            </p:nvSpPr>
            <p:spPr>
              <a:xfrm>
                <a:off x="5791200" y="1594105"/>
                <a:ext cx="5715000" cy="4762246"/>
              </a:xfrm>
              <a:blipFill>
                <a:blip r:embed="rId3"/>
                <a:stretch>
                  <a:fillRect l="-1919" r="-1919" b="-102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9D217CB-F116-A911-6804-C12DFA1B522F}"/>
              </a:ext>
            </a:extLst>
          </p:cNvPr>
          <p:cNvSpPr>
            <a:spLocks noGrp="1"/>
          </p:cNvSpPr>
          <p:nvPr>
            <p:ph type="sldNum" sz="quarter" idx="12"/>
          </p:nvPr>
        </p:nvSpPr>
        <p:spPr/>
        <p:txBody>
          <a:bodyPr/>
          <a:lstStyle/>
          <a:p>
            <a:fld id="{BB3BE34B-9575-430D-9A41-469C30B8F0EA}" type="slidenum">
              <a:rPr lang="en-US" smtClean="0"/>
              <a:pPr/>
              <a:t>13</a:t>
            </a:fld>
            <a:endParaRPr lang="en-US"/>
          </a:p>
        </p:txBody>
      </p:sp>
    </p:spTree>
    <p:extLst>
      <p:ext uri="{BB962C8B-B14F-4D97-AF65-F5344CB8AC3E}">
        <p14:creationId xmlns:p14="http://schemas.microsoft.com/office/powerpoint/2010/main" val="196605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71F16A-82F3-D44B-CCAD-52FBE5014D97}"/>
              </a:ext>
            </a:extLst>
          </p:cNvPr>
          <p:cNvSpPr>
            <a:spLocks noGrp="1"/>
          </p:cNvSpPr>
          <p:nvPr>
            <p:ph type="title"/>
          </p:nvPr>
        </p:nvSpPr>
        <p:spPr/>
        <p:txBody>
          <a:bodyPr/>
          <a:lstStyle/>
          <a:p>
            <a:r>
              <a:rPr lang="en-US" dirty="0"/>
              <a:t>Returns to Scale</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B7B8686-1989-17CD-8F0F-5DC4119D866C}"/>
                  </a:ext>
                </a:extLst>
              </p:cNvPr>
              <p:cNvSpPr>
                <a:spLocks noGrp="1"/>
              </p:cNvSpPr>
              <p:nvPr>
                <p:ph idx="1"/>
              </p:nvPr>
            </p:nvSpPr>
            <p:spPr>
              <a:xfrm>
                <a:off x="609600" y="1600201"/>
                <a:ext cx="10972800" cy="4876799"/>
              </a:xfrm>
            </p:spPr>
            <p:txBody>
              <a:bodyPr>
                <a:normAutofit/>
              </a:bodyPr>
              <a:lstStyle/>
              <a:p>
                <a:r>
                  <a:rPr lang="en-US" dirty="0"/>
                  <a:t>What is it about </a:t>
                </a:r>
                <a14:m>
                  <m:oMath xmlns:m="http://schemas.openxmlformats.org/officeDocument/2006/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a14:m>
                <a:r>
                  <a:rPr lang="en-US" dirty="0"/>
                  <a:t> that implies constant </a:t>
                </a:r>
                <a:br>
                  <a:rPr lang="en-US" dirty="0"/>
                </a:br>
                <a:r>
                  <a:rPr lang="en-US" dirty="0"/>
                  <a:t>returns to scale?</a:t>
                </a:r>
              </a:p>
              <a:p>
                <a:pPr lvl="1"/>
                <a:r>
                  <a:rPr lang="en-US" dirty="0"/>
                  <a:t>Exponents on </a:t>
                </a:r>
                <a14:m>
                  <m:oMath xmlns:m="http://schemas.openxmlformats.org/officeDocument/2006/math">
                    <m:r>
                      <a:rPr lang="en-US" b="0" i="1" smtClean="0">
                        <a:latin typeface="Cambria Math" panose="02040503050406030204" pitchFamily="18" charset="0"/>
                      </a:rPr>
                      <m:t>𝐾</m:t>
                    </m:r>
                  </m:oMath>
                </a14:m>
                <a:r>
                  <a:rPr lang="en-US" dirty="0"/>
                  <a:t> and </a:t>
                </a:r>
                <a14:m>
                  <m:oMath xmlns:m="http://schemas.openxmlformats.org/officeDocument/2006/math">
                    <m:r>
                      <a:rPr lang="en-US" b="0" i="1" smtClean="0">
                        <a:latin typeface="Cambria Math" panose="02040503050406030204" pitchFamily="18" charset="0"/>
                      </a:rPr>
                      <m:t>𝐿</m:t>
                    </m:r>
                  </m:oMath>
                </a14:m>
                <a:r>
                  <a:rPr lang="en-US" dirty="0"/>
                  <a:t> sum to one</a:t>
                </a:r>
              </a:p>
              <a:p>
                <a:r>
                  <a:rPr lang="en-US" dirty="0"/>
                  <a:t>If exponents sum to more than one: </a:t>
                </a:r>
              </a:p>
              <a:p>
                <a:pPr lvl="1"/>
                <a:r>
                  <a:rPr lang="en-US" dirty="0"/>
                  <a:t>Increasing returns to scale</a:t>
                </a:r>
              </a:p>
              <a:p>
                <a:r>
                  <a:rPr lang="en-US" dirty="0"/>
                  <a:t>If exponents sum to less than one: </a:t>
                </a:r>
              </a:p>
              <a:p>
                <a:pPr lvl="1"/>
                <a:r>
                  <a:rPr lang="en-US" dirty="0"/>
                  <a:t>Decreasing returns to scale</a:t>
                </a:r>
              </a:p>
              <a:p>
                <a:r>
                  <a:rPr lang="en-US" dirty="0"/>
                  <a:t>Economically, why should we model production as having constant returns to scale at the aggregate level?</a:t>
                </a:r>
              </a:p>
              <a:p>
                <a:endParaRPr lang="en-US" dirty="0"/>
              </a:p>
            </p:txBody>
          </p:sp>
        </mc:Choice>
        <mc:Fallback xmlns="">
          <p:sp>
            <p:nvSpPr>
              <p:cNvPr id="7" name="Content Placeholder 6">
                <a:extLst>
                  <a:ext uri="{FF2B5EF4-FFF2-40B4-BE49-F238E27FC236}">
                    <a16:creationId xmlns:a16="http://schemas.microsoft.com/office/drawing/2014/main" id="{5B7B8686-1989-17CD-8F0F-5DC4119D866C}"/>
                  </a:ext>
                </a:extLst>
              </p:cNvPr>
              <p:cNvSpPr>
                <a:spLocks noGrp="1" noRot="1" noChangeAspect="1" noMove="1" noResize="1" noEditPoints="1" noAdjustHandles="1" noChangeArrowheads="1" noChangeShapeType="1" noTextEdit="1"/>
              </p:cNvSpPr>
              <p:nvPr>
                <p:ph idx="1"/>
              </p:nvPr>
            </p:nvSpPr>
            <p:spPr>
              <a:xfrm>
                <a:off x="609600" y="1600201"/>
                <a:ext cx="10972800" cy="4876799"/>
              </a:xfrm>
              <a:blipFill>
                <a:blip r:embed="rId2"/>
                <a:stretch>
                  <a:fillRect l="-1278" t="-1500" b="-3375"/>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0BA95B4-AA5B-BCAA-DD62-0BBA0C6319B9}"/>
              </a:ext>
            </a:extLst>
          </p:cNvPr>
          <p:cNvSpPr>
            <a:spLocks noGrp="1"/>
          </p:cNvSpPr>
          <p:nvPr>
            <p:ph type="sldNum" sz="quarter" idx="12"/>
          </p:nvPr>
        </p:nvSpPr>
        <p:spPr/>
        <p:txBody>
          <a:bodyPr/>
          <a:lstStyle/>
          <a:p>
            <a:fld id="{BB3BE34B-9575-430D-9A41-469C30B8F0EA}" type="slidenum">
              <a:rPr lang="en-US" smtClean="0"/>
              <a:pPr/>
              <a:t>14</a:t>
            </a:fld>
            <a:endParaRPr lang="en-US"/>
          </a:p>
        </p:txBody>
      </p:sp>
    </p:spTree>
    <p:extLst>
      <p:ext uri="{BB962C8B-B14F-4D97-AF65-F5344CB8AC3E}">
        <p14:creationId xmlns:p14="http://schemas.microsoft.com/office/powerpoint/2010/main" val="1674355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Replication Argument</a:t>
            </a:r>
          </a:p>
        </p:txBody>
      </p:sp>
      <p:sp>
        <p:nvSpPr>
          <p:cNvPr id="3" name="Content Placeholder 2"/>
          <p:cNvSpPr>
            <a:spLocks noGrp="1"/>
          </p:cNvSpPr>
          <p:nvPr>
            <p:ph idx="1"/>
          </p:nvPr>
        </p:nvSpPr>
        <p:spPr>
          <a:xfrm>
            <a:off x="609600" y="1600200"/>
            <a:ext cx="10972800" cy="5121275"/>
          </a:xfrm>
        </p:spPr>
        <p:txBody>
          <a:bodyPr>
            <a:normAutofit/>
          </a:bodyPr>
          <a:lstStyle/>
          <a:p>
            <a:r>
              <a:rPr lang="en-US" dirty="0"/>
              <a:t>Replication argument:</a:t>
            </a:r>
          </a:p>
          <a:p>
            <a:pPr lvl="1"/>
            <a:r>
              <a:rPr lang="en-US" dirty="0"/>
              <a:t>If you build two identical factories. You should get twice as much output as from one.</a:t>
            </a:r>
          </a:p>
          <a:p>
            <a:r>
              <a:rPr lang="en-US" dirty="0"/>
              <a:t>Counter-arguments?</a:t>
            </a:r>
          </a:p>
          <a:p>
            <a:pPr lvl="1"/>
            <a:r>
              <a:rPr lang="en-US" dirty="0"/>
              <a:t>Micro level scale economies that are not fully exhausted</a:t>
            </a:r>
          </a:p>
          <a:p>
            <a:pPr lvl="1"/>
            <a:r>
              <a:rPr lang="en-US" dirty="0"/>
              <a:t>Fixed factors: Some inputs cannot be doubled. E.g., land.</a:t>
            </a:r>
          </a:p>
          <a:p>
            <a:pPr lvl="2"/>
            <a:r>
              <a:rPr lang="en-US" dirty="0"/>
              <a:t>Not strictly speaking about the production function itself. </a:t>
            </a:r>
          </a:p>
          <a:p>
            <a:pPr lvl="2"/>
            <a:r>
              <a:rPr lang="en-US" dirty="0"/>
              <a:t>But has similar implications (diminishing returns to remaining factors)</a:t>
            </a:r>
          </a:p>
          <a:p>
            <a:pPr lvl="1"/>
            <a:r>
              <a:rPr lang="en-US" dirty="0"/>
              <a:t>Externalities: There may be either positive or negative spillovers between factories</a:t>
            </a:r>
          </a:p>
        </p:txBody>
      </p:sp>
      <p:sp>
        <p:nvSpPr>
          <p:cNvPr id="4" name="Slide Number Placeholder 3"/>
          <p:cNvSpPr>
            <a:spLocks noGrp="1"/>
          </p:cNvSpPr>
          <p:nvPr>
            <p:ph type="sldNum" sz="quarter" idx="12"/>
          </p:nvPr>
        </p:nvSpPr>
        <p:spPr/>
        <p:txBody>
          <a:bodyPr/>
          <a:lstStyle/>
          <a:p>
            <a:fld id="{BB3BE34B-9575-430D-9A41-469C30B8F0EA}" type="slidenum">
              <a:rPr lang="en-US" smtClean="0"/>
              <a:pPr/>
              <a:t>15</a:t>
            </a:fld>
            <a:endParaRPr lang="en-US"/>
          </a:p>
        </p:txBody>
      </p:sp>
    </p:spTree>
    <p:extLst>
      <p:ext uri="{BB962C8B-B14F-4D97-AF65-F5344CB8AC3E}">
        <p14:creationId xmlns:p14="http://schemas.microsoft.com/office/powerpoint/2010/main" val="382268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7BB11-C48E-FD79-09F2-A50352335472}"/>
              </a:ext>
            </a:extLst>
          </p:cNvPr>
          <p:cNvSpPr>
            <a:spLocks noGrp="1"/>
          </p:cNvSpPr>
          <p:nvPr>
            <p:ph type="title"/>
          </p:nvPr>
        </p:nvSpPr>
        <p:spPr/>
        <p:txBody>
          <a:bodyPr>
            <a:normAutofit/>
          </a:bodyPr>
          <a:lstStyle/>
          <a:p>
            <a:r>
              <a:rPr lang="en-US" dirty="0"/>
              <a:t>Behavior of Firms</a:t>
            </a:r>
          </a:p>
        </p:txBody>
      </p:sp>
      <p:sp>
        <p:nvSpPr>
          <p:cNvPr id="3" name="Content Placeholder 2">
            <a:extLst>
              <a:ext uri="{FF2B5EF4-FFF2-40B4-BE49-F238E27FC236}">
                <a16:creationId xmlns:a16="http://schemas.microsoft.com/office/drawing/2014/main" id="{3664D363-3C78-4C8D-0021-3711239BA4DB}"/>
              </a:ext>
            </a:extLst>
          </p:cNvPr>
          <p:cNvSpPr>
            <a:spLocks noGrp="1"/>
          </p:cNvSpPr>
          <p:nvPr>
            <p:ph idx="1"/>
          </p:nvPr>
        </p:nvSpPr>
        <p:spPr>
          <a:xfrm>
            <a:off x="609600" y="1600201"/>
            <a:ext cx="10972800" cy="5121275"/>
          </a:xfrm>
        </p:spPr>
        <p:txBody>
          <a:bodyPr>
            <a:normAutofit lnSpcReduction="10000"/>
          </a:bodyPr>
          <a:lstStyle/>
          <a:p>
            <a:r>
              <a:rPr lang="en-US" dirty="0"/>
              <a:t>How should we model the behavior of firms?</a:t>
            </a:r>
          </a:p>
          <a:p>
            <a:r>
              <a:rPr lang="en-US" dirty="0"/>
              <a:t>Usual assumptions in economics:</a:t>
            </a:r>
          </a:p>
          <a:p>
            <a:pPr lvl="1"/>
            <a:r>
              <a:rPr lang="en-US" dirty="0"/>
              <a:t>Individuals maximize utility</a:t>
            </a:r>
          </a:p>
          <a:p>
            <a:pPr lvl="1"/>
            <a:r>
              <a:rPr lang="en-US" dirty="0"/>
              <a:t>Firms maximize profits</a:t>
            </a:r>
          </a:p>
          <a:p>
            <a:r>
              <a:rPr lang="en-US" dirty="0"/>
              <a:t>Tricky for firms. … What is a firm?</a:t>
            </a:r>
          </a:p>
          <a:p>
            <a:pPr lvl="1"/>
            <a:r>
              <a:rPr lang="en-US" dirty="0"/>
              <a:t>Shareholders put up money and “own” the firm</a:t>
            </a:r>
          </a:p>
          <a:p>
            <a:pPr lvl="1"/>
            <a:r>
              <a:rPr lang="en-US" dirty="0"/>
              <a:t>Managers hired by shareholders</a:t>
            </a:r>
          </a:p>
          <a:p>
            <a:pPr lvl="1"/>
            <a:r>
              <a:rPr lang="en-US" dirty="0"/>
              <a:t>Employees hired by managers</a:t>
            </a:r>
          </a:p>
          <a:p>
            <a:pPr lvl="1"/>
            <a:r>
              <a:rPr lang="en-US" dirty="0"/>
              <a:t>Money borrowed from creditors</a:t>
            </a:r>
          </a:p>
          <a:p>
            <a:r>
              <a:rPr lang="en-US" dirty="0"/>
              <a:t>Conflicts of interest left and right!!</a:t>
            </a:r>
          </a:p>
        </p:txBody>
      </p:sp>
      <p:sp>
        <p:nvSpPr>
          <p:cNvPr id="4" name="Slide Number Placeholder 3">
            <a:extLst>
              <a:ext uri="{FF2B5EF4-FFF2-40B4-BE49-F238E27FC236}">
                <a16:creationId xmlns:a16="http://schemas.microsoft.com/office/drawing/2014/main" id="{73AFFF95-BDA8-97EC-EC6D-66F0AF1F3E12}"/>
              </a:ext>
            </a:extLst>
          </p:cNvPr>
          <p:cNvSpPr>
            <a:spLocks noGrp="1"/>
          </p:cNvSpPr>
          <p:nvPr>
            <p:ph type="sldNum" sz="quarter" idx="12"/>
          </p:nvPr>
        </p:nvSpPr>
        <p:spPr/>
        <p:txBody>
          <a:bodyPr/>
          <a:lstStyle/>
          <a:p>
            <a:fld id="{BB3BE34B-9575-430D-9A41-469C30B8F0EA}" type="slidenum">
              <a:rPr lang="en-US" smtClean="0"/>
              <a:pPr/>
              <a:t>16</a:t>
            </a:fld>
            <a:endParaRPr lang="en-US"/>
          </a:p>
        </p:txBody>
      </p:sp>
    </p:spTree>
    <p:extLst>
      <p:ext uri="{BB962C8B-B14F-4D97-AF65-F5344CB8AC3E}">
        <p14:creationId xmlns:p14="http://schemas.microsoft.com/office/powerpoint/2010/main" val="19345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C53D7-E13F-7583-1C8A-FE48B5B1B7D3}"/>
              </a:ext>
            </a:extLst>
          </p:cNvPr>
          <p:cNvSpPr>
            <a:spLocks noGrp="1"/>
          </p:cNvSpPr>
          <p:nvPr>
            <p:ph type="title"/>
          </p:nvPr>
        </p:nvSpPr>
        <p:spPr/>
        <p:txBody>
          <a:bodyPr/>
          <a:lstStyle/>
          <a:p>
            <a:r>
              <a:rPr lang="en-US" dirty="0"/>
              <a:t>Firm’s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95D509-A653-C0BB-8A65-5779E68AB0F1}"/>
                  </a:ext>
                </a:extLst>
              </p:cNvPr>
              <p:cNvSpPr>
                <a:spLocks noGrp="1"/>
              </p:cNvSpPr>
              <p:nvPr>
                <p:ph idx="1"/>
              </p:nvPr>
            </p:nvSpPr>
            <p:spPr>
              <a:xfrm>
                <a:off x="609600" y="1600201"/>
                <a:ext cx="10972800" cy="5121275"/>
              </a:xfrm>
            </p:spPr>
            <p:txBody>
              <a:bodyPr>
                <a:normAutofit/>
              </a:bodyPr>
              <a:lstStyle/>
              <a:p>
                <a:r>
                  <a:rPr lang="en-US" dirty="0"/>
                  <a:t>Choose how many workers to hire and machines to rent to maximize profits</a:t>
                </a:r>
              </a:p>
              <a:p>
                <a:pPr marL="0" indent="0" algn="ctr">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lim>
                          </m:limLow>
                        </m:fName>
                        <m:e>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r>
                            <a:rPr lang="en-US" b="0" i="1" smtClean="0">
                              <a:latin typeface="Cambria Math" panose="02040503050406030204" pitchFamily="18" charset="0"/>
                            </a:rPr>
                            <m:t>−</m:t>
                          </m:r>
                          <m:r>
                            <a:rPr lang="en-US" b="0" i="1" smtClean="0">
                              <a:latin typeface="Cambria Math" panose="02040503050406030204" pitchFamily="18" charset="0"/>
                            </a:rPr>
                            <m:t>𝑟𝐾</m:t>
                          </m:r>
                          <m:r>
                            <a:rPr lang="en-US" b="0" i="1" smtClean="0">
                              <a:latin typeface="Cambria Math" panose="02040503050406030204" pitchFamily="18" charset="0"/>
                            </a:rPr>
                            <m:t>−</m:t>
                          </m:r>
                          <m:r>
                            <a:rPr lang="en-US" b="0" i="1" smtClean="0">
                              <a:latin typeface="Cambria Math" panose="02040503050406030204" pitchFamily="18" charset="0"/>
                            </a:rPr>
                            <m:t>𝑤𝐿</m:t>
                          </m:r>
                        </m:e>
                      </m:func>
                    </m:oMath>
                  </m:oMathPara>
                </a14:m>
                <a:endParaRPr lang="en-US" dirty="0"/>
              </a:p>
              <a:p>
                <a:r>
                  <a:rPr lang="en-US" dirty="0"/>
                  <a:t>Profits are production minus cost of inputs</a:t>
                </a:r>
              </a:p>
              <a:p>
                <a:r>
                  <a:rPr lang="en-US" dirty="0"/>
                  <a:t>We set the price of output to 1 (the </a:t>
                </a:r>
                <a:r>
                  <a:rPr lang="en-US" dirty="0" err="1"/>
                  <a:t>numeraire</a:t>
                </a:r>
                <a:r>
                  <a:rPr lang="en-US" dirty="0"/>
                  <a:t>)</a:t>
                </a:r>
              </a:p>
              <a:p>
                <a14:m>
                  <m:oMath xmlns:m="http://schemas.openxmlformats.org/officeDocument/2006/math">
                    <m:r>
                      <a:rPr lang="en-US" b="0" i="1" smtClean="0">
                        <a:latin typeface="Cambria Math" panose="02040503050406030204" pitchFamily="18" charset="0"/>
                      </a:rPr>
                      <m:t>𝑟</m:t>
                    </m:r>
                  </m:oMath>
                </a14:m>
                <a:r>
                  <a:rPr lang="en-US" dirty="0"/>
                  <a:t>: rental price of machines, </a:t>
                </a:r>
                <a14:m>
                  <m:oMath xmlns:m="http://schemas.openxmlformats.org/officeDocument/2006/math">
                    <m:r>
                      <a:rPr lang="en-US" b="0" i="1" smtClean="0">
                        <a:latin typeface="Cambria Math" panose="02040503050406030204" pitchFamily="18" charset="0"/>
                      </a:rPr>
                      <m:t>𝑤</m:t>
                    </m:r>
                  </m:oMath>
                </a14:m>
                <a:r>
                  <a:rPr lang="en-US" dirty="0"/>
                  <a:t>: wage of workers</a:t>
                </a:r>
              </a:p>
              <a:p>
                <a:r>
                  <a:rPr lang="en-US" dirty="0"/>
                  <a:t>Firm takes </a:t>
                </a:r>
                <a14:m>
                  <m:oMath xmlns:m="http://schemas.openxmlformats.org/officeDocument/2006/math">
                    <m:r>
                      <a:rPr lang="en-US" b="0" i="1" smtClean="0">
                        <a:latin typeface="Cambria Math" panose="02040503050406030204" pitchFamily="18" charset="0"/>
                      </a:rPr>
                      <m:t>𝑟</m:t>
                    </m:r>
                  </m:oMath>
                </a14:m>
                <a:r>
                  <a:rPr lang="en-US" dirty="0"/>
                  <a:t> and </a:t>
                </a:r>
                <a14:m>
                  <m:oMath xmlns:m="http://schemas.openxmlformats.org/officeDocument/2006/math">
                    <m:r>
                      <a:rPr lang="en-US" b="0" i="1" smtClean="0">
                        <a:latin typeface="Cambria Math" panose="02040503050406030204" pitchFamily="18" charset="0"/>
                      </a:rPr>
                      <m:t>𝑤</m:t>
                    </m:r>
                  </m:oMath>
                </a14:m>
                <a:r>
                  <a:rPr lang="en-US" dirty="0"/>
                  <a:t> as given. Why?</a:t>
                </a:r>
              </a:p>
              <a:p>
                <a:pPr lvl="1"/>
                <a:r>
                  <a:rPr lang="en-US" dirty="0"/>
                  <a:t>Competitive markets for labor and capital</a:t>
                </a:r>
                <a:br>
                  <a:rPr lang="en-US" dirty="0"/>
                </a:br>
                <a:r>
                  <a:rPr lang="en-US" dirty="0"/>
                  <a:t>(Simplifying assumption – left wing critique)</a:t>
                </a:r>
              </a:p>
              <a:p>
                <a:endParaRPr lang="en-US" dirty="0"/>
              </a:p>
            </p:txBody>
          </p:sp>
        </mc:Choice>
        <mc:Fallback xmlns="">
          <p:sp>
            <p:nvSpPr>
              <p:cNvPr id="3" name="Content Placeholder 2">
                <a:extLst>
                  <a:ext uri="{FF2B5EF4-FFF2-40B4-BE49-F238E27FC236}">
                    <a16:creationId xmlns:a16="http://schemas.microsoft.com/office/drawing/2014/main" id="{D995D509-A653-C0BB-8A65-5779E68AB0F1}"/>
                  </a:ext>
                </a:extLst>
              </p:cNvPr>
              <p:cNvSpPr>
                <a:spLocks noGrp="1" noRot="1" noChangeAspect="1" noMove="1" noResize="1" noEditPoints="1" noAdjustHandles="1" noChangeArrowheads="1" noChangeShapeType="1" noTextEdit="1"/>
              </p:cNvSpPr>
              <p:nvPr>
                <p:ph idx="1"/>
              </p:nvPr>
            </p:nvSpPr>
            <p:spPr>
              <a:xfrm>
                <a:off x="609600" y="1600201"/>
                <a:ext cx="10972800" cy="5121275"/>
              </a:xfrm>
              <a:blipFill>
                <a:blip r:embed="rId2"/>
                <a:stretch>
                  <a:fillRect l="-1278" t="-1548" b="-131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C8504044-9473-8D03-D5EF-9023211B45D9}"/>
              </a:ext>
            </a:extLst>
          </p:cNvPr>
          <p:cNvSpPr>
            <a:spLocks noGrp="1"/>
          </p:cNvSpPr>
          <p:nvPr>
            <p:ph type="sldNum" sz="quarter" idx="12"/>
          </p:nvPr>
        </p:nvSpPr>
        <p:spPr/>
        <p:txBody>
          <a:bodyPr/>
          <a:lstStyle/>
          <a:p>
            <a:fld id="{BB3BE34B-9575-430D-9A41-469C30B8F0EA}" type="slidenum">
              <a:rPr lang="en-US" smtClean="0"/>
              <a:pPr/>
              <a:t>17</a:t>
            </a:fld>
            <a:endParaRPr lang="en-US"/>
          </a:p>
        </p:txBody>
      </p:sp>
    </p:spTree>
    <p:extLst>
      <p:ext uri="{BB962C8B-B14F-4D97-AF65-F5344CB8AC3E}">
        <p14:creationId xmlns:p14="http://schemas.microsoft.com/office/powerpoint/2010/main" val="1377754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20000"/>
                  </a:lnSpc>
                </a:pPr>
                <a:r>
                  <a:rPr lang="en-US" dirty="0"/>
                  <a:t>How do we go about solving the firm’s problem?</a:t>
                </a:r>
              </a:p>
              <a:p>
                <a:pPr marL="0" indent="0" algn="ctr">
                  <a:lnSpc>
                    <a:spcPct val="120000"/>
                  </a:lnSpc>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e>
                          </m:d>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pPr marL="514350" indent="-514350">
                  <a:lnSpc>
                    <a:spcPct val="120000"/>
                  </a:lnSpc>
                  <a:buFont typeface="+mj-lt"/>
                  <a:buAutoNum type="arabicPeriod"/>
                </a:pPr>
                <a:r>
                  <a:rPr lang="en-US" dirty="0"/>
                  <a:t>Choose optimal level of capital</a:t>
                </a:r>
              </a:p>
              <a:p>
                <a:pPr marL="914400" lvl="1" indent="-514350">
                  <a:lnSpc>
                    <a:spcPct val="120000"/>
                  </a:lnSpc>
                </a:pPr>
                <a:r>
                  <a:rPr lang="en-US" dirty="0"/>
                  <a:t>Maximize profits with respect to </a:t>
                </a:r>
                <a14:m>
                  <m:oMath xmlns:m="http://schemas.openxmlformats.org/officeDocument/2006/math">
                    <m:r>
                      <a:rPr lang="en-US" i="1">
                        <a:latin typeface="Cambria Math" panose="02040503050406030204" pitchFamily="18" charset="0"/>
                      </a:rPr>
                      <m:t>𝐾</m:t>
                    </m:r>
                  </m:oMath>
                </a14:m>
                <a:r>
                  <a:rPr lang="en-US" dirty="0"/>
                  <a:t> treating </a:t>
                </a:r>
                <a14:m>
                  <m:oMath xmlns:m="http://schemas.openxmlformats.org/officeDocument/2006/math">
                    <m:r>
                      <a:rPr lang="en-US" i="1">
                        <a:latin typeface="Cambria Math" panose="02040503050406030204" pitchFamily="18" charset="0"/>
                      </a:rPr>
                      <m:t>𝐿</m:t>
                    </m:r>
                  </m:oMath>
                </a14:m>
                <a:r>
                  <a:rPr lang="en-US" dirty="0"/>
                  <a:t> as fixed</a:t>
                </a:r>
              </a:p>
              <a:p>
                <a:pPr marL="514350" indent="-514350">
                  <a:lnSpc>
                    <a:spcPct val="120000"/>
                  </a:lnSpc>
                  <a:buFont typeface="+mj-lt"/>
                  <a:buAutoNum type="arabicPeriod"/>
                </a:pPr>
                <a:r>
                  <a:rPr lang="en-US" dirty="0"/>
                  <a:t>Choose optimal level of labor</a:t>
                </a:r>
              </a:p>
              <a:p>
                <a:pPr marL="914400" lvl="1" indent="-514350">
                  <a:lnSpc>
                    <a:spcPct val="120000"/>
                  </a:lnSpc>
                </a:pPr>
                <a:r>
                  <a:rPr lang="en-US" dirty="0"/>
                  <a:t>Maximize profits with respect to </a:t>
                </a:r>
                <a14:m>
                  <m:oMath xmlns:m="http://schemas.openxmlformats.org/officeDocument/2006/math">
                    <m:r>
                      <a:rPr lang="en-US" i="1">
                        <a:latin typeface="Cambria Math" panose="02040503050406030204" pitchFamily="18" charset="0"/>
                      </a:rPr>
                      <m:t>𝐿</m:t>
                    </m:r>
                  </m:oMath>
                </a14:m>
                <a:r>
                  <a:rPr lang="en-US" dirty="0"/>
                  <a:t> treating </a:t>
                </a:r>
                <a14:m>
                  <m:oMath xmlns:m="http://schemas.openxmlformats.org/officeDocument/2006/math">
                    <m:r>
                      <a:rPr lang="en-US" i="1">
                        <a:latin typeface="Cambria Math" panose="02040503050406030204" pitchFamily="18" charset="0"/>
                      </a:rPr>
                      <m:t>𝐾</m:t>
                    </m:r>
                  </m:oMath>
                </a14:m>
                <a:r>
                  <a:rPr lang="en-US" dirty="0"/>
                  <a:t> as fixed</a:t>
                </a:r>
              </a:p>
              <a:p>
                <a:pPr marL="0" indent="0" algn="ct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444" t="-404"/>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B3BE34B-9575-430D-9A41-469C30B8F0EA}" type="slidenum">
              <a:rPr lang="en-US" smtClean="0"/>
              <a:pPr/>
              <a:t>18</a:t>
            </a:fld>
            <a:endParaRPr lang="en-US"/>
          </a:p>
        </p:txBody>
      </p:sp>
    </p:spTree>
    <p:extLst>
      <p:ext uri="{BB962C8B-B14F-4D97-AF65-F5344CB8AC3E}">
        <p14:creationId xmlns:p14="http://schemas.microsoft.com/office/powerpoint/2010/main" val="50141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CAA4A-832D-D996-E355-94A83EC3F2BD}"/>
              </a:ext>
            </a:extLst>
          </p:cNvPr>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0F6468-2C23-EFA1-8C0A-CB2C4030C42E}"/>
                  </a:ext>
                </a:extLst>
              </p:cNvPr>
              <p:cNvSpPr>
                <a:spLocks noGrp="1"/>
              </p:cNvSpPr>
              <p:nvPr>
                <p:ph idx="1"/>
              </p:nvPr>
            </p:nvSpPr>
            <p:spPr>
              <a:xfrm>
                <a:off x="381000" y="1600201"/>
                <a:ext cx="11353800" cy="4983161"/>
              </a:xfrm>
            </p:spPr>
            <p:txBody>
              <a:bodyPr>
                <a:normAutofit/>
              </a:bodyPr>
              <a:lstStyle/>
              <a:p>
                <a:pPr>
                  <a:lnSpc>
                    <a:spcPct val="120000"/>
                  </a:lnSpc>
                </a:pPr>
                <a:r>
                  <a:rPr lang="en-US" dirty="0"/>
                  <a:t>We are making use of a simple but powerful mathematical result:</a:t>
                </a:r>
              </a:p>
              <a:p>
                <a:pPr marL="0" indent="0">
                  <a:lnSpc>
                    <a:spcPct val="120000"/>
                  </a:lnSpc>
                  <a:buNone/>
                </a:pPr>
                <a14:m>
                  <m:oMathPara xmlns:m="http://schemas.openxmlformats.org/officeDocument/2006/math">
                    <m:oMath>
                      <m:func>
                        <m:funcPr>
                          <m:ctrlPr>
                            <a:rPr lang="en-US" i="1" smtClean="0">
                              <a:latin typeface="Cambria Math" panose="02040503050406030204" pitchFamily="18" charset="0"/>
                            </a:rPr>
                          </m:ctrlPr>
                        </m:funcPr>
                        <m:fName>
                          <m:limLow>
                            <m:limLowPr>
                              <m:ctrlPr>
                                <a:rPr lang="en-US" i="0" smtClean="0">
                                  <a:latin typeface="Cambria Math" panose="02040503050406030204" pitchFamily="18" charset="0"/>
                                </a:rPr>
                              </m:ctrlPr>
                            </m:limLowPr>
                            <m:e>
                              <m:r>
                                <m:rPr>
                                  <m:sty m:val="p"/>
                                </m:rPr>
                                <a:rPr lang="en-US" i="0" smtClean="0">
                                  <a:latin typeface="Cambria Math" panose="02040503050406030204" pitchFamily="18" charset="0"/>
                                </a:rPr>
                                <m:t>max</m:t>
                              </m:r>
                            </m:e>
                            <m:li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lim>
                          </m:limLow>
                        </m:fName>
                        <m:e>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e>
                      </m:func>
                    </m:oMath>
                  </m:oMathPara>
                </a14:m>
                <a:endParaRPr lang="en-US" dirty="0"/>
              </a:p>
              <a:p>
                <a:pPr marL="365760" indent="0">
                  <a:lnSpc>
                    <a:spcPct val="120000"/>
                  </a:lnSpc>
                  <a:buNone/>
                </a:pPr>
                <a:r>
                  <a:rPr lang="en-US" dirty="0"/>
                  <a:t>is given by the solution to the following two equations </a:t>
                </a:r>
              </a:p>
              <a:p>
                <a:pPr marL="0" indent="0">
                  <a:lnSpc>
                    <a:spcPct val="120000"/>
                  </a:lnSpc>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den>
                      </m:f>
                      <m:r>
                        <a:rPr lang="en-US" b="0" i="1" smtClean="0">
                          <a:latin typeface="Cambria Math" panose="02040503050406030204" pitchFamily="18" charset="0"/>
                        </a:rPr>
                        <m:t>=0</m:t>
                      </m:r>
                    </m:oMath>
                  </m:oMathPara>
                </a14:m>
                <a:endParaRPr lang="en-US" b="0" dirty="0"/>
              </a:p>
              <a:p>
                <a:pPr marL="0" indent="0">
                  <a:lnSpc>
                    <a:spcPct val="120000"/>
                  </a:lnSpc>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r>
                            <a:rPr lang="en-US" b="0" i="1" smtClean="0">
                              <a:latin typeface="Cambria Math" panose="02040503050406030204" pitchFamily="18" charset="0"/>
                              <a:ea typeface="Cambria Math" panose="02040503050406030204" pitchFamily="18" charset="0"/>
                            </a:rPr>
                            <m:t>)</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𝑦</m:t>
                          </m:r>
                        </m:den>
                      </m:f>
                      <m:r>
                        <a:rPr lang="en-US" b="0" i="1" smtClean="0">
                          <a:latin typeface="Cambria Math" panose="02040503050406030204" pitchFamily="18" charset="0"/>
                        </a:rPr>
                        <m:t>=0</m:t>
                      </m:r>
                    </m:oMath>
                  </m:oMathPara>
                </a14:m>
                <a:endParaRPr lang="en-US" dirty="0"/>
              </a:p>
            </p:txBody>
          </p:sp>
        </mc:Choice>
        <mc:Fallback xmlns="">
          <p:sp>
            <p:nvSpPr>
              <p:cNvPr id="3" name="Content Placeholder 2">
                <a:extLst>
                  <a:ext uri="{FF2B5EF4-FFF2-40B4-BE49-F238E27FC236}">
                    <a16:creationId xmlns:a16="http://schemas.microsoft.com/office/drawing/2014/main" id="{070F6468-2C23-EFA1-8C0A-CB2C4030C42E}"/>
                  </a:ext>
                </a:extLst>
              </p:cNvPr>
              <p:cNvSpPr>
                <a:spLocks noGrp="1" noRot="1" noChangeAspect="1" noMove="1" noResize="1" noEditPoints="1" noAdjustHandles="1" noChangeArrowheads="1" noChangeShapeType="1" noTextEdit="1"/>
              </p:cNvSpPr>
              <p:nvPr>
                <p:ph idx="1"/>
              </p:nvPr>
            </p:nvSpPr>
            <p:spPr>
              <a:xfrm>
                <a:off x="381000" y="1600201"/>
                <a:ext cx="11353800" cy="4983161"/>
              </a:xfrm>
              <a:blipFill>
                <a:blip r:embed="rId2"/>
                <a:stretch>
                  <a:fillRect l="-1235" t="-367" r="-85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E6CA7FD-C0F7-63D9-E169-B8022B7E8DE0}"/>
              </a:ext>
            </a:extLst>
          </p:cNvPr>
          <p:cNvSpPr>
            <a:spLocks noGrp="1"/>
          </p:cNvSpPr>
          <p:nvPr>
            <p:ph type="sldNum" sz="quarter" idx="12"/>
          </p:nvPr>
        </p:nvSpPr>
        <p:spPr/>
        <p:txBody>
          <a:bodyPr/>
          <a:lstStyle/>
          <a:p>
            <a:fld id="{BB3BE34B-9575-430D-9A41-469C30B8F0EA}" type="slidenum">
              <a:rPr lang="en-US" smtClean="0"/>
              <a:pPr/>
              <a:t>19</a:t>
            </a:fld>
            <a:endParaRPr lang="en-US"/>
          </a:p>
        </p:txBody>
      </p:sp>
    </p:spTree>
    <p:extLst>
      <p:ext uri="{BB962C8B-B14F-4D97-AF65-F5344CB8AC3E}">
        <p14:creationId xmlns:p14="http://schemas.microsoft.com/office/powerpoint/2010/main" val="769977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2E51A-03CC-08B7-BE57-921BEBFD0C8F}"/>
              </a:ext>
            </a:extLst>
          </p:cNvPr>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AF32C6-6C0D-D268-3B38-D5F36C0EB531}"/>
                  </a:ext>
                </a:extLst>
              </p:cNvPr>
              <p:cNvSpPr>
                <a:spLocks noGrp="1"/>
              </p:cNvSpPr>
              <p:nvPr>
                <p:ph idx="1"/>
              </p:nvPr>
            </p:nvSpPr>
            <p:spPr/>
            <p:txBody>
              <a:bodyPr/>
              <a:lstStyle/>
              <a:p>
                <a:pPr marL="0" indent="0">
                  <a:buNone/>
                </a:pPr>
                <a:endParaRPr lang="en-US" i="1" dirty="0">
                  <a:latin typeface="Cambria Math" panose="02040503050406030204" pitchFamily="18" charset="0"/>
                </a:endParaRPr>
              </a:p>
              <a:p>
                <a:pPr marL="0" indent="0">
                  <a:lnSpc>
                    <a:spcPct val="150000"/>
                  </a:lnSpc>
                  <a:spcAft>
                    <a:spcPts val="1200"/>
                  </a:spcAft>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i="1">
                              <a:latin typeface="Cambria Math" panose="02040503050406030204" pitchFamily="18" charset="0"/>
                            </a:rPr>
                            <m:t>𝐹</m:t>
                          </m:r>
                          <m:d>
                            <m:dPr>
                              <m:ctrlPr>
                                <a:rPr lang="en-US" i="1">
                                  <a:latin typeface="Cambria Math" panose="02040503050406030204" pitchFamily="18" charset="0"/>
                                </a:rPr>
                              </m:ctrlPr>
                            </m:dPr>
                            <m:e>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e>
                          </m:d>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pPr>
                  <a:lnSpc>
                    <a:spcPct val="150000"/>
                  </a:lnSpc>
                  <a:spcAft>
                    <a:spcPts val="600"/>
                  </a:spcAft>
                </a:pPr>
                <a:r>
                  <a:rPr lang="en-US" dirty="0"/>
                  <a:t>We start by plugging in for </a:t>
                </a:r>
                <a14:m>
                  <m:oMath xmlns:m="http://schemas.openxmlformats.org/officeDocument/2006/math">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𝐿</m:t>
                        </m:r>
                      </m:e>
                    </m:d>
                  </m:oMath>
                </a14:m>
                <a:r>
                  <a:rPr lang="en-US" dirty="0"/>
                  <a:t>:</a:t>
                </a:r>
              </a:p>
              <a:p>
                <a:pPr marL="0" indent="0">
                  <a:lnSpc>
                    <a:spcPct val="150000"/>
                  </a:lnSpc>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72AF32C6-6C0D-D268-3B38-D5F36C0EB531}"/>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7F787EB7-2281-22BC-7459-672AF776C32D}"/>
              </a:ext>
            </a:extLst>
          </p:cNvPr>
          <p:cNvSpPr>
            <a:spLocks noGrp="1"/>
          </p:cNvSpPr>
          <p:nvPr>
            <p:ph type="sldNum" sz="quarter" idx="12"/>
          </p:nvPr>
        </p:nvSpPr>
        <p:spPr/>
        <p:txBody>
          <a:bodyPr/>
          <a:lstStyle/>
          <a:p>
            <a:fld id="{BB3BE34B-9575-430D-9A41-469C30B8F0EA}" type="slidenum">
              <a:rPr lang="en-US" smtClean="0"/>
              <a:pPr/>
              <a:t>20</a:t>
            </a:fld>
            <a:endParaRPr lang="en-US"/>
          </a:p>
        </p:txBody>
      </p:sp>
    </p:spTree>
    <p:extLst>
      <p:ext uri="{BB962C8B-B14F-4D97-AF65-F5344CB8AC3E}">
        <p14:creationId xmlns:p14="http://schemas.microsoft.com/office/powerpoint/2010/main" val="2079784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2465A-0283-6574-EF14-A2F51E6D0C0A}"/>
              </a:ext>
            </a:extLst>
          </p:cNvPr>
          <p:cNvSpPr>
            <a:spLocks noGrp="1"/>
          </p:cNvSpPr>
          <p:nvPr>
            <p:ph type="title"/>
          </p:nvPr>
        </p:nvSpPr>
        <p:spPr/>
        <p:txBody>
          <a:bodyPr/>
          <a:lstStyle/>
          <a:p>
            <a:r>
              <a:rPr lang="en-US" dirty="0"/>
              <a:t>Optimal Choice of Capital by Firm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668911E-8D37-B360-9D90-87832D1A02E2}"/>
                  </a:ext>
                </a:extLst>
              </p:cNvPr>
              <p:cNvSpPr>
                <a:spLocks noGrp="1"/>
              </p:cNvSpPr>
              <p:nvPr>
                <p:ph idx="1"/>
              </p:nvPr>
            </p:nvSpPr>
            <p:spPr>
              <a:xfrm>
                <a:off x="609600" y="1600201"/>
                <a:ext cx="10972800" cy="5029199"/>
              </a:xfrm>
            </p:spPr>
            <p:txBody>
              <a:bodyPr/>
              <a:lstStyle/>
              <a:p>
                <a:r>
                  <a:rPr lang="en-US" dirty="0"/>
                  <a:t>Differentiate profit function with respect to </a:t>
                </a:r>
                <a14:m>
                  <m:oMath xmlns:m="http://schemas.openxmlformats.org/officeDocument/2006/math">
                    <m:r>
                      <a:rPr lang="en-US" b="0" i="1" smtClean="0">
                        <a:latin typeface="Cambria Math" panose="02040503050406030204" pitchFamily="18" charset="0"/>
                      </a:rPr>
                      <m:t>𝐾</m:t>
                    </m:r>
                  </m:oMath>
                </a14:m>
                <a:r>
                  <a:rPr lang="en-US" dirty="0"/>
                  <a:t> </a:t>
                </a:r>
                <a:br>
                  <a:rPr lang="en-US" dirty="0"/>
                </a:br>
                <a:r>
                  <a:rPr lang="en-US" dirty="0"/>
                  <a:t>(holding </a:t>
                </a:r>
                <a14:m>
                  <m:oMath xmlns:m="http://schemas.openxmlformats.org/officeDocument/2006/math">
                    <m:r>
                      <a:rPr lang="en-US" b="0" i="1" smtClean="0">
                        <a:latin typeface="Cambria Math" panose="02040503050406030204" pitchFamily="18" charset="0"/>
                      </a:rPr>
                      <m:t>𝐿</m:t>
                    </m:r>
                  </m:oMath>
                </a14:m>
                <a:r>
                  <a:rPr lang="en-US" dirty="0"/>
                  <a:t> constant)</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𝐾</m:t>
                          </m:r>
                        </m:den>
                      </m:f>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r>
                        <a:rPr lang="en-US" b="0" i="1" smtClean="0">
                          <a:latin typeface="Cambria Math" panose="02040503050406030204" pitchFamily="18" charset="0"/>
                        </a:rPr>
                        <m:t>=</m:t>
                      </m:r>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pPr>
                  <a:lnSpc>
                    <a:spcPct val="125000"/>
                  </a:lnSpc>
                </a:pPr>
                <a:r>
                  <a:rPr lang="en-US" dirty="0"/>
                  <a:t>Set this equal to zero to maximize:</a:t>
                </a:r>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r>
                        <a:rPr lang="en-US" b="0" i="1" smtClean="0">
                          <a:latin typeface="Cambria Math" panose="02040503050406030204" pitchFamily="18" charset="0"/>
                        </a:rPr>
                        <m:t>=0</m:t>
                      </m:r>
                    </m:oMath>
                  </m:oMathPara>
                </a14:m>
                <a:endParaRPr lang="en-US" dirty="0"/>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p:txBody>
          </p:sp>
        </mc:Choice>
        <mc:Fallback xmlns="">
          <p:sp>
            <p:nvSpPr>
              <p:cNvPr id="3" name="Content Placeholder 2">
                <a:extLst>
                  <a:ext uri="{FF2B5EF4-FFF2-40B4-BE49-F238E27FC236}">
                    <a16:creationId xmlns:a16="http://schemas.microsoft.com/office/drawing/2014/main" id="{2668911E-8D37-B360-9D90-87832D1A02E2}"/>
                  </a:ext>
                </a:extLst>
              </p:cNvPr>
              <p:cNvSpPr>
                <a:spLocks noGrp="1" noRot="1" noChangeAspect="1" noMove="1" noResize="1" noEditPoints="1" noAdjustHandles="1" noChangeArrowheads="1" noChangeShapeType="1" noTextEdit="1"/>
              </p:cNvSpPr>
              <p:nvPr>
                <p:ph idx="1"/>
              </p:nvPr>
            </p:nvSpPr>
            <p:spPr>
              <a:xfrm>
                <a:off x="609600" y="1600201"/>
                <a:ext cx="10972800" cy="5029199"/>
              </a:xfrm>
              <a:blipFill>
                <a:blip r:embed="rId2"/>
                <a:stretch>
                  <a:fillRect l="-1278" t="-14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AB68EBF-E166-525A-1AC5-4842DB97E6EF}"/>
              </a:ext>
            </a:extLst>
          </p:cNvPr>
          <p:cNvSpPr>
            <a:spLocks noGrp="1"/>
          </p:cNvSpPr>
          <p:nvPr>
            <p:ph type="sldNum" sz="quarter" idx="12"/>
          </p:nvPr>
        </p:nvSpPr>
        <p:spPr/>
        <p:txBody>
          <a:bodyPr/>
          <a:lstStyle/>
          <a:p>
            <a:fld id="{BB3BE34B-9575-430D-9A41-469C30B8F0EA}" type="slidenum">
              <a:rPr lang="en-US" smtClean="0"/>
              <a:pPr/>
              <a:t>21</a:t>
            </a:fld>
            <a:endParaRPr lang="en-US"/>
          </a:p>
        </p:txBody>
      </p:sp>
    </p:spTree>
    <p:extLst>
      <p:ext uri="{BB962C8B-B14F-4D97-AF65-F5344CB8AC3E}">
        <p14:creationId xmlns:p14="http://schemas.microsoft.com/office/powerpoint/2010/main" val="3145430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36786-F2AB-02A2-2731-BBD6D3FCAFA1}"/>
              </a:ext>
            </a:extLst>
          </p:cNvPr>
          <p:cNvSpPr>
            <a:spLocks noGrp="1"/>
          </p:cNvSpPr>
          <p:nvPr>
            <p:ph type="title"/>
          </p:nvPr>
        </p:nvSpPr>
        <p:spPr/>
        <p:txBody>
          <a:bodyPr/>
          <a:lstStyle/>
          <a:p>
            <a:r>
              <a:rPr lang="en-US" dirty="0"/>
              <a:t>Optimal Choice of Labor by Firm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5EC570-1200-9083-B07A-EB3200A8F792}"/>
                  </a:ext>
                </a:extLst>
              </p:cNvPr>
              <p:cNvSpPr>
                <a:spLocks noGrp="1"/>
              </p:cNvSpPr>
              <p:nvPr>
                <p:ph idx="1"/>
              </p:nvPr>
            </p:nvSpPr>
            <p:spPr/>
            <p:txBody>
              <a:bodyPr/>
              <a:lstStyle/>
              <a:p>
                <a:r>
                  <a:rPr lang="en-US" dirty="0"/>
                  <a:t>Differentiate profit function with respect to </a:t>
                </a:r>
                <a14:m>
                  <m:oMath xmlns:m="http://schemas.openxmlformats.org/officeDocument/2006/math">
                    <m:r>
                      <a:rPr lang="en-US" b="0" i="1" smtClean="0">
                        <a:latin typeface="Cambria Math" panose="02040503050406030204" pitchFamily="18" charset="0"/>
                      </a:rPr>
                      <m:t>𝐿</m:t>
                    </m:r>
                  </m:oMath>
                </a14:m>
                <a:r>
                  <a:rPr lang="en-US" dirty="0"/>
                  <a:t> </a:t>
                </a:r>
                <a:br>
                  <a:rPr lang="en-US" dirty="0"/>
                </a:br>
                <a:r>
                  <a:rPr lang="en-US" dirty="0"/>
                  <a:t>(holding </a:t>
                </a:r>
                <a14:m>
                  <m:oMath xmlns:m="http://schemas.openxmlformats.org/officeDocument/2006/math">
                    <m:r>
                      <a:rPr lang="en-US" b="0" i="1" smtClean="0">
                        <a:latin typeface="Cambria Math" panose="02040503050406030204" pitchFamily="18" charset="0"/>
                      </a:rPr>
                      <m:t>𝐾</m:t>
                    </m:r>
                  </m:oMath>
                </a14:m>
                <a:r>
                  <a:rPr lang="en-US" dirty="0"/>
                  <a:t> constant)</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pPr>
                  <a:lnSpc>
                    <a:spcPct val="125000"/>
                  </a:lnSpc>
                </a:pPr>
                <a:r>
                  <a:rPr lang="en-US" dirty="0"/>
                  <a:t>Set this equal to zero to maximize:</a:t>
                </a:r>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=0</m:t>
                      </m:r>
                    </m:oMath>
                  </m:oMathPara>
                </a14:m>
                <a:endParaRPr lang="en-US" dirty="0"/>
              </a:p>
              <a:p>
                <a:pPr marL="0" indent="0" algn="ctr">
                  <a:lnSpc>
                    <a:spcPct val="125000"/>
                  </a:lnSpc>
                  <a:buNone/>
                </a:pPr>
                <a14:m>
                  <m:oMathPara xmlns:m="http://schemas.openxmlformats.org/officeDocument/2006/math">
                    <m:oMath>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DF5EC570-1200-9083-B07A-EB3200A8F792}"/>
                  </a:ext>
                </a:extLst>
              </p:cNvPr>
              <p:cNvSpPr>
                <a:spLocks noGrp="1" noRot="1" noChangeAspect="1" noMove="1" noResize="1" noEditPoints="1" noAdjustHandles="1" noChangeArrowheads="1" noChangeShapeType="1" noTextEdit="1"/>
              </p:cNvSpPr>
              <p:nvPr>
                <p:ph idx="1"/>
              </p:nvPr>
            </p:nvSpPr>
            <p:spPr>
              <a:blipFill>
                <a:blip r:embed="rId2"/>
                <a:stretch>
                  <a:fillRect l="-1278" t="-16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0CE49E5-D840-48B6-FD01-89B46F2D37FB}"/>
              </a:ext>
            </a:extLst>
          </p:cNvPr>
          <p:cNvSpPr>
            <a:spLocks noGrp="1"/>
          </p:cNvSpPr>
          <p:nvPr>
            <p:ph type="sldNum" sz="quarter" idx="12"/>
          </p:nvPr>
        </p:nvSpPr>
        <p:spPr/>
        <p:txBody>
          <a:bodyPr/>
          <a:lstStyle/>
          <a:p>
            <a:fld id="{BB3BE34B-9575-430D-9A41-469C30B8F0EA}" type="slidenum">
              <a:rPr lang="en-US" smtClean="0"/>
              <a:pPr/>
              <a:t>22</a:t>
            </a:fld>
            <a:endParaRPr lang="en-US"/>
          </a:p>
        </p:txBody>
      </p:sp>
    </p:spTree>
    <p:extLst>
      <p:ext uri="{BB962C8B-B14F-4D97-AF65-F5344CB8AC3E}">
        <p14:creationId xmlns:p14="http://schemas.microsoft.com/office/powerpoint/2010/main" val="3179117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E517A-4112-95B9-C320-59DAC3F93D93}"/>
              </a:ext>
            </a:extLst>
          </p:cNvPr>
          <p:cNvSpPr>
            <a:spLocks noGrp="1"/>
          </p:cNvSpPr>
          <p:nvPr>
            <p:ph type="title"/>
          </p:nvPr>
        </p:nvSpPr>
        <p:spPr/>
        <p:txBody>
          <a:bodyPr/>
          <a:lstStyle/>
          <a:p>
            <a:r>
              <a:rPr lang="en-US" dirty="0"/>
              <a:t>Firm’s Problem: 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90FDB3-906D-75D0-F8C9-472C570E327D}"/>
                  </a:ext>
                </a:extLst>
              </p:cNvPr>
              <p:cNvSpPr>
                <a:spLocks noGrp="1"/>
              </p:cNvSpPr>
              <p:nvPr>
                <p:ph idx="1"/>
              </p:nvPr>
            </p:nvSpPr>
            <p:spPr/>
            <p:txBody>
              <a:bodyPr/>
              <a:lstStyle/>
              <a:p>
                <a:pPr>
                  <a:lnSpc>
                    <a:spcPct val="125000"/>
                  </a:lnSpc>
                </a:pPr>
                <a:r>
                  <a:rPr lang="en-US" dirty="0"/>
                  <a:t>Firm maximizes profits if:</a:t>
                </a:r>
              </a:p>
              <a:p>
                <a:pPr marL="0" indent="0" algn="ctr">
                  <a:lnSpc>
                    <a:spcPct val="125000"/>
                  </a:lnSpc>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pPr marL="0" indent="0" algn="ctr">
                  <a:lnSpc>
                    <a:spcPct val="125000"/>
                  </a:lnSpc>
                  <a:buNone/>
                </a:pPr>
                <a14:m>
                  <m:oMathPara xmlns:m="http://schemas.openxmlformats.org/officeDocument/2006/math">
                    <m:oMath>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pPr>
                  <a:lnSpc>
                    <a:spcPct val="125000"/>
                  </a:lnSpc>
                </a:pPr>
                <a:r>
                  <a:rPr lang="en-US" dirty="0"/>
                  <a:t>Seems a bit inscrutable?</a:t>
                </a:r>
              </a:p>
              <a:p>
                <a:pPr>
                  <a:lnSpc>
                    <a:spcPct val="125000"/>
                  </a:lnSpc>
                </a:pPr>
                <a:r>
                  <a:rPr lang="en-US" dirty="0"/>
                  <a:t>How can we interpret these conditions?</a:t>
                </a:r>
              </a:p>
              <a:p>
                <a:endParaRPr lang="en-US" dirty="0"/>
              </a:p>
            </p:txBody>
          </p:sp>
        </mc:Choice>
        <mc:Fallback xmlns="">
          <p:sp>
            <p:nvSpPr>
              <p:cNvPr id="3" name="Content Placeholder 2">
                <a:extLst>
                  <a:ext uri="{FF2B5EF4-FFF2-40B4-BE49-F238E27FC236}">
                    <a16:creationId xmlns:a16="http://schemas.microsoft.com/office/drawing/2014/main" id="{F990FDB3-906D-75D0-F8C9-472C570E327D}"/>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F3EDF6-8207-24E9-4AD0-297AEED6CC2D}"/>
              </a:ext>
            </a:extLst>
          </p:cNvPr>
          <p:cNvSpPr>
            <a:spLocks noGrp="1"/>
          </p:cNvSpPr>
          <p:nvPr>
            <p:ph type="sldNum" sz="quarter" idx="12"/>
          </p:nvPr>
        </p:nvSpPr>
        <p:spPr/>
        <p:txBody>
          <a:bodyPr/>
          <a:lstStyle/>
          <a:p>
            <a:fld id="{BB3BE34B-9575-430D-9A41-469C30B8F0EA}" type="slidenum">
              <a:rPr lang="en-US" smtClean="0"/>
              <a:pPr/>
              <a:t>23</a:t>
            </a:fld>
            <a:endParaRPr lang="en-US"/>
          </a:p>
        </p:txBody>
      </p:sp>
    </p:spTree>
    <p:extLst>
      <p:ext uri="{BB962C8B-B14F-4D97-AF65-F5344CB8AC3E}">
        <p14:creationId xmlns:p14="http://schemas.microsoft.com/office/powerpoint/2010/main" val="2835257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031EB-F893-8633-679A-AC01ACEFC952}"/>
              </a:ext>
            </a:extLst>
          </p:cNvPr>
          <p:cNvSpPr>
            <a:spLocks noGrp="1"/>
          </p:cNvSpPr>
          <p:nvPr>
            <p:ph type="title"/>
          </p:nvPr>
        </p:nvSpPr>
        <p:spPr/>
        <p:txBody>
          <a:bodyPr/>
          <a:lstStyle/>
          <a:p>
            <a:r>
              <a:rPr lang="is-IS" dirty="0"/>
              <a:t>Firm</a:t>
            </a:r>
            <a:r>
              <a:rPr lang="en-US" dirty="0"/>
              <a:t>’s Optimal Choice of Capital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4A5129-FCE0-598F-EA10-D43857B033E4}"/>
                  </a:ext>
                </a:extLst>
              </p:cNvPr>
              <p:cNvSpPr>
                <a:spLocks noGrp="1"/>
              </p:cNvSpPr>
              <p:nvPr>
                <p:ph idx="1"/>
              </p:nvPr>
            </p:nvSpPr>
            <p:spPr>
              <a:xfrm>
                <a:off x="609600" y="1600201"/>
                <a:ext cx="10972800" cy="4983161"/>
              </a:xfrm>
            </p:spPr>
            <p:txBody>
              <a:bodyPr/>
              <a:lstStyle/>
              <a:p>
                <a:pPr marL="0" indent="0">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r>
                  <a:rPr lang="en-US" dirty="0"/>
                  <a:t>RHS: Price of capital</a:t>
                </a:r>
              </a:p>
              <a:p>
                <a:r>
                  <a:rPr lang="en-US" dirty="0"/>
                  <a:t>LHS:</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𝐾</m:t>
                          </m:r>
                        </m:den>
                      </m:f>
                      <m:r>
                        <a:rPr lang="en-US" b="0" i="1" smtClean="0">
                          <a:latin typeface="Cambria Math" panose="02040503050406030204" pitchFamily="18" charset="0"/>
                        </a:rPr>
                        <m:t>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𝐾</m:t>
                          </m:r>
                        </m:den>
                      </m:f>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oMath>
                  </m:oMathPara>
                </a14:m>
                <a:endParaRPr lang="en-US" dirty="0"/>
              </a:p>
              <a:p>
                <a:r>
                  <a:rPr lang="en-US" dirty="0"/>
                  <a:t>LHS: Marginal product of capital</a:t>
                </a:r>
              </a:p>
              <a:p>
                <a:r>
                  <a:rPr lang="en-US" dirty="0"/>
                  <a:t>Optimal for firms to rent capital to the point where the marginal product of capital is equal to price of capital</a:t>
                </a:r>
              </a:p>
            </p:txBody>
          </p:sp>
        </mc:Choice>
        <mc:Fallback xmlns="">
          <p:sp>
            <p:nvSpPr>
              <p:cNvPr id="3" name="Content Placeholder 2">
                <a:extLst>
                  <a:ext uri="{FF2B5EF4-FFF2-40B4-BE49-F238E27FC236}">
                    <a16:creationId xmlns:a16="http://schemas.microsoft.com/office/drawing/2014/main" id="{F34A5129-FCE0-598F-EA10-D43857B033E4}"/>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21F0E89-6083-3732-1AFE-FE74164ED5A2}"/>
              </a:ext>
            </a:extLst>
          </p:cNvPr>
          <p:cNvSpPr>
            <a:spLocks noGrp="1"/>
          </p:cNvSpPr>
          <p:nvPr>
            <p:ph type="sldNum" sz="quarter" idx="12"/>
          </p:nvPr>
        </p:nvSpPr>
        <p:spPr/>
        <p:txBody>
          <a:bodyPr/>
          <a:lstStyle/>
          <a:p>
            <a:fld id="{BB3BE34B-9575-430D-9A41-469C30B8F0EA}" type="slidenum">
              <a:rPr lang="en-US" smtClean="0"/>
              <a:pPr/>
              <a:t>24</a:t>
            </a:fld>
            <a:endParaRPr lang="en-US"/>
          </a:p>
        </p:txBody>
      </p:sp>
    </p:spTree>
    <p:extLst>
      <p:ext uri="{BB962C8B-B14F-4D97-AF65-F5344CB8AC3E}">
        <p14:creationId xmlns:p14="http://schemas.microsoft.com/office/powerpoint/2010/main" val="4572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EC73-AE60-0B9B-BFE4-C527B6AEB289}"/>
              </a:ext>
            </a:extLst>
          </p:cNvPr>
          <p:cNvSpPr>
            <a:spLocks noGrp="1"/>
          </p:cNvSpPr>
          <p:nvPr>
            <p:ph type="title"/>
          </p:nvPr>
        </p:nvSpPr>
        <p:spPr/>
        <p:txBody>
          <a:bodyPr/>
          <a:lstStyle/>
          <a:p>
            <a:r>
              <a:rPr lang="en-US" dirty="0"/>
              <a:t>Firm’s Optimal Choice of Labor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96793A-649B-1588-D3E0-FA06F248746A}"/>
                  </a:ext>
                </a:extLst>
              </p:cNvPr>
              <p:cNvSpPr>
                <a:spLocks noGrp="1"/>
              </p:cNvSpPr>
              <p:nvPr>
                <p:ph idx="1"/>
              </p:nvPr>
            </p:nvSpPr>
            <p:spPr/>
            <p:txBody>
              <a:bodyPr/>
              <a:lstStyle/>
              <a:p>
                <a:pPr marL="0" indent="0">
                  <a:buNone/>
                </a:pPr>
                <a14:m>
                  <m:oMathPara xmlns:m="http://schemas.openxmlformats.org/officeDocument/2006/math">
                    <m:oMath>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r>
                  <a:rPr lang="en-US" dirty="0"/>
                  <a:t>RHS: price of labor (wage)</a:t>
                </a:r>
              </a:p>
              <a:p>
                <a:r>
                  <a:rPr lang="en-US" dirty="0"/>
                  <a:t>LHS</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b="0" i="1" smtClean="0">
                          <a:latin typeface="Cambria Math" panose="02040503050406030204" pitchFamily="18" charset="0"/>
                        </a:rPr>
                        <m:t>𝑌</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num>
                        <m:den>
                          <m:r>
                            <a:rPr lang="en-US" b="0" i="1" smtClean="0">
                              <a:latin typeface="Cambria Math" panose="02040503050406030204" pitchFamily="18" charset="0"/>
                            </a:rPr>
                            <m:t>𝜕</m:t>
                          </m:r>
                          <m:r>
                            <a:rPr lang="en-US" b="0" i="1" smtClean="0">
                              <a:latin typeface="Cambria Math" panose="02040503050406030204" pitchFamily="18" charset="0"/>
                            </a:rPr>
                            <m:t>𝐿</m:t>
                          </m:r>
                        </m:den>
                      </m:f>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oMath>
                  </m:oMathPara>
                </a14:m>
                <a:endParaRPr lang="en-US" dirty="0"/>
              </a:p>
              <a:p>
                <a:r>
                  <a:rPr lang="en-US" dirty="0"/>
                  <a:t>LHS: Marginal product of labor</a:t>
                </a:r>
              </a:p>
              <a:p>
                <a:r>
                  <a:rPr lang="en-US" dirty="0"/>
                  <a:t>Optimal for firms to hire labor to the point where the marginal product of labor is equal to price of labor (the wage)</a:t>
                </a:r>
              </a:p>
              <a:p>
                <a:endParaRPr lang="en-US" dirty="0"/>
              </a:p>
            </p:txBody>
          </p:sp>
        </mc:Choice>
        <mc:Fallback xmlns="">
          <p:sp>
            <p:nvSpPr>
              <p:cNvPr id="3" name="Content Placeholder 2">
                <a:extLst>
                  <a:ext uri="{FF2B5EF4-FFF2-40B4-BE49-F238E27FC236}">
                    <a16:creationId xmlns:a16="http://schemas.microsoft.com/office/drawing/2014/main" id="{2396793A-649B-1588-D3E0-FA06F248746A}"/>
                  </a:ext>
                </a:extLst>
              </p:cNvPr>
              <p:cNvSpPr>
                <a:spLocks noGrp="1" noRot="1" noChangeAspect="1" noMove="1" noResize="1" noEditPoints="1" noAdjustHandles="1" noChangeArrowheads="1" noChangeShapeType="1" noTextEdit="1"/>
              </p:cNvSpPr>
              <p:nvPr>
                <p:ph idx="1"/>
              </p:nvPr>
            </p:nvSpPr>
            <p:spPr>
              <a:blipFill>
                <a:blip r:embed="rId2"/>
                <a:stretch>
                  <a:fillRect l="-1278" r="-1000" b="-27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F06DEEA-2180-9ED2-A41A-F0C1CBBF7F90}"/>
              </a:ext>
            </a:extLst>
          </p:cNvPr>
          <p:cNvSpPr>
            <a:spLocks noGrp="1"/>
          </p:cNvSpPr>
          <p:nvPr>
            <p:ph type="sldNum" sz="quarter" idx="12"/>
          </p:nvPr>
        </p:nvSpPr>
        <p:spPr/>
        <p:txBody>
          <a:bodyPr/>
          <a:lstStyle/>
          <a:p>
            <a:fld id="{BB3BE34B-9575-430D-9A41-469C30B8F0EA}" type="slidenum">
              <a:rPr lang="en-US" smtClean="0"/>
              <a:pPr/>
              <a:t>25</a:t>
            </a:fld>
            <a:endParaRPr lang="en-US"/>
          </a:p>
        </p:txBody>
      </p:sp>
    </p:spTree>
    <p:extLst>
      <p:ext uri="{BB962C8B-B14F-4D97-AF65-F5344CB8AC3E}">
        <p14:creationId xmlns:p14="http://schemas.microsoft.com/office/powerpoint/2010/main" val="1676702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87737-2F96-2DB7-A04B-D9113C45A311}"/>
              </a:ext>
            </a:extLst>
          </p:cNvPr>
          <p:cNvSpPr>
            <a:spLocks noGrp="1"/>
          </p:cNvSpPr>
          <p:nvPr>
            <p:ph type="title"/>
          </p:nvPr>
        </p:nvSpPr>
        <p:spPr/>
        <p:txBody>
          <a:bodyPr/>
          <a:lstStyle/>
          <a:p>
            <a:r>
              <a:rPr lang="en-US" dirty="0"/>
              <a:t>Firm’s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40B4AF-B35E-CD17-3BE8-6BA471EC6B83}"/>
                  </a:ext>
                </a:extLst>
              </p:cNvPr>
              <p:cNvSpPr>
                <a:spLocks noGrp="1"/>
              </p:cNvSpPr>
              <p:nvPr>
                <p:ph idx="1"/>
              </p:nvPr>
            </p:nvSpPr>
            <p:spPr/>
            <p:txBody>
              <a:bodyPr/>
              <a:lstStyle/>
              <a:p>
                <a:pPr>
                  <a:lnSpc>
                    <a:spcPts val="5000"/>
                  </a:lnSpc>
                  <a:spcBef>
                    <a:spcPts val="600"/>
                  </a:spcBef>
                </a:pPr>
                <a:r>
                  <a:rPr lang="en-US" dirty="0"/>
                  <a:t>Maximize profits:</a:t>
                </a:r>
              </a:p>
              <a:p>
                <a:pPr marL="0" indent="0">
                  <a:lnSpc>
                    <a:spcPts val="5000"/>
                  </a:lnSpc>
                  <a:spcBef>
                    <a:spcPts val="600"/>
                  </a:spcBef>
                  <a:buNone/>
                </a:pPr>
                <a14:m>
                  <m:oMathPara xmlns:m="http://schemas.openxmlformats.org/officeDocument/2006/math">
                    <m:oMath>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𝐿</m:t>
                              </m:r>
                            </m:lim>
                          </m:limLow>
                        </m:fName>
                        <m:e>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𝑟𝐾</m:t>
                          </m:r>
                          <m:r>
                            <a:rPr lang="en-US" i="1">
                              <a:latin typeface="Cambria Math" panose="02040503050406030204" pitchFamily="18" charset="0"/>
                            </a:rPr>
                            <m:t>−</m:t>
                          </m:r>
                          <m:r>
                            <a:rPr lang="en-US" i="1">
                              <a:latin typeface="Cambria Math" panose="02040503050406030204" pitchFamily="18" charset="0"/>
                            </a:rPr>
                            <m:t>𝑤𝐿</m:t>
                          </m:r>
                        </m:e>
                      </m:func>
                    </m:oMath>
                  </m:oMathPara>
                </a14:m>
                <a:endParaRPr lang="en-US" dirty="0"/>
              </a:p>
              <a:p>
                <a:pPr>
                  <a:lnSpc>
                    <a:spcPts val="5000"/>
                  </a:lnSpc>
                  <a:spcBef>
                    <a:spcPts val="600"/>
                  </a:spcBef>
                </a:pPr>
                <a:r>
                  <a:rPr lang="en-US" dirty="0"/>
                  <a:t>Optimal choice of capital implies:</a:t>
                </a:r>
              </a:p>
              <a:p>
                <a:pPr marL="0" indent="0">
                  <a:lnSpc>
                    <a:spcPts val="5600"/>
                  </a:lnSpc>
                  <a:spcBef>
                    <a:spcPts val="600"/>
                  </a:spcBef>
                  <a:buNone/>
                </a:pPr>
                <a14:m>
                  <m:oMathPara xmlns:m="http://schemas.openxmlformats.org/officeDocument/2006/math">
                    <m:oMath>
                      <m:r>
                        <a:rPr lang="en-US" i="1">
                          <a:latin typeface="Cambria Math" panose="02040503050406030204" pitchFamily="18" charset="0"/>
                        </a:rPr>
                        <m:t>𝑎</m:t>
                      </m:r>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m:t>
                      </m:r>
                    </m:oMath>
                  </m:oMathPara>
                </a14:m>
                <a:endParaRPr lang="en-US" dirty="0"/>
              </a:p>
              <a:p>
                <a:pPr>
                  <a:lnSpc>
                    <a:spcPts val="5000"/>
                  </a:lnSpc>
                  <a:spcBef>
                    <a:spcPts val="600"/>
                  </a:spcBef>
                </a:pPr>
                <a:r>
                  <a:rPr lang="en-US" dirty="0"/>
                  <a:t>Optimal choice of labor implies:</a:t>
                </a:r>
              </a:p>
              <a:p>
                <a:pPr marL="0" indent="0">
                  <a:lnSpc>
                    <a:spcPts val="5000"/>
                  </a:lnSpc>
                  <a:spcBef>
                    <a:spcPts val="600"/>
                  </a:spcBef>
                  <a:buNone/>
                </a:pPr>
                <a14:m>
                  <m:oMathPara xmlns:m="http://schemas.openxmlformats.org/officeDocument/2006/math">
                    <m:o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𝑤</m:t>
                      </m:r>
                    </m:oMath>
                  </m:oMathPara>
                </a14:m>
                <a:endParaRPr lang="en-US" dirty="0"/>
              </a:p>
              <a:p>
                <a:endParaRPr lang="en-US" dirty="0"/>
              </a:p>
            </p:txBody>
          </p:sp>
        </mc:Choice>
        <mc:Fallback xmlns="">
          <p:sp>
            <p:nvSpPr>
              <p:cNvPr id="3" name="Content Placeholder 2">
                <a:extLst>
                  <a:ext uri="{FF2B5EF4-FFF2-40B4-BE49-F238E27FC236}">
                    <a16:creationId xmlns:a16="http://schemas.microsoft.com/office/drawing/2014/main" id="{7340B4AF-B35E-CD17-3BE8-6BA471EC6B83}"/>
                  </a:ext>
                </a:extLst>
              </p:cNvPr>
              <p:cNvSpPr>
                <a:spLocks noGrp="1" noRot="1" noChangeAspect="1" noMove="1" noResize="1" noEditPoints="1" noAdjustHandles="1" noChangeArrowheads="1" noChangeShapeType="1" noTextEdit="1"/>
              </p:cNvSpPr>
              <p:nvPr>
                <p:ph idx="1"/>
              </p:nvPr>
            </p:nvSpPr>
            <p:spPr>
              <a:blipFill>
                <a:blip r:embed="rId2"/>
                <a:stretch>
                  <a:fillRect l="-127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262CC467-5102-9333-B695-918603AD0698}"/>
              </a:ext>
            </a:extLst>
          </p:cNvPr>
          <p:cNvSpPr>
            <a:spLocks noGrp="1"/>
          </p:cNvSpPr>
          <p:nvPr>
            <p:ph type="sldNum" sz="quarter" idx="12"/>
          </p:nvPr>
        </p:nvSpPr>
        <p:spPr/>
        <p:txBody>
          <a:bodyPr/>
          <a:lstStyle/>
          <a:p>
            <a:fld id="{BB3BE34B-9575-430D-9A41-469C30B8F0EA}" type="slidenum">
              <a:rPr lang="en-US" smtClean="0"/>
              <a:pPr/>
              <a:t>26</a:t>
            </a:fld>
            <a:endParaRPr lang="en-US"/>
          </a:p>
        </p:txBody>
      </p:sp>
    </p:spTree>
    <p:extLst>
      <p:ext uri="{BB962C8B-B14F-4D97-AF65-F5344CB8AC3E}">
        <p14:creationId xmlns:p14="http://schemas.microsoft.com/office/powerpoint/2010/main" val="705476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Math vs. Economics</a:t>
            </a:r>
          </a:p>
        </p:txBody>
      </p:sp>
      <p:sp>
        <p:nvSpPr>
          <p:cNvPr id="7" name="Content Placeholder 6"/>
          <p:cNvSpPr>
            <a:spLocks noGrp="1"/>
          </p:cNvSpPr>
          <p:nvPr>
            <p:ph idx="1"/>
          </p:nvPr>
        </p:nvSpPr>
        <p:spPr>
          <a:xfrm>
            <a:off x="609600" y="1600200"/>
            <a:ext cx="10820400" cy="4724400"/>
          </a:xfrm>
        </p:spPr>
        <p:txBody>
          <a:bodyPr>
            <a:normAutofit/>
          </a:bodyPr>
          <a:lstStyle/>
          <a:p>
            <a:pPr>
              <a:lnSpc>
                <a:spcPct val="120000"/>
              </a:lnSpc>
            </a:pPr>
            <a:r>
              <a:rPr lang="en-US" dirty="0"/>
              <a:t>We can derive optimal behavior by firms in two ways:</a:t>
            </a:r>
          </a:p>
          <a:p>
            <a:pPr lvl="1">
              <a:lnSpc>
                <a:spcPct val="120000"/>
              </a:lnSpc>
            </a:pPr>
            <a:r>
              <a:rPr lang="en-US" dirty="0"/>
              <a:t>Mathematically</a:t>
            </a:r>
          </a:p>
          <a:p>
            <a:pPr lvl="2">
              <a:lnSpc>
                <a:spcPct val="120000"/>
              </a:lnSpc>
            </a:pPr>
            <a:r>
              <a:rPr lang="en-US" dirty="0"/>
              <a:t>Differentiate profits with respect to capital holding labor fixed</a:t>
            </a:r>
          </a:p>
          <a:p>
            <a:pPr lvl="2">
              <a:lnSpc>
                <a:spcPct val="120000"/>
              </a:lnSpc>
            </a:pPr>
            <a:r>
              <a:rPr lang="en-US" dirty="0"/>
              <a:t>Differentiate profits with respect to labor holding capital fixed</a:t>
            </a:r>
          </a:p>
          <a:p>
            <a:pPr lvl="1">
              <a:lnSpc>
                <a:spcPct val="120000"/>
              </a:lnSpc>
            </a:pPr>
            <a:r>
              <a:rPr lang="en-US" dirty="0"/>
              <a:t>By economic reasoning:</a:t>
            </a:r>
          </a:p>
          <a:p>
            <a:pPr lvl="2">
              <a:lnSpc>
                <a:spcPct val="120000"/>
              </a:lnSpc>
            </a:pPr>
            <a:r>
              <a:rPr lang="en-US" dirty="0"/>
              <a:t>Firm sets MPK equal to price of capital</a:t>
            </a:r>
          </a:p>
          <a:p>
            <a:pPr lvl="2">
              <a:lnSpc>
                <a:spcPct val="120000"/>
              </a:lnSpc>
            </a:pPr>
            <a:r>
              <a:rPr lang="en-US" dirty="0"/>
              <a:t>Firm sets MPL equal to price of labor</a:t>
            </a:r>
          </a:p>
        </p:txBody>
      </p:sp>
      <p:sp>
        <p:nvSpPr>
          <p:cNvPr id="5" name="Slide Number Placeholder 4"/>
          <p:cNvSpPr>
            <a:spLocks noGrp="1"/>
          </p:cNvSpPr>
          <p:nvPr>
            <p:ph type="sldNum" sz="quarter" idx="12"/>
          </p:nvPr>
        </p:nvSpPr>
        <p:spPr/>
        <p:txBody>
          <a:bodyPr/>
          <a:lstStyle/>
          <a:p>
            <a:fld id="{BB3BE34B-9575-430D-9A41-469C30B8F0EA}" type="slidenum">
              <a:rPr lang="en-US" smtClean="0"/>
              <a:pPr/>
              <a:t>27</a:t>
            </a:fld>
            <a:endParaRPr lang="en-US"/>
          </a:p>
        </p:txBody>
      </p:sp>
    </p:spTree>
    <p:extLst>
      <p:ext uri="{BB962C8B-B14F-4D97-AF65-F5344CB8AC3E}">
        <p14:creationId xmlns:p14="http://schemas.microsoft.com/office/powerpoint/2010/main" val="2807284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Firm Behavior</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482601" y="1417638"/>
                <a:ext cx="5943600" cy="5029200"/>
              </a:xfrm>
            </p:spPr>
            <p:txBody>
              <a:bodyPr>
                <a:normAutofit lnSpcReduction="10000"/>
              </a:bodyPr>
              <a:lstStyle/>
              <a:p>
                <a:r>
                  <a:rPr lang="en-US" dirty="0"/>
                  <a:t>Optimal choice of capital yields:</a:t>
                </a:r>
              </a:p>
              <a:p>
                <a:pPr marL="0" indent="0">
                  <a:buNone/>
                </a:pPr>
                <a14:m>
                  <m:oMathPara xmlns:m="http://schemas.openxmlformats.org/officeDocument/2006/math">
                    <m:oMath>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𝑟</m:t>
                      </m:r>
                    </m:oMath>
                  </m:oMathPara>
                </a14:m>
                <a:endParaRPr lang="en-US" dirty="0"/>
              </a:p>
              <a:p>
                <a:r>
                  <a:rPr lang="is-IS" dirty="0"/>
                  <a:t>This equation can be represented graphically by a </a:t>
                </a:r>
                <a:r>
                  <a:rPr lang="en-US" dirty="0"/>
                  <a:t>“curve” in (</a:t>
                </a:r>
                <a:r>
                  <a:rPr lang="en-US" dirty="0" err="1"/>
                  <a:t>K,r</a:t>
                </a:r>
                <a:r>
                  <a:rPr lang="en-US" dirty="0"/>
                  <a:t>) space</a:t>
                </a:r>
              </a:p>
              <a:p>
                <a:r>
                  <a:rPr lang="en-US" dirty="0"/>
                  <a:t>The curve is all the points in (</a:t>
                </a:r>
                <a:r>
                  <a:rPr lang="en-US" dirty="0" err="1"/>
                  <a:t>K,r</a:t>
                </a:r>
                <a:r>
                  <a:rPr lang="en-US" dirty="0"/>
                  <a:t>) space that satisfy the equation </a:t>
                </a:r>
                <a:br>
                  <a:rPr lang="en-US" dirty="0"/>
                </a:br>
                <a:r>
                  <a:rPr lang="en-US" dirty="0"/>
                  <a:t>(for some set values of other variables, i.e., </a:t>
                </a:r>
                <a14:m>
                  <m:oMath xmlns:m="http://schemas.openxmlformats.org/officeDocument/2006/math">
                    <m:r>
                      <a:rPr lang="en-US" b="0" i="1" smtClean="0">
                        <a:latin typeface="Cambria Math" panose="02040503050406030204" pitchFamily="18" charset="0"/>
                      </a:rPr>
                      <m:t>𝐿</m:t>
                    </m:r>
                  </m:oMath>
                </a14:m>
                <a:r>
                  <a:rPr lang="en-US" dirty="0"/>
                  <a:t>, </a:t>
                </a:r>
                <a14:m>
                  <m:oMath xmlns:m="http://schemas.openxmlformats.org/officeDocument/2006/math">
                    <m:r>
                      <a:rPr lang="en-US" b="0" i="1" smtClean="0">
                        <a:latin typeface="Cambria Math" panose="02040503050406030204" pitchFamily="18" charset="0"/>
                      </a:rPr>
                      <m:t>𝐴</m:t>
                    </m:r>
                  </m:oMath>
                </a14:m>
                <a:r>
                  <a:rPr lang="en-US" dirty="0"/>
                  <a:t>, </a:t>
                </a:r>
                <a14:m>
                  <m:oMath xmlns:m="http://schemas.openxmlformats.org/officeDocument/2006/math">
                    <m:r>
                      <a:rPr lang="en-US" b="0" i="1" smtClean="0">
                        <a:latin typeface="Cambria Math" panose="02040503050406030204" pitchFamily="18" charset="0"/>
                      </a:rPr>
                      <m:t>𝑎</m:t>
                    </m:r>
                  </m:oMath>
                </a14:m>
                <a:r>
                  <a:rPr lang="en-US" dirty="0"/>
                  <a:t>)</a:t>
                </a:r>
              </a:p>
              <a:p>
                <a:r>
                  <a:rPr lang="en-US" dirty="0"/>
                  <a:t>Why is this curve downward sloping?</a:t>
                </a:r>
              </a:p>
              <a:p>
                <a:r>
                  <a:rPr lang="en-US" dirty="0"/>
                  <a:t>Does this “curve” have a name?</a:t>
                </a:r>
              </a:p>
              <a:p>
                <a:pPr lvl="1"/>
                <a:r>
                  <a:rPr lang="en-US" dirty="0"/>
                  <a:t>Demand curve in capital market</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482601" y="1417638"/>
                <a:ext cx="5943600" cy="5029200"/>
              </a:xfrm>
              <a:blipFill>
                <a:blip r:embed="rId3"/>
                <a:stretch>
                  <a:fillRect l="-1846" t="-2061" r="-718"/>
                </a:stretch>
              </a:blipFill>
            </p:spPr>
            <p:txBody>
              <a:bodyPr/>
              <a:lstStyle/>
              <a:p>
                <a:r>
                  <a:rPr lang="en-US">
                    <a:noFill/>
                  </a:rPr>
                  <a:t> </a:t>
                </a:r>
              </a:p>
            </p:txBody>
          </p:sp>
        </mc:Fallback>
      </mc:AlternateContent>
      <p:grpSp>
        <p:nvGrpSpPr>
          <p:cNvPr id="28" name="Group 27"/>
          <p:cNvGrpSpPr/>
          <p:nvPr/>
        </p:nvGrpSpPr>
        <p:grpSpPr>
          <a:xfrm>
            <a:off x="6629400" y="1828800"/>
            <a:ext cx="4114800" cy="4267200"/>
            <a:chOff x="5257800" y="1295400"/>
            <a:chExt cx="2971892" cy="2655332"/>
          </a:xfrm>
        </p:grpSpPr>
        <p:cxnSp>
          <p:nvCxnSpPr>
            <p:cNvPr id="8" name="Straight Arrow Connector 7"/>
            <p:cNvCxnSpPr/>
            <p:nvPr/>
          </p:nvCxnSpPr>
          <p:spPr>
            <a:xfrm rot="5400000" flipH="1" flipV="1">
              <a:off x="4534694" y="2552700"/>
              <a:ext cx="2056606" cy="79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5562600" y="3581400"/>
              <a:ext cx="23622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943600" y="1676400"/>
              <a:ext cx="1752600" cy="16002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7924800" y="3581400"/>
              <a:ext cx="304892" cy="369332"/>
            </a:xfrm>
            <a:prstGeom prst="rect">
              <a:avLst/>
            </a:prstGeom>
            <a:noFill/>
          </p:spPr>
          <p:txBody>
            <a:bodyPr wrap="none" rtlCol="0">
              <a:spAutoFit/>
            </a:bodyPr>
            <a:lstStyle/>
            <a:p>
              <a:r>
                <a:rPr lang="en-US" dirty="0"/>
                <a:t>K</a:t>
              </a:r>
            </a:p>
          </p:txBody>
        </p:sp>
        <p:sp>
          <p:nvSpPr>
            <p:cNvPr id="21" name="TextBox 20"/>
            <p:cNvSpPr txBox="1"/>
            <p:nvPr/>
          </p:nvSpPr>
          <p:spPr>
            <a:xfrm>
              <a:off x="5257800" y="1295400"/>
              <a:ext cx="264816" cy="369332"/>
            </a:xfrm>
            <a:prstGeom prst="rect">
              <a:avLst/>
            </a:prstGeom>
            <a:noFill/>
          </p:spPr>
          <p:txBody>
            <a:bodyPr wrap="none" rtlCol="0">
              <a:spAutoFit/>
            </a:bodyPr>
            <a:lstStyle/>
            <a:p>
              <a:r>
                <a:rPr lang="en-US" dirty="0"/>
                <a:t>r</a:t>
              </a:r>
            </a:p>
          </p:txBody>
        </p:sp>
      </p:grpSp>
      <p:sp>
        <p:nvSpPr>
          <p:cNvPr id="27" name="Slide Number Placeholder 26"/>
          <p:cNvSpPr>
            <a:spLocks noGrp="1"/>
          </p:cNvSpPr>
          <p:nvPr>
            <p:ph type="sldNum" sz="quarter" idx="12"/>
          </p:nvPr>
        </p:nvSpPr>
        <p:spPr/>
        <p:txBody>
          <a:bodyPr/>
          <a:lstStyle/>
          <a:p>
            <a:fld id="{BB3BE34B-9575-430D-9A41-469C30B8F0EA}" type="slidenum">
              <a:rPr lang="en-US" smtClean="0"/>
              <a:pPr/>
              <a:t>28</a:t>
            </a:fld>
            <a:endParaRPr lang="en-US" dirty="0"/>
          </a:p>
        </p:txBody>
      </p:sp>
    </p:spTree>
    <p:extLst>
      <p:ext uri="{BB962C8B-B14F-4D97-AF65-F5344CB8AC3E}">
        <p14:creationId xmlns:p14="http://schemas.microsoft.com/office/powerpoint/2010/main" val="913116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Firm Behavior</a:t>
            </a:r>
          </a:p>
        </p:txBody>
      </p:sp>
      <mc:AlternateContent xmlns:mc="http://schemas.openxmlformats.org/markup-compatibility/2006" xmlns:a14="http://schemas.microsoft.com/office/drawing/2010/main">
        <mc:Choice Requires="a14">
          <p:sp>
            <p:nvSpPr>
              <p:cNvPr id="3" name="Content Placeholder 2"/>
              <p:cNvSpPr>
                <a:spLocks noGrp="1"/>
              </p:cNvSpPr>
              <p:nvPr>
                <p:ph sz="half" idx="1"/>
              </p:nvPr>
            </p:nvSpPr>
            <p:spPr>
              <a:xfrm>
                <a:off x="522225" y="1554162"/>
                <a:ext cx="6270750" cy="5029200"/>
              </a:xfrm>
            </p:spPr>
            <p:txBody>
              <a:bodyPr>
                <a:normAutofit/>
              </a:bodyPr>
              <a:lstStyle/>
              <a:p>
                <a:r>
                  <a:rPr lang="en-US" dirty="0"/>
                  <a:t>Optimal choice of labor yields:</a:t>
                </a:r>
              </a:p>
              <a:p>
                <a:pPr marL="0" indent="0">
                  <a:buNone/>
                </a:pPr>
                <a14:m>
                  <m:oMathPara xmlns:m="http://schemas.openxmlformats.org/officeDocument/2006/math">
                    <m:oMath>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𝑤</m:t>
                      </m:r>
                    </m:oMath>
                  </m:oMathPara>
                </a14:m>
                <a:endParaRPr lang="en-US" dirty="0"/>
              </a:p>
              <a:p>
                <a:r>
                  <a:rPr lang="en-US" dirty="0"/>
                  <a:t>This equation can also be represented graphically by a “curve” in (</a:t>
                </a:r>
                <a:r>
                  <a:rPr lang="en-US" dirty="0" err="1"/>
                  <a:t>L,w</a:t>
                </a:r>
                <a:r>
                  <a:rPr lang="en-US" dirty="0"/>
                  <a:t>) space</a:t>
                </a:r>
              </a:p>
              <a:p>
                <a:r>
                  <a:rPr lang="en-US" dirty="0"/>
                  <a:t>Curve is all the points in (</a:t>
                </a:r>
                <a:r>
                  <a:rPr lang="en-US" dirty="0" err="1"/>
                  <a:t>L,w</a:t>
                </a:r>
                <a:r>
                  <a:rPr lang="en-US" dirty="0"/>
                  <a:t>) space that satisfy the equation </a:t>
                </a:r>
                <a:br>
                  <a:rPr lang="en-US" dirty="0"/>
                </a:br>
                <a:r>
                  <a:rPr lang="en-US" dirty="0"/>
                  <a:t>(for some set values of other variables)</a:t>
                </a:r>
              </a:p>
              <a:p>
                <a:r>
                  <a:rPr lang="en-US" dirty="0"/>
                  <a:t>Does this “curve” have a name?</a:t>
                </a:r>
              </a:p>
              <a:p>
                <a:pPr lvl="1"/>
                <a:r>
                  <a:rPr lang="en-US" dirty="0"/>
                  <a:t>Demand curve in labor market</a:t>
                </a:r>
              </a:p>
            </p:txBody>
          </p:sp>
        </mc:Choice>
        <mc:Fallback xmlns="">
          <p:sp>
            <p:nvSpPr>
              <p:cNvPr id="3" name="Content Placeholder 2"/>
              <p:cNvSpPr>
                <a:spLocks noGrp="1" noRot="1" noChangeAspect="1" noMove="1" noResize="1" noEditPoints="1" noAdjustHandles="1" noChangeArrowheads="1" noChangeShapeType="1" noTextEdit="1"/>
              </p:cNvSpPr>
              <p:nvPr>
                <p:ph sz="half" idx="1"/>
              </p:nvPr>
            </p:nvSpPr>
            <p:spPr>
              <a:xfrm>
                <a:off x="522225" y="1554162"/>
                <a:ext cx="6270750" cy="5029200"/>
              </a:xfrm>
              <a:blipFill>
                <a:blip r:embed="rId3"/>
                <a:stretch>
                  <a:fillRect l="-1751" t="-1212"/>
                </a:stretch>
              </a:blipFill>
            </p:spPr>
            <p:txBody>
              <a:bodyPr/>
              <a:lstStyle/>
              <a:p>
                <a:r>
                  <a:rPr lang="en-US">
                    <a:noFill/>
                  </a:rPr>
                  <a:t> </a:t>
                </a:r>
              </a:p>
            </p:txBody>
          </p:sp>
        </mc:Fallback>
      </mc:AlternateContent>
      <p:grpSp>
        <p:nvGrpSpPr>
          <p:cNvPr id="29" name="Group 28"/>
          <p:cNvGrpSpPr/>
          <p:nvPr/>
        </p:nvGrpSpPr>
        <p:grpSpPr>
          <a:xfrm>
            <a:off x="6792974" y="1981200"/>
            <a:ext cx="4103625" cy="4267200"/>
            <a:chOff x="5257800" y="3885406"/>
            <a:chExt cx="2949450" cy="2655332"/>
          </a:xfrm>
        </p:grpSpPr>
        <p:cxnSp>
          <p:nvCxnSpPr>
            <p:cNvPr id="22" name="Straight Arrow Connector 21"/>
            <p:cNvCxnSpPr/>
            <p:nvPr/>
          </p:nvCxnSpPr>
          <p:spPr>
            <a:xfrm rot="5400000" flipH="1" flipV="1">
              <a:off x="4534694" y="5142706"/>
              <a:ext cx="2056606" cy="794"/>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562600" y="6171406"/>
              <a:ext cx="2362200" cy="15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943600" y="4266406"/>
              <a:ext cx="1752600" cy="160020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924800" y="6171406"/>
              <a:ext cx="282450" cy="369332"/>
            </a:xfrm>
            <a:prstGeom prst="rect">
              <a:avLst/>
            </a:prstGeom>
            <a:noFill/>
          </p:spPr>
          <p:txBody>
            <a:bodyPr wrap="none" rtlCol="0">
              <a:spAutoFit/>
            </a:bodyPr>
            <a:lstStyle/>
            <a:p>
              <a:r>
                <a:rPr lang="en-US" dirty="0"/>
                <a:t>L</a:t>
              </a:r>
            </a:p>
          </p:txBody>
        </p:sp>
        <p:sp>
          <p:nvSpPr>
            <p:cNvPr id="26" name="TextBox 25"/>
            <p:cNvSpPr txBox="1"/>
            <p:nvPr/>
          </p:nvSpPr>
          <p:spPr>
            <a:xfrm>
              <a:off x="5257800" y="3885406"/>
              <a:ext cx="349776" cy="369332"/>
            </a:xfrm>
            <a:prstGeom prst="rect">
              <a:avLst/>
            </a:prstGeom>
            <a:noFill/>
          </p:spPr>
          <p:txBody>
            <a:bodyPr wrap="none" rtlCol="0">
              <a:spAutoFit/>
            </a:bodyPr>
            <a:lstStyle/>
            <a:p>
              <a:r>
                <a:rPr lang="en-US" dirty="0"/>
                <a:t>w</a:t>
              </a:r>
            </a:p>
          </p:txBody>
        </p:sp>
      </p:grpSp>
      <p:sp>
        <p:nvSpPr>
          <p:cNvPr id="27" name="Slide Number Placeholder 26"/>
          <p:cNvSpPr>
            <a:spLocks noGrp="1"/>
          </p:cNvSpPr>
          <p:nvPr>
            <p:ph type="sldNum" sz="quarter" idx="12"/>
          </p:nvPr>
        </p:nvSpPr>
        <p:spPr/>
        <p:txBody>
          <a:bodyPr/>
          <a:lstStyle/>
          <a:p>
            <a:fld id="{BB3BE34B-9575-430D-9A41-469C30B8F0EA}" type="slidenum">
              <a:rPr lang="en-US" smtClean="0"/>
              <a:pPr/>
              <a:t>29</a:t>
            </a:fld>
            <a:endParaRPr lang="en-US" dirty="0"/>
          </a:p>
        </p:txBody>
      </p:sp>
    </p:spTree>
    <p:extLst>
      <p:ext uri="{BB962C8B-B14F-4D97-AF65-F5344CB8AC3E}">
        <p14:creationId xmlns:p14="http://schemas.microsoft.com/office/powerpoint/2010/main" val="4293369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958340" y="137478"/>
            <a:ext cx="8229600" cy="1143000"/>
          </a:xfrm>
        </p:spPr>
        <p:txBody>
          <a:bodyPr/>
          <a:lstStyle/>
          <a:p>
            <a:r>
              <a:rPr lang="en-US" dirty="0"/>
              <a:t>Power of Competition</a:t>
            </a:r>
          </a:p>
        </p:txBody>
      </p:sp>
      <p:sp>
        <p:nvSpPr>
          <p:cNvPr id="7" name="Content Placeholder 6"/>
          <p:cNvSpPr>
            <a:spLocks noGrp="1"/>
          </p:cNvSpPr>
          <p:nvPr>
            <p:ph idx="1"/>
          </p:nvPr>
        </p:nvSpPr>
        <p:spPr>
          <a:xfrm>
            <a:off x="609600" y="1295400"/>
            <a:ext cx="11125200" cy="5562600"/>
          </a:xfrm>
        </p:spPr>
        <p:txBody>
          <a:bodyPr>
            <a:normAutofit/>
          </a:bodyPr>
          <a:lstStyle/>
          <a:p>
            <a:r>
              <a:rPr lang="en-US" dirty="0"/>
              <a:t>We assume labor market is perfectly competitive</a:t>
            </a:r>
          </a:p>
          <a:p>
            <a:r>
              <a:rPr lang="en-US" dirty="0"/>
              <a:t>This implies that workers are paid their marginal product</a:t>
            </a:r>
          </a:p>
          <a:p>
            <a:pPr lvl="1"/>
            <a:r>
              <a:rPr lang="en-US" dirty="0"/>
              <a:t>Workers paid value of what they produce at the margin </a:t>
            </a:r>
            <a:br>
              <a:rPr lang="en-US" dirty="0"/>
            </a:br>
            <a:r>
              <a:rPr lang="en-US" dirty="0"/>
              <a:t>(value of what last worker produces)</a:t>
            </a:r>
          </a:p>
          <a:p>
            <a:r>
              <a:rPr lang="en-US" dirty="0"/>
              <a:t>Why aren’t they paid less? </a:t>
            </a:r>
            <a:br>
              <a:rPr lang="en-US" dirty="0"/>
            </a:br>
            <a:r>
              <a:rPr lang="en-US" dirty="0"/>
              <a:t>(Why don’t firms exploit the workers?)</a:t>
            </a:r>
          </a:p>
          <a:p>
            <a:pPr lvl="1"/>
            <a:r>
              <a:rPr lang="en-US" dirty="0"/>
              <a:t>Each firm is held in check by competition with other firms in the labor market (if one pays less, another firm will find it profitable to hire away that firm’s workers)</a:t>
            </a:r>
          </a:p>
        </p:txBody>
      </p:sp>
      <p:sp>
        <p:nvSpPr>
          <p:cNvPr id="5" name="Slide Number Placeholder 4"/>
          <p:cNvSpPr>
            <a:spLocks noGrp="1"/>
          </p:cNvSpPr>
          <p:nvPr>
            <p:ph type="sldNum" sz="quarter" idx="12"/>
          </p:nvPr>
        </p:nvSpPr>
        <p:spPr/>
        <p:txBody>
          <a:bodyPr/>
          <a:lstStyle/>
          <a:p>
            <a:fld id="{BB3BE34B-9575-430D-9A41-469C30B8F0EA}" type="slidenum">
              <a:rPr lang="en-US" smtClean="0"/>
              <a:pPr/>
              <a:t>30</a:t>
            </a:fld>
            <a:endParaRPr lang="en-US"/>
          </a:p>
        </p:txBody>
      </p:sp>
    </p:spTree>
    <p:extLst>
      <p:ext uri="{BB962C8B-B14F-4D97-AF65-F5344CB8AC3E}">
        <p14:creationId xmlns:p14="http://schemas.microsoft.com/office/powerpoint/2010/main" val="428900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of Competition</a:t>
            </a:r>
          </a:p>
        </p:txBody>
      </p:sp>
      <p:sp>
        <p:nvSpPr>
          <p:cNvPr id="3" name="Content Placeholder 2"/>
          <p:cNvSpPr>
            <a:spLocks noGrp="1"/>
          </p:cNvSpPr>
          <p:nvPr>
            <p:ph idx="1"/>
          </p:nvPr>
        </p:nvSpPr>
        <p:spPr>
          <a:xfrm>
            <a:off x="609600" y="1600200"/>
            <a:ext cx="11049000" cy="5105400"/>
          </a:xfrm>
        </p:spPr>
        <p:txBody>
          <a:bodyPr>
            <a:normAutofit/>
          </a:bodyPr>
          <a:lstStyle/>
          <a:p>
            <a:r>
              <a:rPr lang="en-US" dirty="0"/>
              <a:t>But perhaps perfect competition is not a realistic assumption</a:t>
            </a:r>
          </a:p>
          <a:p>
            <a:r>
              <a:rPr lang="en-US" dirty="0"/>
              <a:t>Perhaps we only make this assumption because it </a:t>
            </a:r>
            <a:br>
              <a:rPr lang="en-US" dirty="0"/>
            </a:br>
            <a:r>
              <a:rPr lang="en-US" dirty="0"/>
              <a:t>simplifies the math</a:t>
            </a:r>
          </a:p>
          <a:p>
            <a:r>
              <a:rPr lang="en-US" dirty="0"/>
              <a:t>And then we forget that we make it</a:t>
            </a:r>
          </a:p>
          <a:p>
            <a:r>
              <a:rPr lang="en-US" dirty="0"/>
              <a:t>And we start to think markets are efficient in the real world</a:t>
            </a:r>
          </a:p>
          <a:p>
            <a:r>
              <a:rPr lang="en-US" dirty="0"/>
              <a:t>And we might even forget about the very possibility that markets might not be competitive</a:t>
            </a:r>
          </a:p>
          <a:p>
            <a:r>
              <a:rPr lang="en-US" dirty="0"/>
              <a:t> Daniel Kahneman called this “theory-induced blindness”</a:t>
            </a:r>
          </a:p>
        </p:txBody>
      </p:sp>
      <p:sp>
        <p:nvSpPr>
          <p:cNvPr id="4" name="Slide Number Placeholder 3"/>
          <p:cNvSpPr>
            <a:spLocks noGrp="1"/>
          </p:cNvSpPr>
          <p:nvPr>
            <p:ph type="sldNum" sz="quarter" idx="12"/>
          </p:nvPr>
        </p:nvSpPr>
        <p:spPr/>
        <p:txBody>
          <a:bodyPr/>
          <a:lstStyle/>
          <a:p>
            <a:fld id="{BB3BE34B-9575-430D-9A41-469C30B8F0EA}" type="slidenum">
              <a:rPr lang="en-US" smtClean="0"/>
              <a:pPr/>
              <a:t>31</a:t>
            </a:fld>
            <a:endParaRPr lang="en-US"/>
          </a:p>
        </p:txBody>
      </p:sp>
    </p:spTree>
    <p:extLst>
      <p:ext uri="{BB962C8B-B14F-4D97-AF65-F5344CB8AC3E}">
        <p14:creationId xmlns:p14="http://schemas.microsoft.com/office/powerpoint/2010/main" val="279888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C85EB-143E-9591-25BD-FBBC7575973B}"/>
              </a:ext>
            </a:extLst>
          </p:cNvPr>
          <p:cNvSpPr>
            <a:spLocks noGrp="1"/>
          </p:cNvSpPr>
          <p:nvPr>
            <p:ph type="title"/>
          </p:nvPr>
        </p:nvSpPr>
        <p:spPr/>
        <p:txBody>
          <a:bodyPr/>
          <a:lstStyle/>
          <a:p>
            <a:r>
              <a:rPr lang="en-US" dirty="0"/>
              <a:t>Completing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7246DC-033C-F90D-2616-127F13B8CA39}"/>
                  </a:ext>
                </a:extLst>
              </p:cNvPr>
              <p:cNvSpPr>
                <a:spLocks noGrp="1"/>
              </p:cNvSpPr>
              <p:nvPr>
                <p:ph idx="1"/>
              </p:nvPr>
            </p:nvSpPr>
            <p:spPr/>
            <p:txBody>
              <a:bodyPr/>
              <a:lstStyle/>
              <a:p>
                <a:r>
                  <a:rPr lang="en-US" dirty="0"/>
                  <a:t>We need demand and supply curves for the capital and labor markets + one more equation</a:t>
                </a:r>
              </a:p>
              <a:p>
                <a:r>
                  <a:rPr lang="en-US" dirty="0"/>
                  <a:t>We have labor and capital demand</a:t>
                </a:r>
              </a:p>
              <a:p>
                <a:r>
                  <a:rPr lang="en-US" dirty="0"/>
                  <a:t>What about labor and capital supply?</a:t>
                </a:r>
              </a:p>
              <a:p>
                <a:pPr>
                  <a:spcAft>
                    <a:spcPts val="1200"/>
                  </a:spcAft>
                </a:pPr>
                <a:r>
                  <a:rPr lang="en-US" dirty="0"/>
                  <a:t>Simplifying assumption: labor and capital supplied inelastically</a:t>
                </a:r>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oMath>
                  </m:oMathPara>
                </a14:m>
                <a:endParaRPr lang="en-US" b="0" dirty="0"/>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𝐿</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oMath>
                  </m:oMathPara>
                </a14:m>
                <a:endParaRPr lang="en-US" dirty="0"/>
              </a:p>
            </p:txBody>
          </p:sp>
        </mc:Choice>
        <mc:Fallback xmlns="">
          <p:sp>
            <p:nvSpPr>
              <p:cNvPr id="3" name="Content Placeholder 2">
                <a:extLst>
                  <a:ext uri="{FF2B5EF4-FFF2-40B4-BE49-F238E27FC236}">
                    <a16:creationId xmlns:a16="http://schemas.microsoft.com/office/drawing/2014/main" id="{017246DC-033C-F90D-2616-127F13B8CA39}"/>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ED2112B3-4BC4-645A-223C-A167666461B6}"/>
              </a:ext>
            </a:extLst>
          </p:cNvPr>
          <p:cNvSpPr>
            <a:spLocks noGrp="1"/>
          </p:cNvSpPr>
          <p:nvPr>
            <p:ph type="sldNum" sz="quarter" idx="12"/>
          </p:nvPr>
        </p:nvSpPr>
        <p:spPr/>
        <p:txBody>
          <a:bodyPr/>
          <a:lstStyle/>
          <a:p>
            <a:fld id="{BB3BE34B-9575-430D-9A41-469C30B8F0EA}" type="slidenum">
              <a:rPr lang="en-US" smtClean="0"/>
              <a:pPr/>
              <a:t>32</a:t>
            </a:fld>
            <a:endParaRPr lang="en-US"/>
          </a:p>
        </p:txBody>
      </p:sp>
    </p:spTree>
    <p:extLst>
      <p:ext uri="{BB962C8B-B14F-4D97-AF65-F5344CB8AC3E}">
        <p14:creationId xmlns:p14="http://schemas.microsoft.com/office/powerpoint/2010/main" val="53620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75976-75E1-9F88-DADB-1BA986F4A1C9}"/>
              </a:ext>
            </a:extLst>
          </p:cNvPr>
          <p:cNvSpPr>
            <a:spLocks noGrp="1"/>
          </p:cNvSpPr>
          <p:nvPr>
            <p:ph type="title"/>
          </p:nvPr>
        </p:nvSpPr>
        <p:spPr/>
        <p:txBody>
          <a:bodyPr/>
          <a:lstStyle/>
          <a:p>
            <a:r>
              <a:rPr lang="en-US" dirty="0"/>
              <a:t>Completing the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CB3F8F-ED7D-3027-F052-41BECDE87351}"/>
                  </a:ext>
                </a:extLst>
              </p:cNvPr>
              <p:cNvSpPr>
                <a:spLocks noGrp="1"/>
              </p:cNvSpPr>
              <p:nvPr>
                <p:ph idx="1"/>
              </p:nvPr>
            </p:nvSpPr>
            <p:spPr/>
            <p:txBody>
              <a:bodyPr/>
              <a:lstStyle/>
              <a:p>
                <a:r>
                  <a:rPr lang="en-US" dirty="0"/>
                  <a:t>Last equation: Something that gives output as a function of other variables</a:t>
                </a:r>
              </a:p>
              <a:p>
                <a:pPr>
                  <a:spcAft>
                    <a:spcPts val="1200"/>
                  </a:spcAft>
                </a:pPr>
                <a:r>
                  <a:rPr lang="en-US" dirty="0"/>
                  <a:t>We can use production function:</a:t>
                </a:r>
              </a:p>
              <a:p>
                <a:pPr marL="0" indent="0" algn="ctr">
                  <a:spcBef>
                    <a:spcPts val="1200"/>
                  </a:spcBef>
                  <a:buNone/>
                </a:pPr>
                <a14:m>
                  <m:oMathPara xmlns:m="http://schemas.openxmlformats.org/officeDocument/2006/math">
                    <m:o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p:txBody>
          </p:sp>
        </mc:Choice>
        <mc:Fallback xmlns="">
          <p:sp>
            <p:nvSpPr>
              <p:cNvPr id="3" name="Content Placeholder 2">
                <a:extLst>
                  <a:ext uri="{FF2B5EF4-FFF2-40B4-BE49-F238E27FC236}">
                    <a16:creationId xmlns:a16="http://schemas.microsoft.com/office/drawing/2014/main" id="{29CB3F8F-ED7D-3027-F052-41BECDE87351}"/>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A5E8DA0-B336-4D82-96E0-441118573D63}"/>
              </a:ext>
            </a:extLst>
          </p:cNvPr>
          <p:cNvSpPr>
            <a:spLocks noGrp="1"/>
          </p:cNvSpPr>
          <p:nvPr>
            <p:ph type="sldNum" sz="quarter" idx="12"/>
          </p:nvPr>
        </p:nvSpPr>
        <p:spPr/>
        <p:txBody>
          <a:bodyPr/>
          <a:lstStyle/>
          <a:p>
            <a:fld id="{BB3BE34B-9575-430D-9A41-469C30B8F0EA}" type="slidenum">
              <a:rPr lang="en-US" smtClean="0"/>
              <a:pPr/>
              <a:t>33</a:t>
            </a:fld>
            <a:endParaRPr lang="en-US"/>
          </a:p>
        </p:txBody>
      </p:sp>
    </p:spTree>
    <p:extLst>
      <p:ext uri="{BB962C8B-B14F-4D97-AF65-F5344CB8AC3E}">
        <p14:creationId xmlns:p14="http://schemas.microsoft.com/office/powerpoint/2010/main" val="9555248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6BE7-9053-3FE6-1DD3-A294988AA459}"/>
              </a:ext>
            </a:extLst>
          </p:cNvPr>
          <p:cNvSpPr>
            <a:spLocks noGrp="1"/>
          </p:cNvSpPr>
          <p:nvPr>
            <p:ph type="title"/>
          </p:nvPr>
        </p:nvSpPr>
        <p:spPr/>
        <p:txBody>
          <a:bodyPr/>
          <a:lstStyle/>
          <a:p>
            <a:r>
              <a:rPr lang="en-US" dirty="0"/>
              <a:t>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187A64-3D6E-6F5A-FC6F-D04382B772DF}"/>
                  </a:ext>
                </a:extLst>
              </p:cNvPr>
              <p:cNvSpPr>
                <a:spLocks noGrp="1"/>
              </p:cNvSpPr>
              <p:nvPr>
                <p:ph idx="1"/>
              </p:nvPr>
            </p:nvSpPr>
            <p:spPr/>
            <p:txBody>
              <a:bodyPr/>
              <a:lstStyle/>
              <a:p>
                <a:r>
                  <a:rPr lang="en-US" dirty="0"/>
                  <a:t>Five equations:</a:t>
                </a:r>
              </a:p>
              <a:p>
                <a:pPr marL="0" indent="0" algn="ctr">
                  <a:spcAft>
                    <a:spcPts val="1200"/>
                  </a:spcAft>
                  <a:buNone/>
                </a:pPr>
                <a14:m>
                  <m:oMathPara xmlns:m="http://schemas.openxmlformats.org/officeDocument/2006/math">
                    <m:oMath>
                      <m:r>
                        <a:rPr lang="en-US" i="1" smtClean="0">
                          <a:latin typeface="Cambria Math" panose="02040503050406030204" pitchFamily="18" charset="0"/>
                        </a:rPr>
                        <m:t>𝑎</m:t>
                      </m:r>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r>
                            <a:rPr lang="en-US" i="1">
                              <a:latin typeface="Cambria Math" panose="02040503050406030204" pitchFamily="18" charset="0"/>
                            </a:rPr>
                            <m:t>−1</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1−</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𝑟</m:t>
                      </m:r>
                    </m:oMath>
                  </m:oMathPara>
                </a14:m>
                <a:endParaRPr lang="en-US" dirty="0"/>
              </a:p>
              <a:p>
                <a:pPr marL="0" indent="0" algn="ctr">
                  <a:spcAft>
                    <a:spcPts val="1200"/>
                  </a:spcAft>
                  <a:buNone/>
                </a:pPr>
                <a14:m>
                  <m:oMathPara xmlns:m="http://schemas.openxmlformats.org/officeDocument/2006/math">
                    <m:o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b="0" i="1" smtClean="0">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m:t>
                      </m:r>
                      <m:r>
                        <a:rPr lang="en-US" i="1">
                          <a:latin typeface="Cambria Math" panose="02040503050406030204" pitchFamily="18" charset="0"/>
                        </a:rPr>
                        <m:t>𝑤</m:t>
                      </m:r>
                    </m:oMath>
                  </m:oMathPara>
                </a14:m>
                <a:endParaRPr lang="en-US" dirty="0"/>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oMath>
                  </m:oMathPara>
                </a14:m>
                <a:endParaRPr lang="en-US" b="0" dirty="0"/>
              </a:p>
              <a:p>
                <a:pPr marL="0" indent="0" algn="ctr">
                  <a:spcAft>
                    <a:spcPts val="1200"/>
                  </a:spcAft>
                  <a:buNone/>
                </a:pPr>
                <a14:m>
                  <m:oMathPara xmlns:m="http://schemas.openxmlformats.org/officeDocument/2006/math">
                    <m:oMath>
                      <m:r>
                        <a:rPr lang="en-US" b="0" i="1" smtClean="0">
                          <a:latin typeface="Cambria Math" panose="02040503050406030204" pitchFamily="18" charset="0"/>
                        </a:rPr>
                        <m:t>𝐿</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oMath>
                  </m:oMathPara>
                </a14:m>
                <a:endParaRPr lang="en-US" dirty="0"/>
              </a:p>
              <a:p>
                <a:pPr marL="0" indent="0" algn="ctr">
                  <a:spcAft>
                    <a:spcPts val="1200"/>
                  </a:spcAft>
                  <a:buNone/>
                </a:pPr>
                <a14:m>
                  <m:oMathPara xmlns:m="http://schemas.openxmlformats.org/officeDocument/2006/math">
                    <m:oMath>
                      <m:r>
                        <a:rPr lang="en-US" i="1" smtClean="0">
                          <a:latin typeface="Cambria Math"/>
                        </a:rPr>
                        <m:t>𝑌</m:t>
                      </m:r>
                      <m:r>
                        <a:rPr lang="en-US" i="1" smtClean="0">
                          <a:latin typeface="Cambria Math"/>
                        </a:rPr>
                        <m:t>=</m:t>
                      </m:r>
                      <m:r>
                        <a:rPr lang="is-IS" b="0" i="1" smtClean="0">
                          <a:latin typeface="Cambria Math" panose="02040503050406030204" pitchFamily="18" charset="0"/>
                        </a:rPr>
                        <m:t>𝐴</m:t>
                      </m:r>
                      <m:sSup>
                        <m:sSupPr>
                          <m:ctrlPr>
                            <a:rPr lang="en-US" i="1">
                              <a:latin typeface="Cambria Math"/>
                            </a:rPr>
                          </m:ctrlPr>
                        </m:sSupPr>
                        <m:e>
                          <m:r>
                            <a:rPr lang="en-US" i="1">
                              <a:latin typeface="Cambria Math"/>
                            </a:rPr>
                            <m:t>𝐾</m:t>
                          </m:r>
                        </m:e>
                        <m:sup>
                          <m:r>
                            <a:rPr lang="en-US" i="1">
                              <a:latin typeface="Cambria Math"/>
                            </a:rPr>
                            <m:t>𝑎</m:t>
                          </m:r>
                        </m:sup>
                      </m:sSup>
                      <m:sSup>
                        <m:sSupPr>
                          <m:ctrlPr>
                            <a:rPr lang="en-US" i="1">
                              <a:latin typeface="Cambria Math"/>
                            </a:rPr>
                          </m:ctrlPr>
                        </m:sSupPr>
                        <m:e>
                          <m:r>
                            <a:rPr lang="en-US" i="1">
                              <a:latin typeface="Cambria Math"/>
                            </a:rPr>
                            <m:t>𝐿</m:t>
                          </m:r>
                        </m:e>
                        <m:sup>
                          <m:r>
                            <a:rPr lang="en-US" i="1">
                              <a:latin typeface="Cambria Math"/>
                            </a:rPr>
                            <m:t>1−</m:t>
                          </m:r>
                          <m:r>
                            <a:rPr lang="en-US" i="1">
                              <a:latin typeface="Cambria Math"/>
                            </a:rPr>
                            <m:t>𝑎</m:t>
                          </m:r>
                        </m:sup>
                      </m:sSup>
                    </m:oMath>
                  </m:oMathPara>
                </a14:m>
                <a:endParaRPr lang="en-US" dirty="0"/>
              </a:p>
              <a:p>
                <a:pPr>
                  <a:spcAft>
                    <a:spcPts val="1200"/>
                  </a:spcAft>
                </a:pPr>
                <a:r>
                  <a:rPr lang="en-US" dirty="0"/>
                  <a:t>Five endogenous variables: </a:t>
                </a:r>
                <a14:m>
                  <m:oMath xmlns:m="http://schemas.openxmlformats.org/officeDocument/2006/math">
                    <m:r>
                      <a:rPr lang="en-US" b="0" i="1" smtClean="0">
                        <a:latin typeface="Cambria Math" panose="02040503050406030204" pitchFamily="18" charset="0"/>
                      </a:rPr>
                      <m:t>𝐾</m:t>
                    </m:r>
                  </m:oMath>
                </a14:m>
                <a:r>
                  <a:rPr lang="en-US" dirty="0"/>
                  <a:t>, </a:t>
                </a:r>
                <a14:m>
                  <m:oMath xmlns:m="http://schemas.openxmlformats.org/officeDocument/2006/math">
                    <m:r>
                      <a:rPr lang="en-US" b="0" i="1" smtClean="0">
                        <a:latin typeface="Cambria Math" panose="02040503050406030204" pitchFamily="18" charset="0"/>
                      </a:rPr>
                      <m:t>𝐿</m:t>
                    </m:r>
                  </m:oMath>
                </a14:m>
                <a:r>
                  <a:rPr lang="en-US" dirty="0"/>
                  <a:t>, </a:t>
                </a:r>
                <a14:m>
                  <m:oMath xmlns:m="http://schemas.openxmlformats.org/officeDocument/2006/math">
                    <m:r>
                      <a:rPr lang="en-US" b="0" i="1" smtClean="0">
                        <a:latin typeface="Cambria Math" panose="02040503050406030204" pitchFamily="18" charset="0"/>
                      </a:rPr>
                      <m:t>𝑟</m:t>
                    </m:r>
                  </m:oMath>
                </a14:m>
                <a:r>
                  <a:rPr lang="en-US" dirty="0"/>
                  <a:t>, </a:t>
                </a:r>
                <a14:m>
                  <m:oMath xmlns:m="http://schemas.openxmlformats.org/officeDocument/2006/math">
                    <m:r>
                      <a:rPr lang="en-US" b="0" i="1" smtClean="0">
                        <a:latin typeface="Cambria Math" panose="02040503050406030204" pitchFamily="18" charset="0"/>
                      </a:rPr>
                      <m:t>𝑤</m:t>
                    </m:r>
                  </m:oMath>
                </a14:m>
                <a:r>
                  <a:rPr lang="en-US" dirty="0"/>
                  <a:t>, </a:t>
                </a:r>
                <a14:m>
                  <m:oMath xmlns:m="http://schemas.openxmlformats.org/officeDocument/2006/math">
                    <m:r>
                      <a:rPr lang="en-US" b="0" i="1" smtClean="0">
                        <a:latin typeface="Cambria Math" panose="02040503050406030204" pitchFamily="18" charset="0"/>
                      </a:rPr>
                      <m:t>𝑌</m:t>
                    </m:r>
                  </m:oMath>
                </a14:m>
                <a:endParaRPr lang="en-US" dirty="0"/>
              </a:p>
            </p:txBody>
          </p:sp>
        </mc:Choice>
        <mc:Fallback xmlns="">
          <p:sp>
            <p:nvSpPr>
              <p:cNvPr id="3" name="Content Placeholder 2">
                <a:extLst>
                  <a:ext uri="{FF2B5EF4-FFF2-40B4-BE49-F238E27FC236}">
                    <a16:creationId xmlns:a16="http://schemas.microsoft.com/office/drawing/2014/main" id="{BA187A64-3D6E-6F5A-FC6F-D04382B772DF}"/>
                  </a:ext>
                </a:extLst>
              </p:cNvPr>
              <p:cNvSpPr>
                <a:spLocks noGrp="1" noRot="1" noChangeAspect="1" noMove="1" noResize="1" noEditPoints="1" noAdjustHandles="1" noChangeArrowheads="1" noChangeShapeType="1" noTextEdit="1"/>
              </p:cNvSpPr>
              <p:nvPr>
                <p:ph idx="1"/>
              </p:nvPr>
            </p:nvSpPr>
            <p:spPr>
              <a:blipFill>
                <a:blip r:embed="rId2"/>
                <a:stretch>
                  <a:fillRect l="-1278" t="-1752" b="-94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2BC73C4-BD68-E02B-82BF-554875A69569}"/>
              </a:ext>
            </a:extLst>
          </p:cNvPr>
          <p:cNvSpPr>
            <a:spLocks noGrp="1"/>
          </p:cNvSpPr>
          <p:nvPr>
            <p:ph type="sldNum" sz="quarter" idx="12"/>
          </p:nvPr>
        </p:nvSpPr>
        <p:spPr/>
        <p:txBody>
          <a:bodyPr/>
          <a:lstStyle/>
          <a:p>
            <a:fld id="{BB3BE34B-9575-430D-9A41-469C30B8F0EA}" type="slidenum">
              <a:rPr lang="en-US" smtClean="0"/>
              <a:pPr/>
              <a:t>34</a:t>
            </a:fld>
            <a:endParaRPr lang="en-US"/>
          </a:p>
        </p:txBody>
      </p:sp>
    </p:spTree>
    <p:extLst>
      <p:ext uri="{BB962C8B-B14F-4D97-AF65-F5344CB8AC3E}">
        <p14:creationId xmlns:p14="http://schemas.microsoft.com/office/powerpoint/2010/main" val="4189163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Equilibrium</a:t>
            </a:r>
          </a:p>
        </p:txBody>
      </p:sp>
      <p:sp>
        <p:nvSpPr>
          <p:cNvPr id="3" name="Content Placeholder 2"/>
          <p:cNvSpPr>
            <a:spLocks noGrp="1"/>
          </p:cNvSpPr>
          <p:nvPr>
            <p:ph idx="1"/>
          </p:nvPr>
        </p:nvSpPr>
        <p:spPr>
          <a:xfrm>
            <a:off x="609600" y="1600201"/>
            <a:ext cx="10972800" cy="4983161"/>
          </a:xfrm>
        </p:spPr>
        <p:txBody>
          <a:bodyPr>
            <a:normAutofit lnSpcReduction="10000"/>
          </a:bodyPr>
          <a:lstStyle/>
          <a:p>
            <a:r>
              <a:rPr lang="en-US" dirty="0"/>
              <a:t>In economics, the solution to a model is called an </a:t>
            </a:r>
            <a:r>
              <a:rPr lang="en-US" dirty="0">
                <a:solidFill>
                  <a:schemeClr val="accent2"/>
                </a:solidFill>
              </a:rPr>
              <a:t>equilibrium</a:t>
            </a:r>
          </a:p>
          <a:p>
            <a:pPr lvl="1"/>
            <a:r>
              <a:rPr lang="en-US" dirty="0"/>
              <a:t>What happens when things play out in the markets under consideration (“when markets clear”)</a:t>
            </a:r>
          </a:p>
          <a:p>
            <a:r>
              <a:rPr lang="en-US" dirty="0"/>
              <a:t>Model: System of five equations with five unknowns</a:t>
            </a:r>
          </a:p>
          <a:p>
            <a:r>
              <a:rPr lang="en-US" dirty="0"/>
              <a:t>“Solving” the model:</a:t>
            </a:r>
          </a:p>
          <a:p>
            <a:pPr lvl="1"/>
            <a:r>
              <a:rPr lang="en-US" dirty="0"/>
              <a:t>Solving for endogenous variables as functions </a:t>
            </a:r>
            <a:r>
              <a:rPr lang="en-US" dirty="0">
                <a:solidFill>
                  <a:srgbClr val="C00000"/>
                </a:solidFill>
              </a:rPr>
              <a:t>only</a:t>
            </a:r>
            <a:r>
              <a:rPr lang="en-US" dirty="0"/>
              <a:t> of exogenous variables and parameters </a:t>
            </a:r>
          </a:p>
          <a:p>
            <a:pPr lvl="1"/>
            <a:r>
              <a:rPr lang="en-US" dirty="0"/>
              <a:t>Rewriting the system with the endogenous variables on one side of the equations and </a:t>
            </a:r>
            <a:r>
              <a:rPr lang="en-US" dirty="0">
                <a:solidFill>
                  <a:schemeClr val="accent2"/>
                </a:solidFill>
              </a:rPr>
              <a:t>only</a:t>
            </a:r>
            <a:r>
              <a:rPr lang="en-US" dirty="0"/>
              <a:t> exogenous variables and parameters on the other side.</a:t>
            </a:r>
          </a:p>
        </p:txBody>
      </p:sp>
      <p:sp>
        <p:nvSpPr>
          <p:cNvPr id="4" name="Slide Number Placeholder 3"/>
          <p:cNvSpPr>
            <a:spLocks noGrp="1"/>
          </p:cNvSpPr>
          <p:nvPr>
            <p:ph type="sldNum" sz="quarter" idx="12"/>
          </p:nvPr>
        </p:nvSpPr>
        <p:spPr/>
        <p:txBody>
          <a:bodyPr/>
          <a:lstStyle/>
          <a:p>
            <a:fld id="{BB3BE34B-9575-430D-9A41-469C30B8F0EA}" type="slidenum">
              <a:rPr lang="en-US" smtClean="0"/>
              <a:pPr/>
              <a:t>35</a:t>
            </a:fld>
            <a:endParaRPr lang="en-US"/>
          </a:p>
        </p:txBody>
      </p:sp>
    </p:spTree>
    <p:extLst>
      <p:ext uri="{BB962C8B-B14F-4D97-AF65-F5344CB8AC3E}">
        <p14:creationId xmlns:p14="http://schemas.microsoft.com/office/powerpoint/2010/main" val="381500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C2A7C-9F8E-EA7D-77B3-CAA0E0C1358C}"/>
              </a:ext>
            </a:extLst>
          </p:cNvPr>
          <p:cNvSpPr>
            <a:spLocks noGrp="1"/>
          </p:cNvSpPr>
          <p:nvPr>
            <p:ph type="title"/>
          </p:nvPr>
        </p:nvSpPr>
        <p:spPr/>
        <p:txBody>
          <a:bodyPr/>
          <a:lstStyle/>
          <a:p>
            <a:r>
              <a:rPr lang="en-US" dirty="0"/>
              <a:t>Equilibrium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B37A990-205D-3BB4-EEAD-BCA784F0F777}"/>
                  </a:ext>
                </a:extLst>
              </p:cNvPr>
              <p:cNvSpPr>
                <a:spLocks noGrp="1"/>
              </p:cNvSpPr>
              <p:nvPr>
                <p:ph idx="1"/>
              </p:nvPr>
            </p:nvSpPr>
            <p:spPr/>
            <p:txBody>
              <a:bodyPr/>
              <a:lstStyle/>
              <a:p>
                <a:pPr>
                  <a:spcAft>
                    <a:spcPts val="1200"/>
                  </a:spcAft>
                </a:pPr>
                <a:r>
                  <a:rPr lang="en-US" dirty="0"/>
                  <a:t>“Trivial” solution in our case:</a:t>
                </a:r>
              </a:p>
              <a:p>
                <a:pPr marL="0" indent="0">
                  <a:spcAft>
                    <a:spcPts val="1200"/>
                  </a:spcAft>
                  <a:buNone/>
                </a:pPr>
                <a:r>
                  <a:rPr lang="en-US" b="0" dirty="0"/>
                  <a:t>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oMath>
                </a14:m>
                <a:endParaRPr lang="en-US" b="0" i="1" dirty="0">
                  <a:latin typeface="Cambria Math" panose="02040503050406030204" pitchFamily="18" charset="0"/>
                </a:endParaRPr>
              </a:p>
              <a:p>
                <a:pPr marL="0" indent="0">
                  <a:spcAft>
                    <a:spcPts val="1200"/>
                  </a:spcAft>
                  <a:buNone/>
                </a:pPr>
                <a:r>
                  <a:rPr lang="en-US" b="0" dirty="0"/>
                  <a:t>			</a:t>
                </a:r>
                <a14:m>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oMath>
                </a14:m>
                <a:endParaRPr lang="en-US" dirty="0"/>
              </a:p>
              <a:p>
                <a:pPr marL="0" indent="0">
                  <a:spcAft>
                    <a:spcPts val="1200"/>
                  </a:spcAft>
                  <a:buNone/>
                </a:pPr>
                <a:r>
                  <a:rPr lang="en-US" dirty="0"/>
                  <a:t>			</a:t>
                </a:r>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𝑎𝐴</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𝐾</m:t>
                            </m:r>
                          </m:e>
                        </m:acc>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𝐿</m:t>
                            </m:r>
                          </m:e>
                        </m:acc>
                      </m:e>
                      <m:sup>
                        <m:r>
                          <a:rPr lang="en-US" b="0" i="1" smtClean="0">
                            <a:latin typeface="Cambria Math" panose="02040503050406030204" pitchFamily="18" charset="0"/>
                          </a:rPr>
                          <m:t>1−</m:t>
                        </m:r>
                        <m:r>
                          <a:rPr lang="en-US" b="0" i="1" smtClean="0">
                            <a:latin typeface="Cambria Math" panose="02040503050406030204" pitchFamily="18" charset="0"/>
                          </a:rPr>
                          <m:t>𝑎</m:t>
                        </m:r>
                      </m:sup>
                    </m:sSup>
                  </m:oMath>
                </a14:m>
                <a:endParaRPr lang="en-US" dirty="0"/>
              </a:p>
              <a:p>
                <a:pPr marL="0" indent="0">
                  <a:spcAft>
                    <a:spcPts val="1200"/>
                  </a:spcAft>
                  <a:buNone/>
                </a:pPr>
                <a:r>
                  <a:rPr lang="en-US" dirty="0"/>
                  <a:t>			</a:t>
                </a:r>
                <a14:m>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𝑎</m:t>
                        </m:r>
                      </m:e>
                    </m:d>
                    <m:r>
                      <a:rPr lang="en-US" b="0" i="1" smtClean="0">
                        <a:latin typeface="Cambria Math" panose="02040503050406030204" pitchFamily="18" charset="0"/>
                      </a:rPr>
                      <m:t>𝐴</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𝐾</m:t>
                            </m:r>
                          </m:e>
                        </m:acc>
                      </m:e>
                      <m:sup>
                        <m:r>
                          <a:rPr lang="en-US" i="1">
                            <a:latin typeface="Cambria Math" panose="02040503050406030204" pitchFamily="18" charset="0"/>
                          </a:rPr>
                          <m:t>𝑎</m:t>
                        </m:r>
                      </m:sup>
                    </m:sSup>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p>
                        <m:r>
                          <a:rPr lang="en-US" i="1">
                            <a:latin typeface="Cambria Math" panose="02040503050406030204" pitchFamily="18" charset="0"/>
                          </a:rPr>
                          <m:t>−</m:t>
                        </m:r>
                        <m:r>
                          <a:rPr lang="en-US" i="1">
                            <a:latin typeface="Cambria Math" panose="02040503050406030204" pitchFamily="18" charset="0"/>
                          </a:rPr>
                          <m:t>𝑎</m:t>
                        </m:r>
                      </m:sup>
                    </m:sSup>
                  </m:oMath>
                </a14:m>
                <a:endParaRPr lang="en-US" dirty="0"/>
              </a:p>
              <a:p>
                <a:pPr marL="0" indent="0">
                  <a:spcAft>
                    <a:spcPts val="1200"/>
                  </a:spcAft>
                  <a:buNone/>
                </a:pPr>
                <a:r>
                  <a:rPr lang="en-US" dirty="0"/>
                  <a:t>			</a:t>
                </a:r>
                <a14:m>
                  <m:oMath xmlns:m="http://schemas.openxmlformats.org/officeDocument/2006/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𝐾</m:t>
                            </m:r>
                          </m:e>
                        </m:acc>
                      </m:e>
                      <m:sup>
                        <m:r>
                          <a:rPr lang="en-US" i="1">
                            <a:latin typeface="Cambria Math" panose="02040503050406030204" pitchFamily="18" charset="0"/>
                          </a:rPr>
                          <m:t>𝑎</m:t>
                        </m:r>
                      </m:sup>
                    </m:sSup>
                    <m:sSup>
                      <m:sSupPr>
                        <m:ctrlPr>
                          <a:rPr lang="en-US" i="1">
                            <a:latin typeface="Cambria Math" panose="02040503050406030204" pitchFamily="18" charset="0"/>
                          </a:rPr>
                        </m:ctrlPr>
                      </m:sSupPr>
                      <m:e>
                        <m:acc>
                          <m:accPr>
                            <m:chr m:val="̅"/>
                            <m:ctrlPr>
                              <a:rPr lang="en-US" i="1">
                                <a:latin typeface="Cambria Math" panose="02040503050406030204" pitchFamily="18" charset="0"/>
                              </a:rPr>
                            </m:ctrlPr>
                          </m:accPr>
                          <m:e>
                            <m:r>
                              <a:rPr lang="en-US" i="1">
                                <a:latin typeface="Cambria Math" panose="02040503050406030204" pitchFamily="18" charset="0"/>
                              </a:rPr>
                              <m:t>𝐿</m:t>
                            </m:r>
                          </m:e>
                        </m:acc>
                      </m:e>
                      <m:sup>
                        <m:r>
                          <a:rPr lang="en-US" b="0" i="1" smtClean="0">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𝑎</m:t>
                        </m:r>
                      </m:sup>
                    </m:sSup>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B37A990-205D-3BB4-EEAD-BCA784F0F777}"/>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F547175-E024-1025-A555-96DA9169B5C4}"/>
              </a:ext>
            </a:extLst>
          </p:cNvPr>
          <p:cNvSpPr>
            <a:spLocks noGrp="1"/>
          </p:cNvSpPr>
          <p:nvPr>
            <p:ph type="sldNum" sz="quarter" idx="12"/>
          </p:nvPr>
        </p:nvSpPr>
        <p:spPr/>
        <p:txBody>
          <a:bodyPr/>
          <a:lstStyle/>
          <a:p>
            <a:fld id="{BB3BE34B-9575-430D-9A41-469C30B8F0EA}" type="slidenum">
              <a:rPr lang="en-US" smtClean="0"/>
              <a:pPr/>
              <a:t>36</a:t>
            </a:fld>
            <a:endParaRPr lang="en-US"/>
          </a:p>
        </p:txBody>
      </p:sp>
    </p:spTree>
    <p:extLst>
      <p:ext uri="{BB962C8B-B14F-4D97-AF65-F5344CB8AC3E}">
        <p14:creationId xmlns:p14="http://schemas.microsoft.com/office/powerpoint/2010/main" val="10851966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AE5BA-FCFA-BC81-11C7-CCA643812F36}"/>
              </a:ext>
            </a:extLst>
          </p:cNvPr>
          <p:cNvSpPr>
            <a:spLocks noGrp="1"/>
          </p:cNvSpPr>
          <p:nvPr>
            <p:ph type="title"/>
          </p:nvPr>
        </p:nvSpPr>
        <p:spPr/>
        <p:txBody>
          <a:bodyPr/>
          <a:lstStyle/>
          <a:p>
            <a:r>
              <a:rPr lang="is-IS" dirty="0"/>
              <a:t>How Can We Use The Model?</a:t>
            </a:r>
            <a:endParaRPr lang="en-US" dirty="0"/>
          </a:p>
        </p:txBody>
      </p:sp>
      <p:sp>
        <p:nvSpPr>
          <p:cNvPr id="3" name="Content Placeholder 2">
            <a:extLst>
              <a:ext uri="{FF2B5EF4-FFF2-40B4-BE49-F238E27FC236}">
                <a16:creationId xmlns:a16="http://schemas.microsoft.com/office/drawing/2014/main" id="{00D0CC8C-3989-105B-A7F2-AAAF8A1C3E62}"/>
              </a:ext>
            </a:extLst>
          </p:cNvPr>
          <p:cNvSpPr>
            <a:spLocks noGrp="1"/>
          </p:cNvSpPr>
          <p:nvPr>
            <p:ph idx="1"/>
          </p:nvPr>
        </p:nvSpPr>
        <p:spPr/>
        <p:txBody>
          <a:bodyPr/>
          <a:lstStyle/>
          <a:p>
            <a:endParaRPr lang="is-IS" dirty="0"/>
          </a:p>
          <a:p>
            <a:r>
              <a:rPr lang="en-US" dirty="0"/>
              <a:t>The model can help us think about how technology </a:t>
            </a:r>
            <a:br>
              <a:rPr lang="en-US" dirty="0"/>
            </a:br>
            <a:r>
              <a:rPr lang="en-US" dirty="0"/>
              <a:t>affects workers</a:t>
            </a:r>
          </a:p>
          <a:p>
            <a:r>
              <a:rPr lang="en-US" dirty="0"/>
              <a:t>Model assumes full employment (markets clear)</a:t>
            </a:r>
          </a:p>
          <a:p>
            <a:pPr lvl="1"/>
            <a:r>
              <a:rPr lang="en-US" dirty="0"/>
              <a:t>Technology will not lead to mass unemployment in the model</a:t>
            </a:r>
          </a:p>
          <a:p>
            <a:r>
              <a:rPr lang="en-US" dirty="0"/>
              <a:t>But how does technology affect</a:t>
            </a:r>
          </a:p>
          <a:p>
            <a:pPr marL="0" indent="0">
              <a:buNone/>
            </a:pPr>
            <a:r>
              <a:rPr lang="en-US" dirty="0"/>
              <a:t>		1) Wages			2) Labor share of income</a:t>
            </a:r>
          </a:p>
          <a:p>
            <a:endParaRPr lang="en-US" dirty="0"/>
          </a:p>
        </p:txBody>
      </p:sp>
      <p:sp>
        <p:nvSpPr>
          <p:cNvPr id="4" name="Slide Number Placeholder 3">
            <a:extLst>
              <a:ext uri="{FF2B5EF4-FFF2-40B4-BE49-F238E27FC236}">
                <a16:creationId xmlns:a16="http://schemas.microsoft.com/office/drawing/2014/main" id="{D2D9F27B-DA64-64B2-756D-D4D5F8D52BF7}"/>
              </a:ext>
            </a:extLst>
          </p:cNvPr>
          <p:cNvSpPr>
            <a:spLocks noGrp="1"/>
          </p:cNvSpPr>
          <p:nvPr>
            <p:ph type="sldNum" sz="quarter" idx="12"/>
          </p:nvPr>
        </p:nvSpPr>
        <p:spPr/>
        <p:txBody>
          <a:bodyPr/>
          <a:lstStyle/>
          <a:p>
            <a:fld id="{BB3BE34B-9575-430D-9A41-469C30B8F0EA}" type="slidenum">
              <a:rPr lang="en-US" smtClean="0"/>
              <a:pPr/>
              <a:t>37</a:t>
            </a:fld>
            <a:endParaRPr lang="en-US"/>
          </a:p>
        </p:txBody>
      </p:sp>
    </p:spTree>
    <p:extLst>
      <p:ext uri="{BB962C8B-B14F-4D97-AF65-F5344CB8AC3E}">
        <p14:creationId xmlns:p14="http://schemas.microsoft.com/office/powerpoint/2010/main" val="1737828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9A2E7-0450-2384-3238-699B0F42D68C}"/>
              </a:ext>
            </a:extLst>
          </p:cNvPr>
          <p:cNvSpPr>
            <a:spLocks noGrp="1"/>
          </p:cNvSpPr>
          <p:nvPr>
            <p:ph type="title"/>
          </p:nvPr>
        </p:nvSpPr>
        <p:spPr/>
        <p:txBody>
          <a:bodyPr/>
          <a:lstStyle/>
          <a:p>
            <a:r>
              <a:rPr lang="en-US" dirty="0"/>
              <a:t>How Does Technology Affect Wages?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64C8D9-1EE6-0327-B711-347B8D424ED5}"/>
                  </a:ext>
                </a:extLst>
              </p:cNvPr>
              <p:cNvSpPr>
                <a:spLocks noGrp="1"/>
              </p:cNvSpPr>
              <p:nvPr>
                <p:ph idx="1"/>
              </p:nvPr>
            </p:nvSpPr>
            <p:spPr/>
            <p:txBody>
              <a:bodyPr/>
              <a:lstStyle/>
              <a:p>
                <a:pPr>
                  <a:spcBef>
                    <a:spcPts val="1200"/>
                  </a:spcBef>
                  <a:spcAft>
                    <a:spcPts val="600"/>
                  </a:spcAft>
                </a:pPr>
                <a:r>
                  <a:rPr lang="en-US" dirty="0"/>
                  <a:t>Wages in our model:</a:t>
                </a:r>
              </a:p>
              <a:p>
                <a:pPr marL="0" indent="0" algn="ctr">
                  <a:spcBef>
                    <a:spcPts val="1200"/>
                  </a:spcBef>
                  <a:spcAft>
                    <a:spcPts val="600"/>
                  </a:spcAft>
                  <a:buNone/>
                </a:pPr>
                <a14:m>
                  <m:oMathPara xmlns:m="http://schemas.openxmlformats.org/officeDocument/2006/math">
                    <m:oMath>
                      <m:r>
                        <a:rPr lang="en-US" i="1">
                          <a:latin typeface="Cambria Math" panose="02040503050406030204" pitchFamily="18" charset="0"/>
                        </a:rPr>
                        <m:t>𝑤</m:t>
                      </m:r>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oMath>
                  </m:oMathPara>
                </a14:m>
                <a:endParaRPr lang="en-US" dirty="0"/>
              </a:p>
              <a:p>
                <a:pPr>
                  <a:spcBef>
                    <a:spcPts val="1200"/>
                  </a:spcBef>
                  <a:spcAft>
                    <a:spcPts val="600"/>
                  </a:spcAft>
                </a:pPr>
                <a:r>
                  <a:rPr lang="en-US" dirty="0"/>
                  <a:t>An improvement in technology is an increase in </a:t>
                </a:r>
                <a14:m>
                  <m:oMath xmlns:m="http://schemas.openxmlformats.org/officeDocument/2006/math">
                    <m:r>
                      <a:rPr lang="en-US" b="0" i="1" smtClean="0">
                        <a:latin typeface="Cambria Math" panose="02040503050406030204" pitchFamily="18" charset="0"/>
                      </a:rPr>
                      <m:t>𝐴</m:t>
                    </m:r>
                  </m:oMath>
                </a14:m>
                <a:endParaRPr lang="en-US" dirty="0"/>
              </a:p>
              <a:p>
                <a:pPr>
                  <a:spcBef>
                    <a:spcPts val="1200"/>
                  </a:spcBef>
                  <a:spcAft>
                    <a:spcPts val="600"/>
                  </a:spcAft>
                </a:pPr>
                <a:r>
                  <a:rPr lang="en-US" dirty="0"/>
                  <a:t>How does this affect wages:</a:t>
                </a:r>
              </a:p>
              <a:p>
                <a:pPr marL="0" indent="0" algn="ctr">
                  <a:spcBef>
                    <a:spcPts val="1200"/>
                  </a:spcBef>
                  <a:spcAft>
                    <a:spcPts val="600"/>
                  </a:spcAft>
                  <a:buNone/>
                </a:pPr>
                <a14:m>
                  <m:oMath xmlns:m="http://schemas.openxmlformats.org/officeDocument/2006/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𝐴</m:t>
                        </m:r>
                      </m:den>
                    </m:f>
                    <m:r>
                      <a:rPr lang="en-US" b="0" i="1" smtClean="0">
                        <a:latin typeface="Cambria Math" panose="02040503050406030204" pitchFamily="18" charset="0"/>
                      </a:rPr>
                      <m:t>=</m:t>
                    </m:r>
                  </m:oMath>
                </a14:m>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b="0" i="1" smtClean="0">
                        <a:latin typeface="Cambria Math" panose="02040503050406030204" pitchFamily="18" charset="0"/>
                      </a:rPr>
                      <m:t>&gt;0</m:t>
                    </m:r>
                  </m:oMath>
                </a14:m>
                <a:endParaRPr lang="en-US" dirty="0"/>
              </a:p>
              <a:p>
                <a:pPr>
                  <a:spcBef>
                    <a:spcPts val="1200"/>
                  </a:spcBef>
                  <a:spcAft>
                    <a:spcPts val="600"/>
                  </a:spcAft>
                </a:pPr>
                <a:r>
                  <a:rPr lang="en-US" dirty="0"/>
                  <a:t>Better technology increases wages</a:t>
                </a:r>
              </a:p>
            </p:txBody>
          </p:sp>
        </mc:Choice>
        <mc:Fallback xmlns="">
          <p:sp>
            <p:nvSpPr>
              <p:cNvPr id="3" name="Content Placeholder 2">
                <a:extLst>
                  <a:ext uri="{FF2B5EF4-FFF2-40B4-BE49-F238E27FC236}">
                    <a16:creationId xmlns:a16="http://schemas.microsoft.com/office/drawing/2014/main" id="{1D64C8D9-1EE6-0327-B711-347B8D424ED5}"/>
                  </a:ext>
                </a:extLst>
              </p:cNvPr>
              <p:cNvSpPr>
                <a:spLocks noGrp="1" noRot="1" noChangeAspect="1" noMove="1" noResize="1" noEditPoints="1" noAdjustHandles="1" noChangeArrowheads="1" noChangeShapeType="1" noTextEdit="1"/>
              </p:cNvSpPr>
              <p:nvPr>
                <p:ph idx="1"/>
              </p:nvPr>
            </p:nvSpPr>
            <p:spPr>
              <a:blipFill>
                <a:blip r:embed="rId2"/>
                <a:stretch>
                  <a:fillRect l="-1278" t="-1752"/>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F0E566B-5C44-D33F-7C2F-4D10CC3E82D1}"/>
              </a:ext>
            </a:extLst>
          </p:cNvPr>
          <p:cNvSpPr>
            <a:spLocks noGrp="1"/>
          </p:cNvSpPr>
          <p:nvPr>
            <p:ph type="sldNum" sz="quarter" idx="12"/>
          </p:nvPr>
        </p:nvSpPr>
        <p:spPr/>
        <p:txBody>
          <a:bodyPr/>
          <a:lstStyle/>
          <a:p>
            <a:fld id="{BB3BE34B-9575-430D-9A41-469C30B8F0EA}" type="slidenum">
              <a:rPr lang="en-US" smtClean="0"/>
              <a:pPr/>
              <a:t>38</a:t>
            </a:fld>
            <a:endParaRPr lang="en-US"/>
          </a:p>
        </p:txBody>
      </p:sp>
    </p:spTree>
    <p:extLst>
      <p:ext uri="{BB962C8B-B14F-4D97-AF65-F5344CB8AC3E}">
        <p14:creationId xmlns:p14="http://schemas.microsoft.com/office/powerpoint/2010/main" val="317348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0EE0E2-ECF4-FD1B-4DAF-2CDAA36CD14B}"/>
              </a:ext>
            </a:extLst>
          </p:cNvPr>
          <p:cNvSpPr>
            <a:spLocks noGrp="1"/>
          </p:cNvSpPr>
          <p:nvPr>
            <p:ph type="title"/>
          </p:nvPr>
        </p:nvSpPr>
        <p:spPr/>
        <p:txBody>
          <a:bodyPr/>
          <a:lstStyle/>
          <a:p>
            <a:r>
              <a:rPr lang="en-US" dirty="0"/>
              <a:t>Labor Share in Our Model</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FA5887D8-D1C7-A097-DF7C-B2EF9C980ED4}"/>
                  </a:ext>
                </a:extLst>
              </p:cNvPr>
              <p:cNvSpPr>
                <a:spLocks noGrp="1"/>
              </p:cNvSpPr>
              <p:nvPr>
                <p:ph idx="1"/>
              </p:nvPr>
            </p:nvSpPr>
            <p:spPr>
              <a:xfrm>
                <a:off x="609600" y="1600202"/>
                <a:ext cx="10972800" cy="4756150"/>
              </a:xfrm>
            </p:spPr>
            <p:txBody>
              <a:bodyPr>
                <a:normAutofit/>
              </a:bodyPr>
              <a:lstStyle/>
              <a:p>
                <a:pPr>
                  <a:spcBef>
                    <a:spcPts val="1200"/>
                  </a:spcBef>
                </a:pPr>
                <a:r>
                  <a:rPr lang="en-US" dirty="0"/>
                  <a:t>Labor compensation is </a:t>
                </a:r>
                <a14:m>
                  <m:oMath xmlns:m="http://schemas.openxmlformats.org/officeDocument/2006/math">
                    <m:r>
                      <a:rPr lang="en-US" b="0" i="1" smtClean="0">
                        <a:latin typeface="Cambria Math" panose="02040503050406030204" pitchFamily="18" charset="0"/>
                      </a:rPr>
                      <m:t>𝑤𝐿</m:t>
                    </m:r>
                  </m:oMath>
                </a14:m>
                <a:r>
                  <a:rPr lang="en-US" dirty="0"/>
                  <a:t>. Labor share is </a:t>
                </a:r>
                <a14:m>
                  <m:oMath xmlns:m="http://schemas.openxmlformats.org/officeDocument/2006/math">
                    <m:r>
                      <a:rPr lang="en-US" b="0" i="1" smtClean="0">
                        <a:latin typeface="Cambria Math" panose="02040503050406030204" pitchFamily="18" charset="0"/>
                      </a:rPr>
                      <m:t>𝑤𝐿</m:t>
                    </m:r>
                    <m:r>
                      <a:rPr lang="en-US" b="0" i="1" smtClean="0">
                        <a:latin typeface="Cambria Math" panose="02040503050406030204" pitchFamily="18" charset="0"/>
                      </a:rPr>
                      <m:t>/</m:t>
                    </m:r>
                    <m:r>
                      <a:rPr lang="en-US" b="0" i="1" smtClean="0">
                        <a:latin typeface="Cambria Math" panose="02040503050406030204" pitchFamily="18" charset="0"/>
                      </a:rPr>
                      <m:t>𝑌</m:t>
                    </m:r>
                  </m:oMath>
                </a14:m>
                <a:r>
                  <a:rPr lang="en-US" dirty="0"/>
                  <a:t>.</a:t>
                </a:r>
              </a:p>
              <a:p>
                <a:pPr>
                  <a:spcBef>
                    <a:spcPts val="1200"/>
                  </a:spcBef>
                </a:pPr>
                <a:r>
                  <a:rPr lang="en-US" dirty="0"/>
                  <a:t>From labor demand curve we have</a:t>
                </a:r>
              </a:p>
              <a:p>
                <a:pPr marL="0" indent="0" algn="ctr">
                  <a:spcBef>
                    <a:spcPts val="1200"/>
                  </a:spcBef>
                  <a:buNone/>
                </a:pPr>
                <a14:m>
                  <m:oMathPara xmlns:m="http://schemas.openxmlformats.org/officeDocument/2006/math">
                    <m:oMath>
                      <m:r>
                        <a:rPr lang="en-US" b="0" i="1" smtClean="0">
                          <a:latin typeface="Cambria Math" panose="02040503050406030204" pitchFamily="18" charset="0"/>
                        </a:rPr>
                        <m:t>𝑤</m:t>
                      </m:r>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r>
                        <a:rPr lang="en-US" i="1">
                          <a:latin typeface="Cambria Math" panose="02040503050406030204" pitchFamily="18" charset="0"/>
                        </a:rPr>
                        <m:t>𝐴</m:t>
                      </m:r>
                      <m:sSup>
                        <m:sSupPr>
                          <m:ctrlPr>
                            <a:rPr lang="en-US" i="1">
                              <a:latin typeface="Cambria Math" panose="02040503050406030204" pitchFamily="18" charset="0"/>
                            </a:rPr>
                          </m:ctrlPr>
                        </m:sSupPr>
                        <m:e>
                          <m:r>
                            <a:rPr lang="en-US" i="1">
                              <a:latin typeface="Cambria Math" panose="02040503050406030204" pitchFamily="18" charset="0"/>
                            </a:rPr>
                            <m:t>𝐾</m:t>
                          </m:r>
                        </m:e>
                        <m:sup>
                          <m:r>
                            <a:rPr lang="en-US" i="1">
                              <a:latin typeface="Cambria Math" panose="02040503050406030204" pitchFamily="18" charset="0"/>
                            </a:rPr>
                            <m:t>𝑎</m:t>
                          </m:r>
                        </m:sup>
                      </m:sSup>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m:t>
                          </m:r>
                          <m:r>
                            <a:rPr lang="en-US" i="1">
                              <a:latin typeface="Cambria Math" panose="02040503050406030204" pitchFamily="18" charset="0"/>
                            </a:rPr>
                            <m:t>𝑎</m:t>
                          </m:r>
                        </m:sup>
                      </m:sSup>
                      <m:r>
                        <a:rPr lang="en-US" i="1">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f>
                        <m:fPr>
                          <m:ctrlPr>
                            <a:rPr lang="en-US" b="0" i="1" smtClean="0">
                              <a:latin typeface="Cambria Math" panose="02040503050406030204" pitchFamily="18" charset="0"/>
                            </a:rPr>
                          </m:ctrlPr>
                        </m:fPr>
                        <m:num>
                          <m:r>
                            <a:rPr lang="en-US" b="0" i="1" smtClean="0">
                              <a:latin typeface="Cambria Math" panose="02040503050406030204" pitchFamily="18" charset="0"/>
                            </a:rPr>
                            <m:t>𝑌</m:t>
                          </m:r>
                        </m:num>
                        <m:den>
                          <m:r>
                            <a:rPr lang="en-US" b="0" i="1" smtClean="0">
                              <a:latin typeface="Cambria Math" panose="02040503050406030204" pitchFamily="18" charset="0"/>
                            </a:rPr>
                            <m:t>𝐿</m:t>
                          </m:r>
                        </m:den>
                      </m:f>
                    </m:oMath>
                  </m:oMathPara>
                </a14:m>
                <a:endParaRPr lang="en-US" dirty="0"/>
              </a:p>
              <a:p>
                <a:pPr>
                  <a:spcBef>
                    <a:spcPts val="1200"/>
                  </a:spcBef>
                </a:pPr>
                <a:r>
                  <a:rPr lang="en-US" dirty="0"/>
                  <a:t>Multiplying through by </a:t>
                </a:r>
                <a14:m>
                  <m:oMath xmlns:m="http://schemas.openxmlformats.org/officeDocument/2006/math">
                    <m:r>
                      <a:rPr lang="en-US" b="0" i="1" smtClean="0">
                        <a:latin typeface="Cambria Math" panose="02040503050406030204" pitchFamily="18" charset="0"/>
                      </a:rPr>
                      <m:t>𝐿</m:t>
                    </m:r>
                  </m:oMath>
                </a14:m>
                <a:r>
                  <a:rPr lang="en-US" dirty="0"/>
                  <a:t> and dividing through by </a:t>
                </a:r>
                <a14:m>
                  <m:oMath xmlns:m="http://schemas.openxmlformats.org/officeDocument/2006/math">
                    <m:r>
                      <a:rPr lang="en-US" b="0" i="1" smtClean="0">
                        <a:latin typeface="Cambria Math" panose="02040503050406030204" pitchFamily="18" charset="0"/>
                      </a:rPr>
                      <m:t>𝑌</m:t>
                    </m:r>
                  </m:oMath>
                </a14:m>
                <a:endParaRPr lang="en-US" dirty="0"/>
              </a:p>
              <a:p>
                <a:pPr marL="0" indent="0" algn="ctr">
                  <a:spcBef>
                    <a:spcPts val="1200"/>
                  </a:spcBef>
                  <a:buNone/>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𝑤𝐿</m:t>
                          </m:r>
                        </m:num>
                        <m:den>
                          <m:r>
                            <a:rPr lang="en-US" b="0" i="1" smtClean="0">
                              <a:latin typeface="Cambria Math" panose="02040503050406030204" pitchFamily="18" charset="0"/>
                            </a:rPr>
                            <m:t>𝑌</m:t>
                          </m:r>
                        </m:den>
                      </m:f>
                      <m:r>
                        <a:rPr lang="en-US" b="0" i="1" smtClean="0">
                          <a:latin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oMath>
                  </m:oMathPara>
                </a14:m>
                <a:endParaRPr lang="en-US" dirty="0"/>
              </a:p>
              <a:p>
                <a:pPr>
                  <a:spcBef>
                    <a:spcPts val="1200"/>
                  </a:spcBef>
                </a:pPr>
                <a:r>
                  <a:rPr lang="en-US" dirty="0"/>
                  <a:t>Labor share is </a:t>
                </a:r>
                <a14:m>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𝑎</m:t>
                        </m:r>
                      </m:e>
                    </m:d>
                  </m:oMath>
                </a14:m>
                <a:endParaRPr lang="en-US" dirty="0"/>
              </a:p>
            </p:txBody>
          </p:sp>
        </mc:Choice>
        <mc:Fallback xmlns="">
          <p:sp>
            <p:nvSpPr>
              <p:cNvPr id="7" name="Content Placeholder 6">
                <a:extLst>
                  <a:ext uri="{FF2B5EF4-FFF2-40B4-BE49-F238E27FC236}">
                    <a16:creationId xmlns:a16="http://schemas.microsoft.com/office/drawing/2014/main" id="{FA5887D8-D1C7-A097-DF7C-B2EF9C980ED4}"/>
                  </a:ext>
                </a:extLst>
              </p:cNvPr>
              <p:cNvSpPr>
                <a:spLocks noGrp="1" noRot="1" noChangeAspect="1" noMove="1" noResize="1" noEditPoints="1" noAdjustHandles="1" noChangeArrowheads="1" noChangeShapeType="1" noTextEdit="1"/>
              </p:cNvSpPr>
              <p:nvPr>
                <p:ph idx="1"/>
              </p:nvPr>
            </p:nvSpPr>
            <p:spPr>
              <a:xfrm>
                <a:off x="609600" y="1600202"/>
                <a:ext cx="10972800" cy="4756150"/>
              </a:xfrm>
              <a:blipFill>
                <a:blip r:embed="rId2"/>
                <a:stretch>
                  <a:fillRect l="-1278" t="-153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2A533BA3-1E7A-C270-343E-8775105F1516}"/>
              </a:ext>
            </a:extLst>
          </p:cNvPr>
          <p:cNvSpPr>
            <a:spLocks noGrp="1"/>
          </p:cNvSpPr>
          <p:nvPr>
            <p:ph type="sldNum" sz="quarter" idx="12"/>
          </p:nvPr>
        </p:nvSpPr>
        <p:spPr/>
        <p:txBody>
          <a:bodyPr/>
          <a:lstStyle/>
          <a:p>
            <a:fld id="{BB3BE34B-9575-430D-9A41-469C30B8F0EA}" type="slidenum">
              <a:rPr lang="en-US" smtClean="0"/>
              <a:pPr/>
              <a:t>39</a:t>
            </a:fld>
            <a:endParaRPr lang="en-US"/>
          </a:p>
        </p:txBody>
      </p:sp>
    </p:spTree>
    <p:extLst>
      <p:ext uri="{BB962C8B-B14F-4D97-AF65-F5344CB8AC3E}">
        <p14:creationId xmlns:p14="http://schemas.microsoft.com/office/powerpoint/2010/main" val="262161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4CF71-422D-B445-AB01-6EB5DA2187D0}"/>
              </a:ext>
            </a:extLst>
          </p:cNvPr>
          <p:cNvSpPr>
            <a:spLocks noGrp="1"/>
          </p:cNvSpPr>
          <p:nvPr>
            <p:ph type="title"/>
          </p:nvPr>
        </p:nvSpPr>
        <p:spPr/>
        <p:txBody>
          <a:bodyPr/>
          <a:lstStyle/>
          <a:p>
            <a:r>
              <a:rPr lang="en-US" dirty="0"/>
              <a:t>Technology and Workers</a:t>
            </a:r>
          </a:p>
        </p:txBody>
      </p:sp>
      <p:sp>
        <p:nvSpPr>
          <p:cNvPr id="3" name="Content Placeholder 2">
            <a:extLst>
              <a:ext uri="{FF2B5EF4-FFF2-40B4-BE49-F238E27FC236}">
                <a16:creationId xmlns:a16="http://schemas.microsoft.com/office/drawing/2014/main" id="{72CCDD44-476A-C72C-7CB2-5C5FB24704B5}"/>
              </a:ext>
            </a:extLst>
          </p:cNvPr>
          <p:cNvSpPr>
            <a:spLocks noGrp="1"/>
          </p:cNvSpPr>
          <p:nvPr>
            <p:ph idx="1"/>
          </p:nvPr>
        </p:nvSpPr>
        <p:spPr>
          <a:xfrm>
            <a:off x="609600" y="1600201"/>
            <a:ext cx="10972800" cy="4756150"/>
          </a:xfrm>
        </p:spPr>
        <p:txBody>
          <a:bodyPr/>
          <a:lstStyle/>
          <a:p>
            <a:r>
              <a:rPr lang="en-US" dirty="0"/>
              <a:t>In our model, improved technology:</a:t>
            </a:r>
          </a:p>
          <a:p>
            <a:pPr lvl="1"/>
            <a:r>
              <a:rPr lang="en-US" dirty="0"/>
              <a:t>Raises wages</a:t>
            </a:r>
          </a:p>
          <a:p>
            <a:pPr lvl="1"/>
            <a:r>
              <a:rPr lang="en-US" dirty="0"/>
              <a:t>Does not affect the labor share of income</a:t>
            </a:r>
          </a:p>
          <a:p>
            <a:r>
              <a:rPr lang="en-US" dirty="0"/>
              <a:t>Workers share (proportionately) in benefits of technical change</a:t>
            </a:r>
          </a:p>
          <a:p>
            <a:endParaRPr lang="en-US" dirty="0"/>
          </a:p>
          <a:p>
            <a:r>
              <a:rPr lang="en-US" dirty="0"/>
              <a:t>Our model is unable to make contact with common anxiety about effects of technology on workers</a:t>
            </a:r>
          </a:p>
          <a:p>
            <a:r>
              <a:rPr lang="en-US" dirty="0"/>
              <a:t>Model might (of course) be wrong</a:t>
            </a:r>
          </a:p>
        </p:txBody>
      </p:sp>
      <p:sp>
        <p:nvSpPr>
          <p:cNvPr id="4" name="Slide Number Placeholder 3">
            <a:extLst>
              <a:ext uri="{FF2B5EF4-FFF2-40B4-BE49-F238E27FC236}">
                <a16:creationId xmlns:a16="http://schemas.microsoft.com/office/drawing/2014/main" id="{28B25ABB-8197-6EE2-EDE4-AC83E60275B7}"/>
              </a:ext>
            </a:extLst>
          </p:cNvPr>
          <p:cNvSpPr>
            <a:spLocks noGrp="1"/>
          </p:cNvSpPr>
          <p:nvPr>
            <p:ph type="sldNum" sz="quarter" idx="12"/>
          </p:nvPr>
        </p:nvSpPr>
        <p:spPr/>
        <p:txBody>
          <a:bodyPr/>
          <a:lstStyle/>
          <a:p>
            <a:fld id="{BB3BE34B-9575-430D-9A41-469C30B8F0EA}" type="slidenum">
              <a:rPr lang="en-US" smtClean="0"/>
              <a:pPr/>
              <a:t>40</a:t>
            </a:fld>
            <a:endParaRPr lang="en-US"/>
          </a:p>
        </p:txBody>
      </p:sp>
    </p:spTree>
    <p:extLst>
      <p:ext uri="{BB962C8B-B14F-4D97-AF65-F5344CB8AC3E}">
        <p14:creationId xmlns:p14="http://schemas.microsoft.com/office/powerpoint/2010/main" val="179750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8203E-77B0-87CE-959B-AF9B0219DE32}"/>
              </a:ext>
            </a:extLst>
          </p:cNvPr>
          <p:cNvSpPr>
            <a:spLocks noGrp="1"/>
          </p:cNvSpPr>
          <p:nvPr>
            <p:ph type="title"/>
          </p:nvPr>
        </p:nvSpPr>
        <p:spPr/>
        <p:txBody>
          <a:bodyPr/>
          <a:lstStyle/>
          <a:p>
            <a:r>
              <a:rPr lang="en-US" dirty="0"/>
              <a:t>Why a Cobb-Douglas Production Function?</a:t>
            </a:r>
          </a:p>
        </p:txBody>
      </p:sp>
      <p:sp>
        <p:nvSpPr>
          <p:cNvPr id="3" name="Content Placeholder 2">
            <a:extLst>
              <a:ext uri="{FF2B5EF4-FFF2-40B4-BE49-F238E27FC236}">
                <a16:creationId xmlns:a16="http://schemas.microsoft.com/office/drawing/2014/main" id="{F7B2F39E-2E9E-6FAC-020A-C03C8B5BB8CD}"/>
              </a:ext>
            </a:extLst>
          </p:cNvPr>
          <p:cNvSpPr>
            <a:spLocks noGrp="1"/>
          </p:cNvSpPr>
          <p:nvPr>
            <p:ph sz="half" idx="1"/>
          </p:nvPr>
        </p:nvSpPr>
        <p:spPr>
          <a:xfrm>
            <a:off x="228600" y="1600200"/>
            <a:ext cx="5181599" cy="4756151"/>
          </a:xfrm>
        </p:spPr>
        <p:txBody>
          <a:bodyPr/>
          <a:lstStyle/>
          <a:p>
            <a:r>
              <a:rPr lang="en-US" dirty="0"/>
              <a:t>Cobb-Douglas is tractable</a:t>
            </a:r>
          </a:p>
          <a:p>
            <a:r>
              <a:rPr lang="en-US" dirty="0"/>
              <a:t>Arguably more important that Cobb-Douglas implies constant labor share</a:t>
            </a:r>
          </a:p>
          <a:p>
            <a:r>
              <a:rPr lang="en-US" dirty="0"/>
              <a:t>Labor </a:t>
            </a:r>
            <a:r>
              <a:rPr lang="en-US"/>
              <a:t>share has </a:t>
            </a:r>
            <a:r>
              <a:rPr lang="en-US" dirty="0"/>
              <a:t>in fact been remarkably close to constant since WWII</a:t>
            </a:r>
          </a:p>
        </p:txBody>
      </p:sp>
      <p:sp>
        <p:nvSpPr>
          <p:cNvPr id="4" name="Slide Number Placeholder 3">
            <a:extLst>
              <a:ext uri="{FF2B5EF4-FFF2-40B4-BE49-F238E27FC236}">
                <a16:creationId xmlns:a16="http://schemas.microsoft.com/office/drawing/2014/main" id="{809CD9D1-FCF8-2AED-CAA6-430A658A9E99}"/>
              </a:ext>
            </a:extLst>
          </p:cNvPr>
          <p:cNvSpPr>
            <a:spLocks noGrp="1"/>
          </p:cNvSpPr>
          <p:nvPr>
            <p:ph type="sldNum" sz="quarter" idx="12"/>
          </p:nvPr>
        </p:nvSpPr>
        <p:spPr/>
        <p:txBody>
          <a:bodyPr/>
          <a:lstStyle/>
          <a:p>
            <a:fld id="{BB3BE34B-9575-430D-9A41-469C30B8F0EA}" type="slidenum">
              <a:rPr lang="en-US" smtClean="0"/>
              <a:pPr/>
              <a:t>41</a:t>
            </a:fld>
            <a:endParaRPr lang="en-US"/>
          </a:p>
        </p:txBody>
      </p:sp>
      <p:pic>
        <p:nvPicPr>
          <p:cNvPr id="14" name="Content Placeholder 13" descr="A line graph of a graph&#10;&#10;AI-generated content may be incorrect.">
            <a:extLst>
              <a:ext uri="{FF2B5EF4-FFF2-40B4-BE49-F238E27FC236}">
                <a16:creationId xmlns:a16="http://schemas.microsoft.com/office/drawing/2014/main" id="{36D52F02-FAEE-0297-519A-F032025E5D4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311205" y="1295400"/>
            <a:ext cx="6423595" cy="5073412"/>
          </a:xfrm>
        </p:spPr>
      </p:pic>
    </p:spTree>
    <p:extLst>
      <p:ext uri="{BB962C8B-B14F-4D97-AF65-F5344CB8AC3E}">
        <p14:creationId xmlns:p14="http://schemas.microsoft.com/office/powerpoint/2010/main" val="319373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5F882-B86B-87F9-D7BA-44D972CF32E9}"/>
              </a:ext>
            </a:extLst>
          </p:cNvPr>
          <p:cNvSpPr>
            <a:spLocks noGrp="1"/>
          </p:cNvSpPr>
          <p:nvPr>
            <p:ph type="title"/>
          </p:nvPr>
        </p:nvSpPr>
        <p:spPr/>
        <p:txBody>
          <a:bodyPr/>
          <a:lstStyle/>
          <a:p>
            <a:r>
              <a:rPr lang="en-US" dirty="0"/>
              <a:t>Worries about Labor-Saving Technology</a:t>
            </a:r>
          </a:p>
        </p:txBody>
      </p:sp>
      <p:sp>
        <p:nvSpPr>
          <p:cNvPr id="5" name="Slide Number Placeholder 4">
            <a:extLst>
              <a:ext uri="{FF2B5EF4-FFF2-40B4-BE49-F238E27FC236}">
                <a16:creationId xmlns:a16="http://schemas.microsoft.com/office/drawing/2014/main" id="{54740481-0B34-17DF-C0B6-CAC37B82B325}"/>
              </a:ext>
            </a:extLst>
          </p:cNvPr>
          <p:cNvSpPr>
            <a:spLocks noGrp="1"/>
          </p:cNvSpPr>
          <p:nvPr>
            <p:ph type="sldNum" sz="quarter" idx="12"/>
          </p:nvPr>
        </p:nvSpPr>
        <p:spPr/>
        <p:txBody>
          <a:bodyPr/>
          <a:lstStyle/>
          <a:p>
            <a:fld id="{BB3BE34B-9575-430D-9A41-469C30B8F0EA}" type="slidenum">
              <a:rPr lang="en-US" smtClean="0"/>
              <a:pPr/>
              <a:t>42</a:t>
            </a:fld>
            <a:endParaRPr lang="en-US"/>
          </a:p>
        </p:txBody>
      </p:sp>
      <p:pic>
        <p:nvPicPr>
          <p:cNvPr id="11" name="Content Placeholder 10" descr="A graph showing the number of horses and mules&#10;&#10;AI-generated content may be incorrect.">
            <a:extLst>
              <a:ext uri="{FF2B5EF4-FFF2-40B4-BE49-F238E27FC236}">
                <a16:creationId xmlns:a16="http://schemas.microsoft.com/office/drawing/2014/main" id="{B0AB1F77-C0D3-D4D5-A422-47FEC2E4945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257800" y="1544063"/>
            <a:ext cx="6532342" cy="4812288"/>
          </a:xfrm>
        </p:spPr>
      </p:pic>
      <p:sp>
        <p:nvSpPr>
          <p:cNvPr id="3" name="Content Placeholder 2">
            <a:extLst>
              <a:ext uri="{FF2B5EF4-FFF2-40B4-BE49-F238E27FC236}">
                <a16:creationId xmlns:a16="http://schemas.microsoft.com/office/drawing/2014/main" id="{3F71C5FF-C2FA-0230-1E44-7A43BB2BC1C8}"/>
              </a:ext>
            </a:extLst>
          </p:cNvPr>
          <p:cNvSpPr>
            <a:spLocks noGrp="1"/>
          </p:cNvSpPr>
          <p:nvPr>
            <p:ph sz="half" idx="1"/>
          </p:nvPr>
        </p:nvSpPr>
        <p:spPr>
          <a:xfrm>
            <a:off x="381000" y="1600199"/>
            <a:ext cx="5384800" cy="4525963"/>
          </a:xfrm>
        </p:spPr>
        <p:txBody>
          <a:bodyPr/>
          <a:lstStyle/>
          <a:p>
            <a:r>
              <a:rPr lang="en-US" dirty="0"/>
              <a:t>Worries ever since Industrial Revolution that machines will take our jobs</a:t>
            </a:r>
          </a:p>
          <a:p>
            <a:r>
              <a:rPr lang="en-US" dirty="0"/>
              <a:t>Labor share constant despite huge amounts of labor-saving technology</a:t>
            </a:r>
          </a:p>
          <a:p>
            <a:r>
              <a:rPr lang="en-US" dirty="0"/>
              <a:t>Stark contrast with horses</a:t>
            </a:r>
          </a:p>
          <a:p>
            <a:r>
              <a:rPr lang="en-US" dirty="0"/>
              <a:t>But is our luck about to run out?</a:t>
            </a:r>
          </a:p>
        </p:txBody>
      </p:sp>
    </p:spTree>
    <p:extLst>
      <p:ext uri="{BB962C8B-B14F-4D97-AF65-F5344CB8AC3E}">
        <p14:creationId xmlns:p14="http://schemas.microsoft.com/office/powerpoint/2010/main" val="396203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CFEF3-CD05-4E09-E37B-E740E33E53A8}"/>
              </a:ext>
            </a:extLst>
          </p:cNvPr>
          <p:cNvSpPr>
            <a:spLocks noGrp="1"/>
          </p:cNvSpPr>
          <p:nvPr>
            <p:ph type="title"/>
          </p:nvPr>
        </p:nvSpPr>
        <p:spPr/>
        <p:txBody>
          <a:bodyPr/>
          <a:lstStyle/>
          <a:p>
            <a:r>
              <a:rPr lang="en-US" dirty="0"/>
              <a:t>Is the Labor Share Falling?</a:t>
            </a:r>
          </a:p>
        </p:txBody>
      </p:sp>
      <p:sp>
        <p:nvSpPr>
          <p:cNvPr id="3" name="Content Placeholder 2">
            <a:extLst>
              <a:ext uri="{FF2B5EF4-FFF2-40B4-BE49-F238E27FC236}">
                <a16:creationId xmlns:a16="http://schemas.microsoft.com/office/drawing/2014/main" id="{BEC51915-09AF-D1AD-EA44-4761BAE9BB0F}"/>
              </a:ext>
            </a:extLst>
          </p:cNvPr>
          <p:cNvSpPr>
            <a:spLocks noGrp="1"/>
          </p:cNvSpPr>
          <p:nvPr>
            <p:ph sz="half" idx="1"/>
          </p:nvPr>
        </p:nvSpPr>
        <p:spPr>
          <a:xfrm>
            <a:off x="304800" y="1624013"/>
            <a:ext cx="4419600" cy="4525963"/>
          </a:xfrm>
        </p:spPr>
        <p:txBody>
          <a:bodyPr/>
          <a:lstStyle/>
          <a:p>
            <a:r>
              <a:rPr lang="en-US" dirty="0"/>
              <a:t>Closer looks reveals downward trend in labor share</a:t>
            </a:r>
          </a:p>
          <a:p>
            <a:endParaRPr lang="en-US" dirty="0"/>
          </a:p>
          <a:p>
            <a:r>
              <a:rPr lang="en-US" dirty="0"/>
              <a:t>Are machines finally doing us in?</a:t>
            </a:r>
          </a:p>
        </p:txBody>
      </p:sp>
      <p:pic>
        <p:nvPicPr>
          <p:cNvPr id="7" name="Content Placeholder 6" descr="A line graph showing the growth of a company&#10;&#10;AI-generated content may be incorrect.">
            <a:extLst>
              <a:ext uri="{FF2B5EF4-FFF2-40B4-BE49-F238E27FC236}">
                <a16:creationId xmlns:a16="http://schemas.microsoft.com/office/drawing/2014/main" id="{D772ECA9-C9A3-3BDF-6A71-52DCDAD1C73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953000" y="1513957"/>
            <a:ext cx="6858000" cy="4952448"/>
          </a:xfrm>
        </p:spPr>
      </p:pic>
      <p:sp>
        <p:nvSpPr>
          <p:cNvPr id="5" name="Slide Number Placeholder 4">
            <a:extLst>
              <a:ext uri="{FF2B5EF4-FFF2-40B4-BE49-F238E27FC236}">
                <a16:creationId xmlns:a16="http://schemas.microsoft.com/office/drawing/2014/main" id="{B4976930-2925-204A-BA15-E3D4DF265190}"/>
              </a:ext>
            </a:extLst>
          </p:cNvPr>
          <p:cNvSpPr>
            <a:spLocks noGrp="1"/>
          </p:cNvSpPr>
          <p:nvPr>
            <p:ph type="sldNum" sz="quarter" idx="12"/>
          </p:nvPr>
        </p:nvSpPr>
        <p:spPr/>
        <p:txBody>
          <a:bodyPr/>
          <a:lstStyle/>
          <a:p>
            <a:fld id="{BB3BE34B-9575-430D-9A41-469C30B8F0EA}" type="slidenum">
              <a:rPr lang="en-US" smtClean="0"/>
              <a:pPr/>
              <a:t>43</a:t>
            </a:fld>
            <a:endParaRPr lang="en-US"/>
          </a:p>
        </p:txBody>
      </p:sp>
    </p:spTree>
    <p:extLst>
      <p:ext uri="{BB962C8B-B14F-4D97-AF65-F5344CB8AC3E}">
        <p14:creationId xmlns:p14="http://schemas.microsoft.com/office/powerpoint/2010/main" val="4135243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8BDC9-8452-90A4-A20C-84D65CFD24A3}"/>
              </a:ext>
            </a:extLst>
          </p:cNvPr>
          <p:cNvSpPr>
            <a:spLocks noGrp="1"/>
          </p:cNvSpPr>
          <p:nvPr>
            <p:ph type="title"/>
          </p:nvPr>
        </p:nvSpPr>
        <p:spPr/>
        <p:txBody>
          <a:bodyPr/>
          <a:lstStyle/>
          <a:p>
            <a:r>
              <a:rPr lang="en-US" dirty="0"/>
              <a:t>Is the Labor Share Falling?</a:t>
            </a:r>
          </a:p>
        </p:txBody>
      </p:sp>
      <p:pic>
        <p:nvPicPr>
          <p:cNvPr id="7" name="Content Placeholder 6" descr="A graph showing the difference between labor and labor share&#10;&#10;AI-generated content may be incorrect.">
            <a:extLst>
              <a:ext uri="{FF2B5EF4-FFF2-40B4-BE49-F238E27FC236}">
                <a16:creationId xmlns:a16="http://schemas.microsoft.com/office/drawing/2014/main" id="{C7F00E53-C1EA-8440-BC59-CAAA503ACB8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715000" y="1444819"/>
            <a:ext cx="6306483" cy="4803581"/>
          </a:xfrm>
        </p:spPr>
      </p:pic>
      <p:sp>
        <p:nvSpPr>
          <p:cNvPr id="5" name="Slide Number Placeholder 4">
            <a:extLst>
              <a:ext uri="{FF2B5EF4-FFF2-40B4-BE49-F238E27FC236}">
                <a16:creationId xmlns:a16="http://schemas.microsoft.com/office/drawing/2014/main" id="{10CB20DD-B4A5-82D1-DABF-9DB9B7ED26EA}"/>
              </a:ext>
            </a:extLst>
          </p:cNvPr>
          <p:cNvSpPr>
            <a:spLocks noGrp="1"/>
          </p:cNvSpPr>
          <p:nvPr>
            <p:ph type="sldNum" sz="quarter" idx="12"/>
          </p:nvPr>
        </p:nvSpPr>
        <p:spPr/>
        <p:txBody>
          <a:bodyPr/>
          <a:lstStyle/>
          <a:p>
            <a:fld id="{BB3BE34B-9575-430D-9A41-469C30B8F0EA}" type="slidenum">
              <a:rPr lang="en-US" smtClean="0"/>
              <a:pPr/>
              <a:t>44</a:t>
            </a:fld>
            <a:endParaRPr lang="en-US"/>
          </a:p>
        </p:txBody>
      </p:sp>
      <p:sp>
        <p:nvSpPr>
          <p:cNvPr id="3" name="Content Placeholder 2">
            <a:extLst>
              <a:ext uri="{FF2B5EF4-FFF2-40B4-BE49-F238E27FC236}">
                <a16:creationId xmlns:a16="http://schemas.microsoft.com/office/drawing/2014/main" id="{EC29976D-774C-37C4-B686-AD7DC8C276F9}"/>
              </a:ext>
            </a:extLst>
          </p:cNvPr>
          <p:cNvSpPr>
            <a:spLocks noGrp="1"/>
          </p:cNvSpPr>
          <p:nvPr>
            <p:ph sz="half" idx="1"/>
          </p:nvPr>
        </p:nvSpPr>
        <p:spPr>
          <a:xfrm>
            <a:off x="170517" y="1624013"/>
            <a:ext cx="5849283" cy="4803581"/>
          </a:xfrm>
        </p:spPr>
        <p:txBody>
          <a:bodyPr/>
          <a:lstStyle/>
          <a:p>
            <a:r>
              <a:rPr lang="en-US" dirty="0"/>
              <a:t>Recent research has argued that apparent fall in labor share is partly due to mismeasurement</a:t>
            </a:r>
          </a:p>
          <a:p>
            <a:r>
              <a:rPr lang="en-US" dirty="0"/>
              <a:t>Labor share using pre-1999 methods has not fallen</a:t>
            </a:r>
          </a:p>
          <a:p>
            <a:r>
              <a:rPr lang="en-US" dirty="0"/>
              <a:t>Difference: Reclassification of intellectual property as capital</a:t>
            </a:r>
          </a:p>
          <a:p>
            <a:r>
              <a:rPr lang="en-US" dirty="0"/>
              <a:t>But aren’t the new methods better?</a:t>
            </a:r>
          </a:p>
          <a:p>
            <a:endParaRPr lang="en-US" dirty="0"/>
          </a:p>
        </p:txBody>
      </p:sp>
    </p:spTree>
    <p:extLst>
      <p:ext uri="{BB962C8B-B14F-4D97-AF65-F5344CB8AC3E}">
        <p14:creationId xmlns:p14="http://schemas.microsoft.com/office/powerpoint/2010/main" val="2967313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95ED603-E40C-D91C-EA7E-2C8E7161B191}"/>
              </a:ext>
            </a:extLst>
          </p:cNvPr>
          <p:cNvSpPr>
            <a:spLocks noGrp="1"/>
          </p:cNvSpPr>
          <p:nvPr>
            <p:ph type="title"/>
          </p:nvPr>
        </p:nvSpPr>
        <p:spPr/>
        <p:txBody>
          <a:bodyPr/>
          <a:lstStyle/>
          <a:p>
            <a:r>
              <a:rPr lang="en-US" dirty="0"/>
              <a:t>Is Labor Share Falling?</a:t>
            </a:r>
          </a:p>
        </p:txBody>
      </p:sp>
      <p:sp>
        <p:nvSpPr>
          <p:cNvPr id="7" name="Content Placeholder 6">
            <a:extLst>
              <a:ext uri="{FF2B5EF4-FFF2-40B4-BE49-F238E27FC236}">
                <a16:creationId xmlns:a16="http://schemas.microsoft.com/office/drawing/2014/main" id="{03FD50FA-123B-CA71-9EAE-F443D20C409D}"/>
              </a:ext>
            </a:extLst>
          </p:cNvPr>
          <p:cNvSpPr>
            <a:spLocks noGrp="1"/>
          </p:cNvSpPr>
          <p:nvPr>
            <p:ph idx="1"/>
          </p:nvPr>
        </p:nvSpPr>
        <p:spPr>
          <a:xfrm>
            <a:off x="609600" y="1600201"/>
            <a:ext cx="10972800" cy="5257799"/>
          </a:xfrm>
        </p:spPr>
        <p:txBody>
          <a:bodyPr>
            <a:normAutofit lnSpcReduction="10000"/>
          </a:bodyPr>
          <a:lstStyle/>
          <a:p>
            <a:r>
              <a:rPr lang="en-US" dirty="0"/>
              <a:t>We are interested in welfare of workers and owners of capital</a:t>
            </a:r>
          </a:p>
          <a:p>
            <a:pPr lvl="1"/>
            <a:r>
              <a:rPr lang="en-US" dirty="0"/>
              <a:t>How much they can afford to consume</a:t>
            </a:r>
          </a:p>
          <a:p>
            <a:r>
              <a:rPr lang="en-US" dirty="0"/>
              <a:t>GDP not appropriate for this:</a:t>
            </a:r>
          </a:p>
          <a:p>
            <a:pPr lvl="1"/>
            <a:r>
              <a:rPr lang="en-US" dirty="0"/>
              <a:t>Owners of capital must maintain capital (can’t consumer that part)</a:t>
            </a:r>
          </a:p>
          <a:p>
            <a:pPr lvl="1"/>
            <a:r>
              <a:rPr lang="en-US" dirty="0"/>
              <a:t>Must also build new capital (can’t consume that part)</a:t>
            </a:r>
          </a:p>
          <a:p>
            <a:r>
              <a:rPr lang="en-US" dirty="0"/>
              <a:t>Net domestic product (NDP) more appropriate for </a:t>
            </a:r>
            <a:br>
              <a:rPr lang="en-US" dirty="0"/>
            </a:br>
            <a:r>
              <a:rPr lang="en-US" dirty="0"/>
              <a:t>labor share calculations (takes out depreciation)</a:t>
            </a:r>
          </a:p>
          <a:p>
            <a:r>
              <a:rPr lang="en-US" dirty="0"/>
              <a:t>Role of high depreciation capital has been increasing</a:t>
            </a:r>
            <a:br>
              <a:rPr lang="en-US" dirty="0"/>
            </a:br>
            <a:r>
              <a:rPr lang="en-US" dirty="0"/>
              <a:t>(e.g., software) which helps explain downward trend for labor share of GDP</a:t>
            </a:r>
          </a:p>
          <a:p>
            <a:endParaRPr lang="en-US" dirty="0"/>
          </a:p>
          <a:p>
            <a:endParaRPr lang="en-US" dirty="0"/>
          </a:p>
        </p:txBody>
      </p:sp>
      <p:sp>
        <p:nvSpPr>
          <p:cNvPr id="5" name="Slide Number Placeholder 4">
            <a:extLst>
              <a:ext uri="{FF2B5EF4-FFF2-40B4-BE49-F238E27FC236}">
                <a16:creationId xmlns:a16="http://schemas.microsoft.com/office/drawing/2014/main" id="{E0CC3557-B373-5DF3-3075-DE35A1EB9D59}"/>
              </a:ext>
            </a:extLst>
          </p:cNvPr>
          <p:cNvSpPr>
            <a:spLocks noGrp="1"/>
          </p:cNvSpPr>
          <p:nvPr>
            <p:ph type="sldNum" sz="quarter" idx="12"/>
          </p:nvPr>
        </p:nvSpPr>
        <p:spPr/>
        <p:txBody>
          <a:bodyPr/>
          <a:lstStyle/>
          <a:p>
            <a:fld id="{BB3BE34B-9575-430D-9A41-469C30B8F0EA}" type="slidenum">
              <a:rPr lang="en-US" smtClean="0"/>
              <a:pPr/>
              <a:t>45</a:t>
            </a:fld>
            <a:endParaRPr lang="en-US"/>
          </a:p>
        </p:txBody>
      </p:sp>
    </p:spTree>
    <p:extLst>
      <p:ext uri="{BB962C8B-B14F-4D97-AF65-F5344CB8AC3E}">
        <p14:creationId xmlns:p14="http://schemas.microsoft.com/office/powerpoint/2010/main" val="381695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469F9-02BB-8E00-2AAB-60A6956A410B}"/>
              </a:ext>
            </a:extLst>
          </p:cNvPr>
          <p:cNvSpPr>
            <a:spLocks noGrp="1"/>
          </p:cNvSpPr>
          <p:nvPr>
            <p:ph type="title"/>
          </p:nvPr>
        </p:nvSpPr>
        <p:spPr/>
        <p:txBody>
          <a:bodyPr/>
          <a:lstStyle/>
          <a:p>
            <a:r>
              <a:rPr lang="en-US" dirty="0"/>
              <a:t>Better and Cheaper Machines?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09D1E3-4D95-D1A2-30F3-4A7A68090589}"/>
                  </a:ext>
                </a:extLst>
              </p:cNvPr>
              <p:cNvSpPr>
                <a:spLocks noGrp="1"/>
              </p:cNvSpPr>
              <p:nvPr>
                <p:ph idx="1"/>
              </p:nvPr>
            </p:nvSpPr>
            <p:spPr>
              <a:xfrm>
                <a:off x="609600" y="1600201"/>
                <a:ext cx="10972800" cy="4876799"/>
              </a:xfrm>
            </p:spPr>
            <p:txBody>
              <a:bodyPr/>
              <a:lstStyle/>
              <a:p>
                <a:r>
                  <a:rPr lang="en-US" dirty="0"/>
                  <a:t>One reason why labor share may be falling: better or cheaper machines</a:t>
                </a:r>
              </a:p>
              <a:p>
                <a:r>
                  <a:rPr lang="en-US" dirty="0"/>
                  <a:t>Doesn’t work with Cobb-Douglas production function</a:t>
                </a:r>
              </a:p>
              <a:p>
                <a:pPr marL="0" indent="0" algn="ctr">
                  <a:buNone/>
                </a:pPr>
                <a14:m>
                  <m:oMathPara xmlns:m="http://schemas.openxmlformats.org/officeDocument/2006/math">
                    <m:oMath>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𝑧𝐾</m:t>
                              </m:r>
                            </m:e>
                          </m:d>
                        </m:e>
                        <m:sup>
                          <m:r>
                            <a:rPr lang="en-US" b="0" i="1" smtClean="0">
                              <a:latin typeface="Cambria Math" panose="02040503050406030204" pitchFamily="18" charset="0"/>
                            </a:rPr>
                            <m:t>𝑎</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oMath>
                  </m:oMathPara>
                </a14:m>
                <a:endParaRPr lang="en-US" b="0" dirty="0"/>
              </a:p>
              <a:p>
                <a:r>
                  <a:rPr lang="en-US" dirty="0"/>
                  <a:t>In this case:</a:t>
                </a:r>
              </a:p>
              <a:p>
                <a:pPr marL="0" indent="0" algn="ctr">
                  <a:buNone/>
                </a:pPr>
                <a14:m>
                  <m:oMathPara xmlns:m="http://schemas.openxmlformats.org/officeDocument/2006/math">
                    <m:o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𝑧</m:t>
                          </m:r>
                        </m:e>
                        <m:sup>
                          <m:r>
                            <a:rPr lang="en-US" b="0" i="1" smtClean="0">
                              <a:latin typeface="Cambria Math" panose="02040503050406030204" pitchFamily="18" charset="0"/>
                            </a:rPr>
                            <m:t>𝑎</m:t>
                          </m:r>
                        </m:sup>
                      </m:sSup>
                      <m:r>
                        <a:rPr lang="en-US" b="0" i="1" smtClean="0">
                          <a:latin typeface="Cambria Math" panose="02040503050406030204" pitchFamily="18" charset="0"/>
                        </a:rPr>
                        <m:t>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𝑎</m:t>
                          </m:r>
                          <m:r>
                            <a:rPr lang="en-US" b="0" i="1" smtClean="0">
                              <a:latin typeface="Cambria Math" panose="02040503050406030204" pitchFamily="18" charset="0"/>
                            </a:rPr>
                            <m:t>−1</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1−</m:t>
                          </m:r>
                          <m:r>
                            <a:rPr lang="en-US" b="0" i="1" smtClean="0">
                              <a:latin typeface="Cambria Math" panose="02040503050406030204" pitchFamily="18" charset="0"/>
                            </a:rPr>
                            <m:t>𝑎</m:t>
                          </m:r>
                        </m:sup>
                      </m:sSup>
                      <m:r>
                        <a:rPr lang="en-US" b="0" i="1" smtClean="0">
                          <a:latin typeface="Cambria Math" panose="02040503050406030204" pitchFamily="18" charset="0"/>
                        </a:rPr>
                        <m:t>=</m:t>
                      </m:r>
                      <m:r>
                        <a:rPr lang="en-US" b="0" i="1" smtClean="0">
                          <a:latin typeface="Cambria Math" panose="02040503050406030204" pitchFamily="18" charset="0"/>
                        </a:rPr>
                        <m:t>𝑎</m:t>
                      </m:r>
                      <m:f>
                        <m:fPr>
                          <m:ctrlPr>
                            <a:rPr lang="en-US" b="0" i="1" smtClean="0">
                              <a:latin typeface="Cambria Math" panose="02040503050406030204" pitchFamily="18" charset="0"/>
                            </a:rPr>
                          </m:ctrlPr>
                        </m:fPr>
                        <m:num>
                          <m:r>
                            <a:rPr lang="en-US" b="0" i="1" smtClean="0">
                              <a:latin typeface="Cambria Math" panose="02040503050406030204" pitchFamily="18" charset="0"/>
                            </a:rPr>
                            <m:t>𝑌</m:t>
                          </m:r>
                        </m:num>
                        <m:den>
                          <m:r>
                            <a:rPr lang="en-US" b="0" i="1" smtClean="0">
                              <a:latin typeface="Cambria Math" panose="02040503050406030204" pitchFamily="18" charset="0"/>
                            </a:rPr>
                            <m:t>𝐾</m:t>
                          </m:r>
                        </m:den>
                      </m:f>
                    </m:oMath>
                  </m:oMathPara>
                </a14:m>
                <a:endParaRPr lang="en-US" dirty="0"/>
              </a:p>
              <a:p>
                <a:pPr marL="0" indent="0" algn="ctr">
                  <a:buNone/>
                </a:pPr>
                <a14:m>
                  <m:oMathPara xmlns:m="http://schemas.openxmlformats.org/officeDocument/2006/math">
                    <m:oMath>
                      <m:r>
                        <a:rPr lang="en-US" b="0" i="1" smtClean="0">
                          <a:latin typeface="Cambria Math" panose="02040503050406030204" pitchFamily="18" charset="0"/>
                        </a:rPr>
                        <m:t>𝑟𝐾</m:t>
                      </m:r>
                      <m:r>
                        <a:rPr lang="en-US" b="0" i="1" smtClean="0">
                          <a:latin typeface="Cambria Math" panose="02040503050406030204" pitchFamily="18" charset="0"/>
                        </a:rPr>
                        <m:t>=</m:t>
                      </m:r>
                      <m:r>
                        <a:rPr lang="en-US" b="0" i="1" smtClean="0">
                          <a:latin typeface="Cambria Math" panose="02040503050406030204" pitchFamily="18" charset="0"/>
                        </a:rPr>
                        <m:t>𝑎𝑌</m:t>
                      </m:r>
                    </m:oMath>
                  </m:oMathPara>
                </a14:m>
                <a:endParaRPr lang="en-US" dirty="0"/>
              </a:p>
              <a:p>
                <a:r>
                  <a:rPr lang="en-US" dirty="0"/>
                  <a:t>Labor share independent of </a:t>
                </a:r>
                <a14:m>
                  <m:oMath xmlns:m="http://schemas.openxmlformats.org/officeDocument/2006/math">
                    <m:r>
                      <a:rPr lang="en-US" b="0" i="1" smtClean="0">
                        <a:latin typeface="Cambria Math" panose="02040503050406030204" pitchFamily="18" charset="0"/>
                      </a:rPr>
                      <m:t>𝑧</m:t>
                    </m:r>
                  </m:oMath>
                </a14:m>
                <a:endParaRPr lang="en-US" b="0" dirty="0"/>
              </a:p>
              <a:p>
                <a:endParaRPr lang="en-US" dirty="0"/>
              </a:p>
            </p:txBody>
          </p:sp>
        </mc:Choice>
        <mc:Fallback xmlns="">
          <p:sp>
            <p:nvSpPr>
              <p:cNvPr id="3" name="Content Placeholder 2">
                <a:extLst>
                  <a:ext uri="{FF2B5EF4-FFF2-40B4-BE49-F238E27FC236}">
                    <a16:creationId xmlns:a16="http://schemas.microsoft.com/office/drawing/2014/main" id="{4209D1E3-4D95-D1A2-30F3-4A7A68090589}"/>
                  </a:ext>
                </a:extLst>
              </p:cNvPr>
              <p:cNvSpPr>
                <a:spLocks noGrp="1" noRot="1" noChangeAspect="1" noMove="1" noResize="1" noEditPoints="1" noAdjustHandles="1" noChangeArrowheads="1" noChangeShapeType="1" noTextEdit="1"/>
              </p:cNvSpPr>
              <p:nvPr>
                <p:ph idx="1"/>
              </p:nvPr>
            </p:nvSpPr>
            <p:spPr>
              <a:xfrm>
                <a:off x="609600" y="1600201"/>
                <a:ext cx="10972800" cy="4876799"/>
              </a:xfrm>
              <a:blipFill>
                <a:blip r:embed="rId2"/>
                <a:stretch>
                  <a:fillRect l="-1278" t="-1625" b="-62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30238D7-F6AB-5E03-AE38-9EC4EF52F22C}"/>
              </a:ext>
            </a:extLst>
          </p:cNvPr>
          <p:cNvSpPr>
            <a:spLocks noGrp="1"/>
          </p:cNvSpPr>
          <p:nvPr>
            <p:ph type="sldNum" sz="quarter" idx="12"/>
          </p:nvPr>
        </p:nvSpPr>
        <p:spPr/>
        <p:txBody>
          <a:bodyPr/>
          <a:lstStyle/>
          <a:p>
            <a:fld id="{BB3BE34B-9575-430D-9A41-469C30B8F0EA}" type="slidenum">
              <a:rPr lang="en-US" smtClean="0"/>
              <a:pPr/>
              <a:t>46</a:t>
            </a:fld>
            <a:endParaRPr lang="en-US"/>
          </a:p>
        </p:txBody>
      </p:sp>
    </p:spTree>
    <p:extLst>
      <p:ext uri="{BB962C8B-B14F-4D97-AF65-F5344CB8AC3E}">
        <p14:creationId xmlns:p14="http://schemas.microsoft.com/office/powerpoint/2010/main" val="598646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19935-1E93-FD2C-58F8-82F85DCF0238}"/>
              </a:ext>
            </a:extLst>
          </p:cNvPr>
          <p:cNvSpPr>
            <a:spLocks noGrp="1"/>
          </p:cNvSpPr>
          <p:nvPr>
            <p:ph type="title"/>
          </p:nvPr>
        </p:nvSpPr>
        <p:spPr/>
        <p:txBody>
          <a:bodyPr/>
          <a:lstStyle/>
          <a:p>
            <a:r>
              <a:rPr lang="en-US" dirty="0"/>
              <a:t>More General 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508D03-F966-5CF9-85E4-4A12C59E9A84}"/>
                  </a:ext>
                </a:extLst>
              </p:cNvPr>
              <p:cNvSpPr>
                <a:spLocks noGrp="1"/>
              </p:cNvSpPr>
              <p:nvPr>
                <p:ph idx="1"/>
              </p:nvPr>
            </p:nvSpPr>
            <p:spPr>
              <a:xfrm>
                <a:off x="609600" y="1417639"/>
                <a:ext cx="10972800" cy="5440362"/>
              </a:xfrm>
            </p:spPr>
            <p:txBody>
              <a:bodyPr>
                <a:normAutofit/>
              </a:bodyPr>
              <a:lstStyle/>
              <a:p>
                <a:r>
                  <a:rPr lang="en-US" dirty="0"/>
                  <a:t>Turns out to be very knife-edge</a:t>
                </a:r>
              </a:p>
              <a:p>
                <a:pPr>
                  <a:spcAft>
                    <a:spcPts val="600"/>
                  </a:spcAft>
                </a:pPr>
                <a:r>
                  <a:rPr lang="en-US" dirty="0"/>
                  <a:t>Constant Elasticity of Substitution (CES) production function:</a:t>
                </a:r>
              </a:p>
              <a:p>
                <a:pPr marL="0" indent="0" algn="ctr">
                  <a:spcAft>
                    <a:spcPts val="600"/>
                  </a:spcAft>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𝑎</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e>
                                  </m:d>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𝜎</m:t>
                                      </m:r>
                                    </m:den>
                                  </m:f>
                                </m:sup>
                              </m:sSup>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b="0" i="1" smtClean="0">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e>
                          </m:d>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num>
                            <m:den>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den>
                          </m:f>
                        </m:sup>
                      </m:sSup>
                    </m:oMath>
                  </m:oMathPara>
                </a14:m>
                <a:endParaRPr lang="en-US" dirty="0"/>
              </a:p>
              <a:p>
                <a:pPr>
                  <a:spcBef>
                    <a:spcPts val="1200"/>
                  </a:spcBef>
                  <a:spcAft>
                    <a:spcPts val="600"/>
                  </a:spcAft>
                </a:pPr>
                <a:r>
                  <a:rPr lang="en-US" dirty="0"/>
                  <a:t>Generalization of Cobb-Douglas</a:t>
                </a:r>
              </a:p>
              <a:p>
                <a:pPr>
                  <a:spcAft>
                    <a:spcPts val="600"/>
                  </a:spcAft>
                </a:pPr>
                <a:r>
                  <a:rPr lang="en-US" dirty="0"/>
                  <a:t>Key parameter: </a:t>
                </a:r>
                <a:endParaRPr lang="en-US" i="1" dirty="0">
                  <a:latin typeface="Cambria Math" panose="02040503050406030204" pitchFamily="18" charset="0"/>
                  <a:ea typeface="Cambria Math" panose="02040503050406030204" pitchFamily="18" charset="0"/>
                </a:endParaRPr>
              </a:p>
              <a:p>
                <a:pPr lvl="1">
                  <a:spcAft>
                    <a:spcPts val="600"/>
                  </a:spcAft>
                </a:pP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is elasticity of substitution between capital and labor</a:t>
                </a:r>
              </a:p>
            </p:txBody>
          </p:sp>
        </mc:Choice>
        <mc:Fallback xmlns="">
          <p:sp>
            <p:nvSpPr>
              <p:cNvPr id="3" name="Content Placeholder 2">
                <a:extLst>
                  <a:ext uri="{FF2B5EF4-FFF2-40B4-BE49-F238E27FC236}">
                    <a16:creationId xmlns:a16="http://schemas.microsoft.com/office/drawing/2014/main" id="{EF508D03-F966-5CF9-85E4-4A12C59E9A84}"/>
                  </a:ext>
                </a:extLst>
              </p:cNvPr>
              <p:cNvSpPr>
                <a:spLocks noGrp="1" noRot="1" noChangeAspect="1" noMove="1" noResize="1" noEditPoints="1" noAdjustHandles="1" noChangeArrowheads="1" noChangeShapeType="1" noTextEdit="1"/>
              </p:cNvSpPr>
              <p:nvPr>
                <p:ph idx="1"/>
              </p:nvPr>
            </p:nvSpPr>
            <p:spPr>
              <a:xfrm>
                <a:off x="609600" y="1417639"/>
                <a:ext cx="10972800" cy="5440362"/>
              </a:xfrm>
              <a:blipFill>
                <a:blip r:embed="rId2"/>
                <a:stretch>
                  <a:fillRect l="-1278" t="-145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E4DC010-7C23-6F2A-C99E-47B5511EA64E}"/>
              </a:ext>
            </a:extLst>
          </p:cNvPr>
          <p:cNvSpPr>
            <a:spLocks noGrp="1"/>
          </p:cNvSpPr>
          <p:nvPr>
            <p:ph type="sldNum" sz="quarter" idx="12"/>
          </p:nvPr>
        </p:nvSpPr>
        <p:spPr/>
        <p:txBody>
          <a:bodyPr/>
          <a:lstStyle/>
          <a:p>
            <a:fld id="{BB3BE34B-9575-430D-9A41-469C30B8F0EA}" type="slidenum">
              <a:rPr lang="en-US" smtClean="0"/>
              <a:pPr/>
              <a:t>47</a:t>
            </a:fld>
            <a:endParaRPr lang="en-US"/>
          </a:p>
        </p:txBody>
      </p:sp>
    </p:spTree>
    <p:extLst>
      <p:ext uri="{BB962C8B-B14F-4D97-AF65-F5344CB8AC3E}">
        <p14:creationId xmlns:p14="http://schemas.microsoft.com/office/powerpoint/2010/main" val="31917019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8F32A-8A96-7DD4-0F72-248284D8CAEC}"/>
              </a:ext>
            </a:extLst>
          </p:cNvPr>
          <p:cNvSpPr>
            <a:spLocks noGrp="1"/>
          </p:cNvSpPr>
          <p:nvPr>
            <p:ph type="title"/>
          </p:nvPr>
        </p:nvSpPr>
        <p:spPr/>
        <p:txBody>
          <a:bodyPr/>
          <a:lstStyle/>
          <a:p>
            <a:r>
              <a:rPr lang="en-US" dirty="0"/>
              <a:t>Elasticity of Substitution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4ED98B-26F4-8FDF-E835-A954BCE50D68}"/>
                  </a:ext>
                </a:extLst>
              </p:cNvPr>
              <p:cNvSpPr>
                <a:spLocks noGrp="1"/>
              </p:cNvSpPr>
              <p:nvPr>
                <p:ph idx="1"/>
              </p:nvPr>
            </p:nvSpPr>
            <p:spPr>
              <a:xfrm>
                <a:off x="609600" y="1600201"/>
                <a:ext cx="10972800" cy="5121275"/>
              </a:xfrm>
            </p:spPr>
            <p:txBody>
              <a:bodyPr/>
              <a:lstStyle/>
              <a:p>
                <a:pPr marL="0" indent="0">
                  <a:spcBef>
                    <a:spcPts val="1200"/>
                  </a:spcBef>
                  <a:spcAft>
                    <a:spcPts val="600"/>
                  </a:spcAft>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𝑎</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r>
                                <a:rPr lang="en-US" i="1">
                                  <a:latin typeface="Cambria Math" panose="02040503050406030204" pitchFamily="18" charset="0"/>
                                </a:rPr>
                                <m:t>+(1−</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den>
                          </m:f>
                        </m:sup>
                      </m:sSup>
                    </m:oMath>
                  </m:oMathPara>
                </a14:m>
                <a:endParaRPr lang="en-US" dirty="0"/>
              </a:p>
              <a:p>
                <a:pPr>
                  <a:spcBef>
                    <a:spcPts val="1200"/>
                  </a:spcBef>
                </a:pP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is elasticity of substitution between capital and labor</a:t>
                </a:r>
              </a:p>
              <a:p>
                <a:pPr lvl="1"/>
                <a:r>
                  <a:rPr lang="en-US" dirty="0"/>
                  <a:t>If price of capital falls by 1% relative to price of labor, quantity of capital used in production increases by </a:t>
                </a:r>
                <a14:m>
                  <m:oMath xmlns:m="http://schemas.openxmlformats.org/officeDocument/2006/math">
                    <m:r>
                      <a:rPr lang="en-US" i="1">
                        <a:latin typeface="Cambria Math" panose="02040503050406030204" pitchFamily="18" charset="0"/>
                        <a:ea typeface="Cambria Math" panose="02040503050406030204" pitchFamily="18" charset="0"/>
                      </a:rPr>
                      <m:t>𝜎</m:t>
                    </m:r>
                  </m:oMath>
                </a14:m>
                <a:r>
                  <a:rPr lang="en-US" dirty="0"/>
                  <a:t>% relative to quantity of labor (slope of relative factor demand curve)</a:t>
                </a:r>
              </a:p>
              <a:p>
                <a:pPr lvl="1">
                  <a:spcAft>
                    <a:spcPts val="600"/>
                  </a:spcAft>
                </a:pPr>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oMath>
                </a14:m>
                <a:r>
                  <a:rPr lang="en-US" dirty="0"/>
                  <a:t> for Cobb-Douglas</a:t>
                </a:r>
              </a:p>
              <a:p>
                <a:pPr lvl="1">
                  <a:spcAft>
                    <a:spcPts val="600"/>
                  </a:spcAft>
                </a:pP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&gt;1</m:t>
                    </m:r>
                  </m:oMath>
                </a14:m>
                <a:r>
                  <a:rPr lang="en-US" dirty="0"/>
                  <a:t>: Labor and capital “gross substitutes”</a:t>
                </a:r>
              </a:p>
              <a:p>
                <a:pPr lvl="1">
                  <a:spcAft>
                    <a:spcPts val="600"/>
                  </a:spcAft>
                </a:pP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&lt;1</m:t>
                    </m:r>
                  </m:oMath>
                </a14:m>
                <a:r>
                  <a:rPr lang="en-US" dirty="0"/>
                  <a:t>: Labor and capital “gross complements”</a:t>
                </a:r>
              </a:p>
              <a:p>
                <a:endParaRPr lang="en-US" dirty="0"/>
              </a:p>
            </p:txBody>
          </p:sp>
        </mc:Choice>
        <mc:Fallback xmlns="">
          <p:sp>
            <p:nvSpPr>
              <p:cNvPr id="3" name="Content Placeholder 2">
                <a:extLst>
                  <a:ext uri="{FF2B5EF4-FFF2-40B4-BE49-F238E27FC236}">
                    <a16:creationId xmlns:a16="http://schemas.microsoft.com/office/drawing/2014/main" id="{714ED98B-26F4-8FDF-E835-A954BCE50D68}"/>
                  </a:ext>
                </a:extLst>
              </p:cNvPr>
              <p:cNvSpPr>
                <a:spLocks noGrp="1" noRot="1" noChangeAspect="1" noMove="1" noResize="1" noEditPoints="1" noAdjustHandles="1" noChangeArrowheads="1" noChangeShapeType="1" noTextEdit="1"/>
              </p:cNvSpPr>
              <p:nvPr>
                <p:ph idx="1"/>
              </p:nvPr>
            </p:nvSpPr>
            <p:spPr>
              <a:xfrm>
                <a:off x="609600" y="1600201"/>
                <a:ext cx="10972800" cy="5121275"/>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1D8E07C-D326-2609-BC7C-5F0555B0D280}"/>
              </a:ext>
            </a:extLst>
          </p:cNvPr>
          <p:cNvSpPr>
            <a:spLocks noGrp="1"/>
          </p:cNvSpPr>
          <p:nvPr>
            <p:ph type="sldNum" sz="quarter" idx="12"/>
          </p:nvPr>
        </p:nvSpPr>
        <p:spPr/>
        <p:txBody>
          <a:bodyPr/>
          <a:lstStyle/>
          <a:p>
            <a:fld id="{BB3BE34B-9575-430D-9A41-469C30B8F0EA}" type="slidenum">
              <a:rPr lang="en-US" smtClean="0"/>
              <a:pPr/>
              <a:t>48</a:t>
            </a:fld>
            <a:endParaRPr lang="en-US"/>
          </a:p>
        </p:txBody>
      </p:sp>
    </p:spTree>
    <p:extLst>
      <p:ext uri="{BB962C8B-B14F-4D97-AF65-F5344CB8AC3E}">
        <p14:creationId xmlns:p14="http://schemas.microsoft.com/office/powerpoint/2010/main" val="18722089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57578-8F93-8A31-03FF-0456F9321B2D}"/>
              </a:ext>
            </a:extLst>
          </p:cNvPr>
          <p:cNvSpPr>
            <a:spLocks noGrp="1"/>
          </p:cNvSpPr>
          <p:nvPr>
            <p:ph type="title"/>
          </p:nvPr>
        </p:nvSpPr>
        <p:spPr/>
        <p:txBody>
          <a:bodyPr/>
          <a:lstStyle/>
          <a:p>
            <a:r>
              <a:rPr lang="en-US" dirty="0"/>
              <a:t>Labor Share in CES Case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0859E4-1C4C-5588-E7D0-73151391DE4A}"/>
                  </a:ext>
                </a:extLst>
              </p:cNvPr>
              <p:cNvSpPr>
                <a:spLocks noGrp="1"/>
              </p:cNvSpPr>
              <p:nvPr>
                <p:ph idx="1"/>
              </p:nvPr>
            </p:nvSpPr>
            <p:spPr>
              <a:xfrm>
                <a:off x="609600" y="1600201"/>
                <a:ext cx="10972800" cy="4983161"/>
              </a:xfrm>
            </p:spPr>
            <p:txBody>
              <a:bodyPr/>
              <a:lstStyle/>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ea typeface="Cambria Math" panose="02040503050406030204" pitchFamily="18" charset="0"/>
                            </a:rPr>
                            <m:t>𝜎</m:t>
                          </m:r>
                        </m:sup>
                      </m:sSup>
                      <m:sSup>
                        <m:sSupPr>
                          <m:ctrlPr>
                            <a:rPr lang="en-US" i="1">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f>
                                <m:fPr>
                                  <m:ctrlPr>
                                    <a:rPr lang="en-US" i="1">
                                      <a:latin typeface="Cambria Math" panose="02040503050406030204" pitchFamily="18" charset="0"/>
                                      <a:ea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sub>
                                  </m:sSub>
                                </m:den>
                              </m:f>
                            </m:e>
                          </m:d>
                        </m:e>
                        <m:sup>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sup>
                      </m:sSup>
                    </m:oMath>
                  </m:oMathPara>
                </a14:m>
                <a:endParaRPr lang="en-US" dirty="0"/>
              </a:p>
              <a:p>
                <a:pPr>
                  <a:spcBef>
                    <a:spcPts val="1200"/>
                  </a:spcBef>
                </a:pP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key parameter. If </a:t>
                </a:r>
                <a14:m>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oMath>
                </a14:m>
                <a:r>
                  <a:rPr lang="en-US" dirty="0"/>
                  <a:t> back in Cobb-Douglas case</a:t>
                </a:r>
              </a:p>
              <a:p>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&gt;1</m:t>
                    </m:r>
                  </m:oMath>
                </a14:m>
                <a:r>
                  <a:rPr lang="en-US" dirty="0"/>
                  <a:t>:</a:t>
                </a:r>
              </a:p>
              <a:p>
                <a:pPr lvl="1"/>
                <a:r>
                  <a:rPr lang="en-US" dirty="0"/>
                  <a:t>Increase in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𝐴</m:t>
                        </m:r>
                      </m:e>
                      <m:sub>
                        <m:r>
                          <a:rPr lang="en-US" i="1">
                            <a:latin typeface="Cambria Math" panose="02040503050406030204" pitchFamily="18" charset="0"/>
                            <a:ea typeface="Cambria Math" panose="02040503050406030204" pitchFamily="18" charset="0"/>
                          </a:rPr>
                          <m:t>𝐾</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sub>
                    </m:sSub>
                  </m:oMath>
                </a14:m>
                <a:r>
                  <a:rPr lang="en-US" dirty="0"/>
                  <a:t> and decrease in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𝑟</m:t>
                        </m:r>
                      </m:e>
                      <m:sub>
                        <m:r>
                          <a:rPr lang="en-US" i="1">
                            <a:latin typeface="Cambria Math" panose="02040503050406030204" pitchFamily="18" charset="0"/>
                            <a:ea typeface="Cambria Math" panose="02040503050406030204" pitchFamily="18" charset="0"/>
                          </a:rPr>
                          <m:t>𝑡</m:t>
                        </m:r>
                      </m:sub>
                    </m:sSub>
                  </m:oMath>
                </a14:m>
                <a:r>
                  <a:rPr lang="en-US" dirty="0"/>
                  <a:t> reduce the labor share </a:t>
                </a:r>
                <a:br>
                  <a:rPr lang="en-US" dirty="0"/>
                </a:br>
                <a:r>
                  <a:rPr lang="en-US" dirty="0"/>
                  <a:t>(increase the capital share)</a:t>
                </a:r>
              </a:p>
              <a:p>
                <a:pPr lvl="1"/>
                <a:r>
                  <a:rPr lang="en-US" dirty="0"/>
                  <a:t>In this case, improvements in capital imply that firms use a lot more capital, increasing the capital share</a:t>
                </a:r>
              </a:p>
              <a:p>
                <a:endParaRPr lang="en-US" dirty="0"/>
              </a:p>
            </p:txBody>
          </p:sp>
        </mc:Choice>
        <mc:Fallback xmlns="">
          <p:sp>
            <p:nvSpPr>
              <p:cNvPr id="3" name="Content Placeholder 2">
                <a:extLst>
                  <a:ext uri="{FF2B5EF4-FFF2-40B4-BE49-F238E27FC236}">
                    <a16:creationId xmlns:a16="http://schemas.microsoft.com/office/drawing/2014/main" id="{C90859E4-1C4C-5588-E7D0-73151391DE4A}"/>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F19F75B-7140-7895-889C-226A82F9FD2C}"/>
              </a:ext>
            </a:extLst>
          </p:cNvPr>
          <p:cNvSpPr>
            <a:spLocks noGrp="1"/>
          </p:cNvSpPr>
          <p:nvPr>
            <p:ph type="sldNum" sz="quarter" idx="12"/>
          </p:nvPr>
        </p:nvSpPr>
        <p:spPr/>
        <p:txBody>
          <a:bodyPr/>
          <a:lstStyle/>
          <a:p>
            <a:fld id="{BB3BE34B-9575-430D-9A41-469C30B8F0EA}" type="slidenum">
              <a:rPr lang="en-US" smtClean="0"/>
              <a:pPr/>
              <a:t>49</a:t>
            </a:fld>
            <a:endParaRPr lang="en-US"/>
          </a:p>
        </p:txBody>
      </p:sp>
    </p:spTree>
    <p:extLst>
      <p:ext uri="{BB962C8B-B14F-4D97-AF65-F5344CB8AC3E}">
        <p14:creationId xmlns:p14="http://schemas.microsoft.com/office/powerpoint/2010/main" val="27150540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C1901D-EAF5-306E-1BD9-F58ED4381706}"/>
              </a:ext>
            </a:extLst>
          </p:cNvPr>
          <p:cNvSpPr>
            <a:spLocks noGrp="1"/>
          </p:cNvSpPr>
          <p:nvPr>
            <p:ph type="title"/>
          </p:nvPr>
        </p:nvSpPr>
        <p:spPr/>
        <p:txBody>
          <a:bodyPr/>
          <a:lstStyle/>
          <a:p>
            <a:r>
              <a:rPr lang="en-US" dirty="0"/>
              <a:t>Better and Cheaper Machines</a:t>
            </a:r>
          </a:p>
        </p:txBody>
      </p:sp>
      <p:pic>
        <p:nvPicPr>
          <p:cNvPr id="9" name="Content Placeholder 8" descr="A graph showing the price of investment&#10;&#10;AI-generated content may be incorrect.">
            <a:extLst>
              <a:ext uri="{FF2B5EF4-FFF2-40B4-BE49-F238E27FC236}">
                <a16:creationId xmlns:a16="http://schemas.microsoft.com/office/drawing/2014/main" id="{661CE6FE-BE8C-6AB9-98CF-153A543C133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4953000" y="1302443"/>
            <a:ext cx="6934200" cy="5053908"/>
          </a:xfrm>
        </p:spPr>
      </p:pic>
      <p:sp>
        <p:nvSpPr>
          <p:cNvPr id="4" name="Slide Number Placeholder 3">
            <a:extLst>
              <a:ext uri="{FF2B5EF4-FFF2-40B4-BE49-F238E27FC236}">
                <a16:creationId xmlns:a16="http://schemas.microsoft.com/office/drawing/2014/main" id="{937E8247-24F9-568E-AF3B-E902B9F97EB1}"/>
              </a:ext>
            </a:extLst>
          </p:cNvPr>
          <p:cNvSpPr>
            <a:spLocks noGrp="1"/>
          </p:cNvSpPr>
          <p:nvPr>
            <p:ph type="sldNum" sz="quarter" idx="12"/>
          </p:nvPr>
        </p:nvSpPr>
        <p:spPr/>
        <p:txBody>
          <a:bodyPr/>
          <a:lstStyle/>
          <a:p>
            <a:fld id="{BB3BE34B-9575-430D-9A41-469C30B8F0EA}" type="slidenum">
              <a:rPr lang="en-US" smtClean="0"/>
              <a:pPr/>
              <a:t>50</a:t>
            </a:fld>
            <a:endParaRPr lang="en-US"/>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AC69F8F-9CD7-C72D-F089-A5CFA8CE28EA}"/>
                  </a:ext>
                </a:extLst>
              </p:cNvPr>
              <p:cNvSpPr>
                <a:spLocks noGrp="1"/>
              </p:cNvSpPr>
              <p:nvPr>
                <p:ph sz="half" idx="1"/>
              </p:nvPr>
            </p:nvSpPr>
            <p:spPr>
              <a:xfrm>
                <a:off x="228600" y="2057400"/>
                <a:ext cx="5029200" cy="4525962"/>
              </a:xfrm>
            </p:spPr>
            <p:txBody>
              <a:bodyPr>
                <a:normAutofit/>
              </a:bodyPr>
              <a:lstStyle/>
              <a:p>
                <a:r>
                  <a:rPr lang="en-US" dirty="0"/>
                  <a:t>Machines have been getting cheaper(</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oMath>
                </a14:m>
                <a:r>
                  <a:rPr lang="en-US" dirty="0"/>
                  <a:t> has been falling)</a:t>
                </a:r>
              </a:p>
              <a:p>
                <a:r>
                  <a:rPr lang="en-US" dirty="0"/>
                  <a:t>Perhaps this is why labor share has been falling?</a:t>
                </a:r>
              </a:p>
              <a:p>
                <a:r>
                  <a:rPr lang="en-US" dirty="0"/>
                  <a:t>Only works if </a:t>
                </a:r>
                <a14:m>
                  <m:oMath xmlns:m="http://schemas.openxmlformats.org/officeDocument/2006/math">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&gt;1</m:t>
                    </m:r>
                  </m:oMath>
                </a14:m>
                <a:endParaRPr lang="en-US" dirty="0"/>
              </a:p>
              <a:p>
                <a:r>
                  <a:rPr lang="en-US" dirty="0"/>
                  <a:t>But whether this is the case </a:t>
                </a:r>
                <a:br>
                  <a:rPr lang="en-US" dirty="0"/>
                </a:br>
                <a:r>
                  <a:rPr lang="en-US" dirty="0"/>
                  <a:t>is not clear.</a:t>
                </a:r>
              </a:p>
            </p:txBody>
          </p:sp>
        </mc:Choice>
        <mc:Fallback xmlns="">
          <p:sp>
            <p:nvSpPr>
              <p:cNvPr id="6" name="Content Placeholder 5">
                <a:extLst>
                  <a:ext uri="{FF2B5EF4-FFF2-40B4-BE49-F238E27FC236}">
                    <a16:creationId xmlns:a16="http://schemas.microsoft.com/office/drawing/2014/main" id="{AAC69F8F-9CD7-C72D-F089-A5CFA8CE28EA}"/>
                  </a:ext>
                </a:extLst>
              </p:cNvPr>
              <p:cNvSpPr>
                <a:spLocks noGrp="1" noRot="1" noChangeAspect="1" noMove="1" noResize="1" noEditPoints="1" noAdjustHandles="1" noChangeArrowheads="1" noChangeShapeType="1" noTextEdit="1"/>
              </p:cNvSpPr>
              <p:nvPr>
                <p:ph sz="half" idx="1"/>
              </p:nvPr>
            </p:nvSpPr>
            <p:spPr>
              <a:xfrm>
                <a:off x="228600" y="2057400"/>
                <a:ext cx="5029200" cy="4525962"/>
              </a:xfrm>
              <a:blipFill>
                <a:blip r:embed="rId3"/>
                <a:stretch>
                  <a:fillRect l="-2182" t="-1348" r="-2909"/>
                </a:stretch>
              </a:blipFill>
            </p:spPr>
            <p:txBody>
              <a:bodyPr/>
              <a:lstStyle/>
              <a:p>
                <a:r>
                  <a:rPr lang="en-US">
                    <a:noFill/>
                  </a:rPr>
                  <a:t> </a:t>
                </a:r>
              </a:p>
            </p:txBody>
          </p:sp>
        </mc:Fallback>
      </mc:AlternateContent>
    </p:spTree>
    <p:extLst>
      <p:ext uri="{BB962C8B-B14F-4D97-AF65-F5344CB8AC3E}">
        <p14:creationId xmlns:p14="http://schemas.microsoft.com/office/powerpoint/2010/main" val="1471315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6620199-3B26-59A2-388A-BFD8960FE4FF}"/>
                  </a:ext>
                </a:extLst>
              </p:cNvPr>
              <p:cNvSpPr>
                <a:spLocks noGrp="1"/>
              </p:cNvSpPr>
              <p:nvPr>
                <p:ph type="title"/>
              </p:nvPr>
            </p:nvSpPr>
            <p:spPr/>
            <p:txBody>
              <a:bodyPr/>
              <a:lstStyle/>
              <a:p>
                <a:r>
                  <a:rPr lang="en-US" dirty="0"/>
                  <a:t>Estimating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is Hard</a:t>
                </a:r>
              </a:p>
            </p:txBody>
          </p:sp>
        </mc:Choice>
        <mc:Fallback xmlns="">
          <p:sp>
            <p:nvSpPr>
              <p:cNvPr id="2" name="Title 1">
                <a:extLst>
                  <a:ext uri="{FF2B5EF4-FFF2-40B4-BE49-F238E27FC236}">
                    <a16:creationId xmlns:a16="http://schemas.microsoft.com/office/drawing/2014/main" id="{F6620199-3B26-59A2-388A-BFD8960FE4FF}"/>
                  </a:ext>
                </a:extLst>
              </p:cNvPr>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1C4921-830B-D9E3-5468-4E91FA04EC01}"/>
                  </a:ext>
                </a:extLst>
              </p:cNvPr>
              <p:cNvSpPr>
                <a:spLocks noGrp="1"/>
              </p:cNvSpPr>
              <p:nvPr>
                <p:ph sz="half" idx="1"/>
              </p:nvPr>
            </p:nvSpPr>
            <p:spPr>
              <a:xfrm>
                <a:off x="304800" y="1605282"/>
                <a:ext cx="5384800" cy="4787506"/>
              </a:xfrm>
            </p:spPr>
            <p:txBody>
              <a:bodyPr>
                <a:normAutofit/>
              </a:bodyPr>
              <a:lstStyle/>
              <a:p>
                <a:pPr marL="0" indent="0">
                  <a:buNone/>
                </a:pPr>
                <a:r>
                  <a:rPr lang="en-US" dirty="0"/>
                  <a:t>Two problems:</a:t>
                </a:r>
              </a:p>
              <a:p>
                <a:r>
                  <a:rPr lang="en-US" dirty="0"/>
                  <a:t>Simultaneous equations problem: Need pure variation in relative supply curve to estimate slope of relative demand curve</a:t>
                </a:r>
              </a:p>
              <a:p>
                <a:r>
                  <a:rPr lang="en-US" dirty="0"/>
                  <a:t>Aggregate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will be larger than firm-level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a:t>
                </a:r>
                <a:r>
                  <a:rPr lang="en-US" dirty="0" err="1"/>
                  <a:t>Houthakker</a:t>
                </a:r>
                <a:r>
                  <a:rPr lang="en-US" dirty="0"/>
                  <a:t>, 1955)</a:t>
                </a:r>
              </a:p>
              <a:p>
                <a:endParaRPr lang="en-US" dirty="0"/>
              </a:p>
              <a:p>
                <a:r>
                  <a:rPr lang="en-US" dirty="0"/>
                  <a:t>Most estimate of </a:t>
                </a:r>
                <a14:m>
                  <m:oMath xmlns:m="http://schemas.openxmlformats.org/officeDocument/2006/math">
                    <m:r>
                      <a:rPr lang="en-US" i="1" smtClean="0">
                        <a:latin typeface="Cambria Math" panose="02040503050406030204" pitchFamily="18" charset="0"/>
                        <a:ea typeface="Cambria Math" panose="02040503050406030204" pitchFamily="18" charset="0"/>
                      </a:rPr>
                      <m:t>𝜎</m:t>
                    </m:r>
                  </m:oMath>
                </a14:m>
                <a:r>
                  <a:rPr lang="en-US" dirty="0"/>
                  <a:t> suggest it is smaller than 1</a:t>
                </a:r>
              </a:p>
              <a:p>
                <a:endParaRPr lang="en-US" dirty="0"/>
              </a:p>
            </p:txBody>
          </p:sp>
        </mc:Choice>
        <mc:Fallback xmlns="">
          <p:sp>
            <p:nvSpPr>
              <p:cNvPr id="3" name="Content Placeholder 2">
                <a:extLst>
                  <a:ext uri="{FF2B5EF4-FFF2-40B4-BE49-F238E27FC236}">
                    <a16:creationId xmlns:a16="http://schemas.microsoft.com/office/drawing/2014/main" id="{E51C4921-830B-D9E3-5468-4E91FA04EC01}"/>
                  </a:ext>
                </a:extLst>
              </p:cNvPr>
              <p:cNvSpPr>
                <a:spLocks noGrp="1" noRot="1" noChangeAspect="1" noMove="1" noResize="1" noEditPoints="1" noAdjustHandles="1" noChangeArrowheads="1" noChangeShapeType="1" noTextEdit="1"/>
              </p:cNvSpPr>
              <p:nvPr>
                <p:ph sz="half" idx="1"/>
              </p:nvPr>
            </p:nvSpPr>
            <p:spPr>
              <a:xfrm>
                <a:off x="304800" y="1605282"/>
                <a:ext cx="5384800" cy="4787506"/>
              </a:xfrm>
              <a:blipFill>
                <a:blip r:embed="rId3"/>
                <a:stretch>
                  <a:fillRect l="-2265" t="-1145" r="-793" b="-1781"/>
                </a:stretch>
              </a:blipFill>
            </p:spPr>
            <p:txBody>
              <a:bodyPr/>
              <a:lstStyle/>
              <a:p>
                <a:r>
                  <a:rPr lang="en-US">
                    <a:noFill/>
                  </a:rPr>
                  <a:t> </a:t>
                </a:r>
              </a:p>
            </p:txBody>
          </p:sp>
        </mc:Fallback>
      </mc:AlternateContent>
      <p:pic>
        <p:nvPicPr>
          <p:cNvPr id="7" name="Content Placeholder 6" descr="A diagram of a graph&#10;&#10;AI-generated content may be incorrect.">
            <a:extLst>
              <a:ext uri="{FF2B5EF4-FFF2-40B4-BE49-F238E27FC236}">
                <a16:creationId xmlns:a16="http://schemas.microsoft.com/office/drawing/2014/main" id="{0493DDFF-056C-45AE-510C-28A81A2B120D}"/>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324600" y="1492898"/>
            <a:ext cx="5181600" cy="4787506"/>
          </a:xfrm>
        </p:spPr>
      </p:pic>
      <p:sp>
        <p:nvSpPr>
          <p:cNvPr id="5" name="Slide Number Placeholder 4">
            <a:extLst>
              <a:ext uri="{FF2B5EF4-FFF2-40B4-BE49-F238E27FC236}">
                <a16:creationId xmlns:a16="http://schemas.microsoft.com/office/drawing/2014/main" id="{A36F36A0-7006-CDF2-695D-8AD06E2B81F9}"/>
              </a:ext>
            </a:extLst>
          </p:cNvPr>
          <p:cNvSpPr>
            <a:spLocks noGrp="1"/>
          </p:cNvSpPr>
          <p:nvPr>
            <p:ph type="sldNum" sz="quarter" idx="12"/>
          </p:nvPr>
        </p:nvSpPr>
        <p:spPr/>
        <p:txBody>
          <a:bodyPr/>
          <a:lstStyle/>
          <a:p>
            <a:fld id="{BB3BE34B-9575-430D-9A41-469C30B8F0EA}" type="slidenum">
              <a:rPr lang="en-US" smtClean="0"/>
              <a:pPr/>
              <a:t>51</a:t>
            </a:fld>
            <a:endParaRPr lang="en-US"/>
          </a:p>
        </p:txBody>
      </p:sp>
    </p:spTree>
    <p:extLst>
      <p:ext uri="{BB962C8B-B14F-4D97-AF65-F5344CB8AC3E}">
        <p14:creationId xmlns:p14="http://schemas.microsoft.com/office/powerpoint/2010/main" val="5654061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A4C7D8B-9506-7870-AB4F-8D0838CB4B18}"/>
              </a:ext>
            </a:extLst>
          </p:cNvPr>
          <p:cNvSpPr>
            <a:spLocks noGrp="1"/>
          </p:cNvSpPr>
          <p:nvPr>
            <p:ph type="title"/>
          </p:nvPr>
        </p:nvSpPr>
        <p:spPr/>
        <p:txBody>
          <a:bodyPr/>
          <a:lstStyle/>
          <a:p>
            <a:r>
              <a:rPr lang="en-US" dirty="0"/>
              <a:t>Wages and Technology with CES</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27E90641-50CE-FB39-2777-F4E5B38CFA9D}"/>
                  </a:ext>
                </a:extLst>
              </p:cNvPr>
              <p:cNvSpPr>
                <a:spLocks noGrp="1"/>
              </p:cNvSpPr>
              <p:nvPr>
                <p:ph idx="1"/>
              </p:nvPr>
            </p:nvSpPr>
            <p:spPr>
              <a:xfrm>
                <a:off x="609600" y="1600201"/>
                <a:ext cx="10972800" cy="5121275"/>
              </a:xfrm>
            </p:spPr>
            <p:txBody>
              <a:bodyPr/>
              <a:lstStyle/>
              <a:p>
                <a:r>
                  <a:rPr lang="en-US" dirty="0"/>
                  <a:t>Wage with CES production:</a:t>
                </a:r>
              </a:p>
              <a:p>
                <a:pPr marL="0" indent="0">
                  <a:buNone/>
                </a:pPr>
                <a14:m>
                  <m:oMathPara xmlns:m="http://schemas.openxmlformats.org/officeDocument/2006/math">
                    <m:oMath>
                      <m:r>
                        <a:rPr lang="en-US" b="0" i="1" smtClean="0">
                          <a:latin typeface="Cambria Math" panose="02040503050406030204" pitchFamily="18" charset="0"/>
                        </a:rPr>
                        <m:t>𝑤</m:t>
                      </m:r>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𝐿</m:t>
                          </m:r>
                        </m:sub>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𝜎</m:t>
                              </m:r>
                            </m:den>
                          </m:f>
                        </m:sup>
                      </m:sSubSup>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𝑌</m:t>
                                  </m:r>
                                </m:num>
                                <m:den>
                                  <m:r>
                                    <a:rPr lang="en-US" i="1">
                                      <a:latin typeface="Cambria Math" panose="02040503050406030204" pitchFamily="18" charset="0"/>
                                    </a:rPr>
                                    <m:t>𝐿</m:t>
                                  </m:r>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𝜎</m:t>
                              </m:r>
                            </m:den>
                          </m:f>
                        </m:sup>
                      </m:sSup>
                    </m:oMath>
                  </m:oMathPara>
                </a14:m>
                <a:endParaRPr lang="en-US" dirty="0"/>
              </a:p>
              <a:p>
                <a:pPr>
                  <a:spcAft>
                    <a:spcPts val="1200"/>
                  </a:spcAft>
                </a:pPr>
                <a:r>
                  <a:rPr lang="en-US" dirty="0"/>
                  <a:t>Change in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𝐾</m:t>
                        </m:r>
                      </m:sub>
                    </m:sSub>
                  </m:oMath>
                </a14:m>
                <a:r>
                  <a:rPr lang="en-US" dirty="0"/>
                  <a:t> and </a:t>
                </a:r>
                <a14:m>
                  <m:oMath xmlns:m="http://schemas.openxmlformats.org/officeDocument/2006/math">
                    <m:r>
                      <a:rPr lang="en-US" b="0" i="1" smtClean="0">
                        <a:latin typeface="Cambria Math" panose="02040503050406030204" pitchFamily="18" charset="0"/>
                      </a:rPr>
                      <m:t>𝐾</m:t>
                    </m:r>
                  </m:oMath>
                </a14:m>
                <a:r>
                  <a:rPr lang="en-US" dirty="0"/>
                  <a:t>:</a:t>
                </a:r>
              </a:p>
              <a:p>
                <a:pPr marL="0" indent="0">
                  <a:spcBef>
                    <a:spcPts val="1200"/>
                  </a:spcBef>
                  <a:spcAft>
                    <a:spcPts val="1200"/>
                  </a:spcAft>
                  <a:buNone/>
                </a:pPr>
                <a14:m>
                  <m:oMathPara xmlns:m="http://schemas.openxmlformats.org/officeDocument/2006/math">
                    <m:oMath>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num>
                        <m:den>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𝐾</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r>
                            <a:rPr lang="en-US" b="0" i="1" smtClean="0">
                              <a:latin typeface="Cambria Math" panose="02040503050406030204" pitchFamily="18" charset="0"/>
                            </a:rPr>
                            <m:t>(1−</m:t>
                          </m:r>
                          <m:r>
                            <a:rPr lang="en-US" b="0" i="1" smtClean="0">
                              <a:latin typeface="Cambria Math" panose="02040503050406030204" pitchFamily="18" charset="0"/>
                            </a:rPr>
                            <m:t>𝑎</m:t>
                          </m:r>
                          <m:r>
                            <a:rPr lang="en-US" b="0" i="1" smtClean="0">
                              <a:latin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𝜎</m:t>
                          </m:r>
                        </m:den>
                      </m:f>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𝐿</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𝐾</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𝑌</m:t>
                          </m:r>
                        </m:e>
                        <m:sup>
                          <m:r>
                            <a:rPr lang="en-US" b="0" i="1" smtClean="0">
                              <a:latin typeface="Cambria Math" panose="02040503050406030204" pitchFamily="18" charset="0"/>
                              <a:ea typeface="Cambria Math" panose="02040503050406030204" pitchFamily="18" charset="0"/>
                            </a:rPr>
                            <m:t>−1</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𝐿</m:t>
                          </m:r>
                        </m:e>
                        <m:sup>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𝜎</m:t>
                              </m:r>
                            </m:den>
                          </m:f>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𝐾</m:t>
                          </m:r>
                        </m:e>
                        <m:sup>
                          <m:f>
                            <m:fPr>
                              <m:ctrlPr>
                                <a:rPr lang="en-US"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𝜎</m:t>
                              </m:r>
                            </m:den>
                          </m:f>
                        </m:sup>
                      </m:sSup>
                      <m:r>
                        <a:rPr lang="en-US" b="0" i="1" smtClean="0">
                          <a:latin typeface="Cambria Math" panose="02040503050406030204" pitchFamily="18" charset="0"/>
                          <a:ea typeface="Cambria Math" panose="02040503050406030204" pitchFamily="18" charset="0"/>
                        </a:rPr>
                        <m:t>&gt;0</m:t>
                      </m:r>
                    </m:oMath>
                  </m:oMathPara>
                </a14:m>
                <a:endParaRPr lang="en-US" dirty="0"/>
              </a:p>
              <a:p>
                <a:pPr marL="0" indent="0">
                  <a:spcBef>
                    <a:spcPts val="1200"/>
                  </a:spcBef>
                  <a:spcAft>
                    <a:spcPts val="1200"/>
                  </a:spcAft>
                  <a:buNone/>
                </a:pPr>
                <a14:m>
                  <m:oMathPara xmlns:m="http://schemas.openxmlformats.org/officeDocument/2006/math">
                    <m:o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𝑤</m:t>
                          </m:r>
                        </m:num>
                        <m:den>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𝐾</m:t>
                          </m:r>
                        </m:den>
                      </m:f>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𝑎</m:t>
                          </m:r>
                          <m:r>
                            <a:rPr lang="en-US" i="1">
                              <a:latin typeface="Cambria Math" panose="02040503050406030204" pitchFamily="18" charset="0"/>
                            </a:rPr>
                            <m:t>(1−</m:t>
                          </m:r>
                          <m:r>
                            <a:rPr lang="en-US" i="1">
                              <a:latin typeface="Cambria Math" panose="02040503050406030204" pitchFamily="18" charset="0"/>
                            </a:rPr>
                            <m:t>𝑎</m:t>
                          </m:r>
                          <m:r>
                            <a:rPr lang="en-US" i="1">
                              <a:latin typeface="Cambria Math" panose="02040503050406030204" pitchFamily="18" charset="0"/>
                            </a:rPr>
                            <m:t>)</m:t>
                          </m:r>
                        </m:num>
                        <m:den>
                          <m:r>
                            <a:rPr lang="en-US" i="1">
                              <a:latin typeface="Cambria Math" panose="02040503050406030204" pitchFamily="18" charset="0"/>
                              <a:ea typeface="Cambria Math" panose="02040503050406030204" pitchFamily="18" charset="0"/>
                            </a:rPr>
                            <m:t>𝜎</m:t>
                          </m:r>
                        </m:den>
                      </m:f>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𝐿</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𝐾</m:t>
                          </m:r>
                        </m:sub>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b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𝑌</m:t>
                          </m:r>
                        </m:e>
                        <m:sup>
                          <m:r>
                            <a:rPr lang="en-US" i="1">
                              <a:latin typeface="Cambria Math" panose="02040503050406030204" pitchFamily="18" charset="0"/>
                              <a:ea typeface="Cambria Math" panose="02040503050406030204" pitchFamily="18" charset="0"/>
                            </a:rPr>
                            <m:t>−1</m:t>
                          </m:r>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𝐿</m:t>
                          </m:r>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𝐾</m:t>
                          </m:r>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r>
                        <a:rPr lang="en-US" i="1">
                          <a:latin typeface="Cambria Math" panose="02040503050406030204" pitchFamily="18" charset="0"/>
                          <a:ea typeface="Cambria Math" panose="02040503050406030204" pitchFamily="18" charset="0"/>
                        </a:rPr>
                        <m:t>&gt;0</m:t>
                      </m:r>
                    </m:oMath>
                  </m:oMathPara>
                </a14:m>
                <a:endParaRPr lang="en-US" dirty="0"/>
              </a:p>
              <a:p>
                <a:pPr marL="0" indent="0">
                  <a:buNone/>
                </a:pPr>
                <a:endParaRPr lang="en-US" dirty="0"/>
              </a:p>
            </p:txBody>
          </p:sp>
        </mc:Choice>
        <mc:Fallback xmlns="">
          <p:sp>
            <p:nvSpPr>
              <p:cNvPr id="7" name="Content Placeholder 6">
                <a:extLst>
                  <a:ext uri="{FF2B5EF4-FFF2-40B4-BE49-F238E27FC236}">
                    <a16:creationId xmlns:a16="http://schemas.microsoft.com/office/drawing/2014/main" id="{27E90641-50CE-FB39-2777-F4E5B38CFA9D}"/>
                  </a:ext>
                </a:extLst>
              </p:cNvPr>
              <p:cNvSpPr>
                <a:spLocks noGrp="1" noRot="1" noChangeAspect="1" noMove="1" noResize="1" noEditPoints="1" noAdjustHandles="1" noChangeArrowheads="1" noChangeShapeType="1" noTextEdit="1"/>
              </p:cNvSpPr>
              <p:nvPr>
                <p:ph idx="1"/>
              </p:nvPr>
            </p:nvSpPr>
            <p:spPr>
              <a:xfrm>
                <a:off x="609600" y="1600201"/>
                <a:ext cx="10972800" cy="5121275"/>
              </a:xfrm>
              <a:blipFill>
                <a:blip r:embed="rId2"/>
                <a:stretch>
                  <a:fillRect l="-1278" t="-1548"/>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83480168-B185-44A1-5C35-3FD777E40EB3}"/>
              </a:ext>
            </a:extLst>
          </p:cNvPr>
          <p:cNvSpPr>
            <a:spLocks noGrp="1"/>
          </p:cNvSpPr>
          <p:nvPr>
            <p:ph type="sldNum" sz="quarter" idx="12"/>
          </p:nvPr>
        </p:nvSpPr>
        <p:spPr/>
        <p:txBody>
          <a:bodyPr/>
          <a:lstStyle/>
          <a:p>
            <a:fld id="{BB3BE34B-9575-430D-9A41-469C30B8F0EA}" type="slidenum">
              <a:rPr lang="en-US" smtClean="0"/>
              <a:pPr/>
              <a:t>52</a:t>
            </a:fld>
            <a:endParaRPr lang="en-US"/>
          </a:p>
        </p:txBody>
      </p:sp>
    </p:spTree>
    <p:extLst>
      <p:ext uri="{BB962C8B-B14F-4D97-AF65-F5344CB8AC3E}">
        <p14:creationId xmlns:p14="http://schemas.microsoft.com/office/powerpoint/2010/main" val="23256256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FE5C-819B-9A87-1F8D-988AC5F89754}"/>
              </a:ext>
            </a:extLst>
          </p:cNvPr>
          <p:cNvSpPr>
            <a:spLocks noGrp="1"/>
          </p:cNvSpPr>
          <p:nvPr>
            <p:ph type="title"/>
          </p:nvPr>
        </p:nvSpPr>
        <p:spPr/>
        <p:txBody>
          <a:bodyPr/>
          <a:lstStyle/>
          <a:p>
            <a:r>
              <a:rPr lang="en-US" dirty="0"/>
              <a:t>Technology Displacing Workers</a:t>
            </a:r>
          </a:p>
        </p:txBody>
      </p:sp>
      <p:sp>
        <p:nvSpPr>
          <p:cNvPr id="3" name="Content Placeholder 2">
            <a:extLst>
              <a:ext uri="{FF2B5EF4-FFF2-40B4-BE49-F238E27FC236}">
                <a16:creationId xmlns:a16="http://schemas.microsoft.com/office/drawing/2014/main" id="{E45DBDAD-19C7-F8F5-627C-4C61CE5D7D49}"/>
              </a:ext>
            </a:extLst>
          </p:cNvPr>
          <p:cNvSpPr>
            <a:spLocks noGrp="1"/>
          </p:cNvSpPr>
          <p:nvPr>
            <p:ph idx="1"/>
          </p:nvPr>
        </p:nvSpPr>
        <p:spPr>
          <a:xfrm>
            <a:off x="609600" y="1981200"/>
            <a:ext cx="10972800" cy="4144964"/>
          </a:xfrm>
        </p:spPr>
        <p:txBody>
          <a:bodyPr/>
          <a:lstStyle/>
          <a:p>
            <a:r>
              <a:rPr lang="en-US" dirty="0"/>
              <a:t>Both Cobb-Douglas and CES imply that technology and </a:t>
            </a:r>
            <a:br>
              <a:rPr lang="en-US" dirty="0"/>
            </a:br>
            <a:r>
              <a:rPr lang="en-US" dirty="0"/>
              <a:t>capital make workers better off</a:t>
            </a:r>
          </a:p>
          <a:p>
            <a:r>
              <a:rPr lang="en-US" dirty="0"/>
              <a:t>Don’t make contact with notion that technology may </a:t>
            </a:r>
            <a:br>
              <a:rPr lang="en-US" dirty="0"/>
            </a:br>
            <a:r>
              <a:rPr lang="en-US" dirty="0">
                <a:solidFill>
                  <a:srgbClr val="C00000"/>
                </a:solidFill>
              </a:rPr>
              <a:t>displace</a:t>
            </a:r>
            <a:r>
              <a:rPr lang="en-US" dirty="0"/>
              <a:t> workers</a:t>
            </a:r>
          </a:p>
          <a:p>
            <a:r>
              <a:rPr lang="en-US" dirty="0"/>
              <a:t>We need a different type of production function for this</a:t>
            </a:r>
          </a:p>
        </p:txBody>
      </p:sp>
      <p:sp>
        <p:nvSpPr>
          <p:cNvPr id="4" name="Slide Number Placeholder 3">
            <a:extLst>
              <a:ext uri="{FF2B5EF4-FFF2-40B4-BE49-F238E27FC236}">
                <a16:creationId xmlns:a16="http://schemas.microsoft.com/office/drawing/2014/main" id="{5A412916-B336-B8A2-191D-A1C26E339256}"/>
              </a:ext>
            </a:extLst>
          </p:cNvPr>
          <p:cNvSpPr>
            <a:spLocks noGrp="1"/>
          </p:cNvSpPr>
          <p:nvPr>
            <p:ph type="sldNum" sz="quarter" idx="12"/>
          </p:nvPr>
        </p:nvSpPr>
        <p:spPr/>
        <p:txBody>
          <a:bodyPr/>
          <a:lstStyle/>
          <a:p>
            <a:fld id="{BB3BE34B-9575-430D-9A41-469C30B8F0EA}" type="slidenum">
              <a:rPr lang="en-US" smtClean="0"/>
              <a:pPr/>
              <a:t>53</a:t>
            </a:fld>
            <a:endParaRPr lang="en-US"/>
          </a:p>
        </p:txBody>
      </p:sp>
    </p:spTree>
    <p:extLst>
      <p:ext uri="{BB962C8B-B14F-4D97-AF65-F5344CB8AC3E}">
        <p14:creationId xmlns:p14="http://schemas.microsoft.com/office/powerpoint/2010/main" val="340350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DB5FD-3D44-A630-36C5-1181818F8B59}"/>
              </a:ext>
            </a:extLst>
          </p:cNvPr>
          <p:cNvSpPr>
            <a:spLocks noGrp="1"/>
          </p:cNvSpPr>
          <p:nvPr>
            <p:ph type="title"/>
          </p:nvPr>
        </p:nvSpPr>
        <p:spPr/>
        <p:txBody>
          <a:bodyPr/>
          <a:lstStyle/>
          <a:p>
            <a:r>
              <a:rPr lang="en-US" dirty="0"/>
              <a:t>Task-Based Production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0FF3E2D-53BD-F0B5-1BB7-70FF60FA1D7D}"/>
                  </a:ext>
                </a:extLst>
              </p:cNvPr>
              <p:cNvSpPr>
                <a:spLocks noGrp="1"/>
              </p:cNvSpPr>
              <p:nvPr>
                <p:ph idx="1"/>
              </p:nvPr>
            </p:nvSpPr>
            <p:spPr>
              <a:xfrm>
                <a:off x="609600" y="1600200"/>
                <a:ext cx="10972800" cy="5121275"/>
              </a:xfrm>
            </p:spPr>
            <p:txBody>
              <a:bodyPr>
                <a:normAutofit lnSpcReduction="10000"/>
              </a:bodyPr>
              <a:lstStyle/>
              <a:p>
                <a:r>
                  <a:rPr lang="en-US" dirty="0"/>
                  <a:t>Production involves completion of a range of tasks</a:t>
                </a:r>
              </a:p>
              <a:p>
                <a:r>
                  <a:rPr lang="en-US" dirty="0"/>
                  <a:t>We now model production in this way</a:t>
                </a:r>
              </a:p>
              <a:p>
                <a:pPr>
                  <a:spcBef>
                    <a:spcPts val="1200"/>
                  </a:spcBef>
                  <a:spcAft>
                    <a:spcPts val="1200"/>
                  </a:spcAft>
                </a:pPr>
                <a:r>
                  <a:rPr lang="en-US" dirty="0"/>
                  <a:t>Suppose production involves completing </a:t>
                </a:r>
                <a14:m>
                  <m:oMath xmlns:m="http://schemas.openxmlformats.org/officeDocument/2006/math">
                    <m:r>
                      <a:rPr lang="en-US" b="0" i="1" smtClean="0">
                        <a:latin typeface="Cambria Math" panose="02040503050406030204" pitchFamily="18" charset="0"/>
                      </a:rPr>
                      <m:t>𝐽</m:t>
                    </m:r>
                  </m:oMath>
                </a14:m>
                <a:r>
                  <a:rPr lang="en-US" dirty="0"/>
                  <a:t> tasks:</a:t>
                </a:r>
              </a:p>
              <a:p>
                <a:pPr marL="0" indent="0">
                  <a:spcBef>
                    <a:spcPts val="1200"/>
                  </a:spcBef>
                  <a:spcAft>
                    <a:spcPts val="1200"/>
                  </a:spcAft>
                  <a:buNone/>
                </a:pPr>
                <a14:m>
                  <m:oMathPara xmlns:m="http://schemas.openxmlformats.org/officeDocument/2006/math">
                    <m:oMath>
                      <m:r>
                        <a:rPr lang="en-US" b="0" i="1" smtClean="0">
                          <a:latin typeface="Cambria Math" panose="02040503050406030204" pitchFamily="18" charset="0"/>
                        </a:rPr>
                        <m:t>𝑌</m:t>
                      </m:r>
                      <m:r>
                        <a:rPr lang="en-US" b="0" i="1" smtClean="0">
                          <a:latin typeface="Cambria Math" panose="02040503050406030204" pitchFamily="18" charset="0"/>
                        </a:rPr>
                        <m:t>= </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𝑗</m:t>
                                  </m:r>
                                  <m:r>
                                    <m:rPr>
                                      <m:brk m:alnAt="23"/>
                                    </m:rPr>
                                    <a:rPr lang="en-US" i="1">
                                      <a:latin typeface="Cambria Math" panose="02040503050406030204" pitchFamily="18" charset="0"/>
                                    </a:rPr>
                                    <m:t>=</m:t>
                                  </m:r>
                                  <m:r>
                                    <m:rPr>
                                      <m:brk m:alnAt="23"/>
                                    </m:rPr>
                                    <a:rPr lang="en-US" i="1">
                                      <a:latin typeface="Cambria Math" panose="02040503050406030204" pitchFamily="18" charset="0"/>
                                    </a:rPr>
                                    <m:t>1</m:t>
                                  </m:r>
                                </m:sub>
                                <m:sup>
                                  <m:r>
                                    <a:rPr lang="en-US" i="1">
                                      <a:latin typeface="Cambria Math" panose="02040503050406030204" pitchFamily="18" charset="0"/>
                                    </a:rPr>
                                    <m:t>𝐽</m:t>
                                  </m:r>
                                </m:sup>
                                <m:e>
                                  <m:sSup>
                                    <m:sSupPr>
                                      <m:ctrlPr>
                                        <a:rPr lang="en-US" i="1">
                                          <a:latin typeface="Cambria Math" panose="02040503050406030204" pitchFamily="18" charset="0"/>
                                        </a:rPr>
                                      </m:ctrlPr>
                                    </m:sSupPr>
                                    <m:e>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e>
                                    <m:sup>
                                      <m:f>
                                        <m:fPr>
                                          <m:ctrlPr>
                                            <a:rPr lang="en-US" i="1">
                                              <a:latin typeface="Cambria Math" panose="02040503050406030204" pitchFamily="18" charset="0"/>
                                            </a:rPr>
                                          </m:ctrlPr>
                                        </m:fPr>
                                        <m:num>
                                          <m:r>
                                            <a:rPr lang="en-US" i="1">
                                              <a:latin typeface="Cambria Math" panose="02040503050406030204" pitchFamily="18" charset="0"/>
                                            </a:rPr>
                                            <m:t>𝜎</m:t>
                                          </m:r>
                                          <m:r>
                                            <a:rPr lang="en-US" i="1">
                                              <a:latin typeface="Cambria Math" panose="02040503050406030204" pitchFamily="18" charset="0"/>
                                            </a:rPr>
                                            <m:t>−1</m:t>
                                          </m:r>
                                        </m:num>
                                        <m:den>
                                          <m:r>
                                            <a:rPr lang="en-US" i="1">
                                              <a:latin typeface="Cambria Math" panose="02040503050406030204" pitchFamily="18" charset="0"/>
                                            </a:rPr>
                                            <m:t>𝜎</m:t>
                                          </m:r>
                                        </m:den>
                                      </m:f>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𝜎</m:t>
                              </m:r>
                            </m:num>
                            <m:den>
                              <m:r>
                                <a:rPr lang="en-US" b="0" i="1" smtClean="0">
                                  <a:latin typeface="Cambria Math" panose="02040503050406030204" pitchFamily="18" charset="0"/>
                                </a:rPr>
                                <m:t>𝜎</m:t>
                              </m:r>
                              <m:r>
                                <a:rPr lang="en-US" b="0" i="1" smtClean="0">
                                  <a:latin typeface="Cambria Math" panose="02040503050406030204" pitchFamily="18" charset="0"/>
                                </a:rPr>
                                <m:t>−1</m:t>
                              </m:r>
                            </m:den>
                          </m:f>
                        </m:sup>
                      </m:sSup>
                    </m:oMath>
                  </m:oMathPara>
                </a14:m>
                <a:endParaRPr lang="en-US" dirty="0"/>
              </a:p>
              <a:p>
                <a:pPr lvl="1">
                  <a:spcBef>
                    <a:spcPts val="1200"/>
                  </a:spcBef>
                  <a:spcAft>
                    <a:spcPts val="1200"/>
                  </a:spcAft>
                </a:pP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r>
                  <a:rPr lang="en-US" dirty="0"/>
                  <a:t> denote number of time task </a:t>
                </a:r>
                <a14:m>
                  <m:oMath xmlns:m="http://schemas.openxmlformats.org/officeDocument/2006/math">
                    <m:r>
                      <a:rPr lang="en-US" b="0" i="1" smtClean="0">
                        <a:latin typeface="Cambria Math" panose="02040503050406030204" pitchFamily="18" charset="0"/>
                      </a:rPr>
                      <m:t>𝑗</m:t>
                    </m:r>
                  </m:oMath>
                </a14:m>
                <a:r>
                  <a:rPr lang="en-US" dirty="0"/>
                  <a:t> is completed</a:t>
                </a:r>
              </a:p>
              <a:p>
                <a:pPr lvl="1"/>
                <a:r>
                  <a:rPr lang="en-US" dirty="0"/>
                  <a:t>Tasks are combined using a CES production function</a:t>
                </a:r>
              </a:p>
            </p:txBody>
          </p:sp>
        </mc:Choice>
        <mc:Fallback xmlns="">
          <p:sp>
            <p:nvSpPr>
              <p:cNvPr id="3" name="Content Placeholder 2">
                <a:extLst>
                  <a:ext uri="{FF2B5EF4-FFF2-40B4-BE49-F238E27FC236}">
                    <a16:creationId xmlns:a16="http://schemas.microsoft.com/office/drawing/2014/main" id="{60FF3E2D-53BD-F0B5-1BB7-70FF60FA1D7D}"/>
                  </a:ext>
                </a:extLst>
              </p:cNvPr>
              <p:cNvSpPr>
                <a:spLocks noGrp="1" noRot="1" noChangeAspect="1" noMove="1" noResize="1" noEditPoints="1" noAdjustHandles="1" noChangeArrowheads="1" noChangeShapeType="1" noTextEdit="1"/>
              </p:cNvSpPr>
              <p:nvPr>
                <p:ph idx="1"/>
              </p:nvPr>
            </p:nvSpPr>
            <p:spPr>
              <a:xfrm>
                <a:off x="609600" y="1600200"/>
                <a:ext cx="10972800" cy="5121275"/>
              </a:xfrm>
              <a:blipFill>
                <a:blip r:embed="rId2"/>
                <a:stretch>
                  <a:fillRect l="-1278" t="-25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36BA959-36E1-2FA1-DFFE-855C34A76CD0}"/>
              </a:ext>
            </a:extLst>
          </p:cNvPr>
          <p:cNvSpPr>
            <a:spLocks noGrp="1"/>
          </p:cNvSpPr>
          <p:nvPr>
            <p:ph type="sldNum" sz="quarter" idx="12"/>
          </p:nvPr>
        </p:nvSpPr>
        <p:spPr/>
        <p:txBody>
          <a:bodyPr/>
          <a:lstStyle/>
          <a:p>
            <a:fld id="{BB3BE34B-9575-430D-9A41-469C30B8F0EA}" type="slidenum">
              <a:rPr lang="en-US" smtClean="0"/>
              <a:pPr/>
              <a:t>54</a:t>
            </a:fld>
            <a:endParaRPr lang="en-US"/>
          </a:p>
        </p:txBody>
      </p:sp>
    </p:spTree>
    <p:extLst>
      <p:ext uri="{BB962C8B-B14F-4D97-AF65-F5344CB8AC3E}">
        <p14:creationId xmlns:p14="http://schemas.microsoft.com/office/powerpoint/2010/main" val="41320967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B471D-815C-93B1-69BE-C4EA87B8864D}"/>
              </a:ext>
            </a:extLst>
          </p:cNvPr>
          <p:cNvSpPr>
            <a:spLocks noGrp="1"/>
          </p:cNvSpPr>
          <p:nvPr>
            <p:ph type="title"/>
          </p:nvPr>
        </p:nvSpPr>
        <p:spPr/>
        <p:txBody>
          <a:bodyPr/>
          <a:lstStyle/>
          <a:p>
            <a:r>
              <a:rPr lang="en-US" dirty="0"/>
              <a:t>Production of Tasks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B8F910-EA6B-66EC-00A6-8C69F6CE4F14}"/>
                  </a:ext>
                </a:extLst>
              </p:cNvPr>
              <p:cNvSpPr>
                <a:spLocks noGrp="1"/>
              </p:cNvSpPr>
              <p:nvPr>
                <p:ph idx="1"/>
              </p:nvPr>
            </p:nvSpPr>
            <p:spPr>
              <a:xfrm>
                <a:off x="609600" y="2209800"/>
                <a:ext cx="10972800" cy="3916364"/>
              </a:xfrm>
            </p:spPr>
            <p:txBody>
              <a:bodyPr/>
              <a:lstStyle/>
              <a:p>
                <a:pPr>
                  <a:spcBef>
                    <a:spcPts val="1200"/>
                  </a:spcBef>
                  <a:spcAft>
                    <a:spcPts val="1200"/>
                  </a:spcAft>
                </a:pPr>
                <a:r>
                  <a:rPr lang="en-US" dirty="0"/>
                  <a:t>Tasks are performed either with labor or machines:</a:t>
                </a:r>
              </a:p>
              <a:p>
                <a:pPr marL="0" indent="0">
                  <a:spcBef>
                    <a:spcPts val="1200"/>
                  </a:spcBef>
                  <a:spcAft>
                    <a:spcPts val="1200"/>
                  </a:spcAft>
                  <a:buNone/>
                </a:pPr>
                <a14:m>
                  <m:oMathPara xmlns:m="http://schemas.openxmlformats.org/officeDocument/2006/math">
                    <m:o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𝐿</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𝐾</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𝑗</m:t>
                          </m:r>
                        </m:e>
                      </m:d>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m:oMathPara>
                </a14:m>
                <a:endParaRPr lang="en-US" dirty="0"/>
              </a:p>
              <a:p>
                <a:pPr lvl="1"/>
                <a14:m>
                  <m:oMath xmlns:m="http://schemas.openxmlformats.org/officeDocument/2006/math">
                    <m:r>
                      <a:rPr lang="en-US" i="1">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𝑗</m:t>
                        </m:r>
                      </m:e>
                    </m:d>
                  </m:oMath>
                </a14:m>
                <a:r>
                  <a:rPr lang="en-US" dirty="0"/>
                  <a:t> and </a:t>
                </a:r>
                <a14:m>
                  <m:oMath xmlns:m="http://schemas.openxmlformats.org/officeDocument/2006/math">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oMath>
                </a14:m>
                <a:r>
                  <a:rPr lang="en-US" dirty="0"/>
                  <a:t>: amount of labor and capital used to produce task </a:t>
                </a:r>
                <a14:m>
                  <m:oMath xmlns:m="http://schemas.openxmlformats.org/officeDocument/2006/math">
                    <m:r>
                      <a:rPr lang="en-US" b="0" i="1" smtClean="0">
                        <a:latin typeface="Cambria Math" panose="02040503050406030204" pitchFamily="18" charset="0"/>
                      </a:rPr>
                      <m:t>𝑗</m:t>
                    </m:r>
                  </m:oMath>
                </a14:m>
                <a:endParaRPr lang="en-US" dirty="0"/>
              </a:p>
              <a:p>
                <a:pPr lvl="1">
                  <a:spcAft>
                    <a:spcPts val="1200"/>
                  </a:spcAft>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𝐿</m:t>
                        </m:r>
                      </m:sub>
                    </m:sSub>
                    <m:d>
                      <m:dPr>
                        <m:ctrlPr>
                          <a:rPr lang="en-US" i="1">
                            <a:latin typeface="Cambria Math" panose="02040503050406030204" pitchFamily="18" charset="0"/>
                          </a:rPr>
                        </m:ctrlPr>
                      </m:dPr>
                      <m:e>
                        <m:r>
                          <a:rPr lang="en-US" i="1">
                            <a:latin typeface="Cambria Math" panose="02040503050406030204" pitchFamily="18" charset="0"/>
                          </a:rPr>
                          <m:t>𝑗</m:t>
                        </m:r>
                      </m:e>
                    </m:d>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𝐾</m:t>
                        </m:r>
                      </m:sub>
                    </m:sSub>
                    <m:d>
                      <m:dPr>
                        <m:ctrlPr>
                          <a:rPr lang="en-US" i="1">
                            <a:latin typeface="Cambria Math" panose="02040503050406030204" pitchFamily="18" charset="0"/>
                          </a:rPr>
                        </m:ctrlPr>
                      </m:dPr>
                      <m:e>
                        <m:r>
                          <a:rPr lang="en-US" i="1">
                            <a:latin typeface="Cambria Math" panose="02040503050406030204" pitchFamily="18" charset="0"/>
                          </a:rPr>
                          <m:t>𝑗</m:t>
                        </m:r>
                      </m:e>
                    </m:d>
                  </m:oMath>
                </a14:m>
                <a:r>
                  <a:rPr lang="en-US" dirty="0"/>
                  <a:t>: productivity of labor and capital in producing task </a:t>
                </a:r>
                <a14:m>
                  <m:oMath xmlns:m="http://schemas.openxmlformats.org/officeDocument/2006/math">
                    <m:r>
                      <a:rPr lang="en-US" b="0" i="1" smtClean="0">
                        <a:latin typeface="Cambria Math" panose="02040503050406030204" pitchFamily="18" charset="0"/>
                      </a:rPr>
                      <m:t>𝑗</m:t>
                    </m:r>
                  </m:oMath>
                </a14:m>
                <a:endParaRPr lang="en-US" dirty="0"/>
              </a:p>
              <a:p>
                <a:r>
                  <a:rPr lang="en-US" dirty="0"/>
                  <a:t>Labor and capital are perfect substitutes in performing task </a:t>
                </a:r>
                <a14:m>
                  <m:oMath xmlns:m="http://schemas.openxmlformats.org/officeDocument/2006/math">
                    <m:r>
                      <a:rPr lang="en-US" i="1">
                        <a:latin typeface="Cambria Math" panose="02040503050406030204" pitchFamily="18" charset="0"/>
                      </a:rPr>
                      <m:t>𝑗</m:t>
                    </m:r>
                  </m:oMath>
                </a14:m>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0B8F910-EA6B-66EC-00A6-8C69F6CE4F14}"/>
                  </a:ext>
                </a:extLst>
              </p:cNvPr>
              <p:cNvSpPr>
                <a:spLocks noGrp="1" noRot="1" noChangeAspect="1" noMove="1" noResize="1" noEditPoints="1" noAdjustHandles="1" noChangeArrowheads="1" noChangeShapeType="1" noTextEdit="1"/>
              </p:cNvSpPr>
              <p:nvPr>
                <p:ph idx="1"/>
              </p:nvPr>
            </p:nvSpPr>
            <p:spPr>
              <a:xfrm>
                <a:off x="609600" y="2209800"/>
                <a:ext cx="10972800" cy="3916364"/>
              </a:xfrm>
              <a:blipFill>
                <a:blip r:embed="rId2"/>
                <a:stretch>
                  <a:fillRect l="-1278" t="-202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593B935-DB07-231C-8724-BD8B5149E790}"/>
              </a:ext>
            </a:extLst>
          </p:cNvPr>
          <p:cNvSpPr>
            <a:spLocks noGrp="1"/>
          </p:cNvSpPr>
          <p:nvPr>
            <p:ph type="sldNum" sz="quarter" idx="12"/>
          </p:nvPr>
        </p:nvSpPr>
        <p:spPr/>
        <p:txBody>
          <a:bodyPr/>
          <a:lstStyle/>
          <a:p>
            <a:fld id="{BB3BE34B-9575-430D-9A41-469C30B8F0EA}" type="slidenum">
              <a:rPr lang="en-US" smtClean="0"/>
              <a:pPr/>
              <a:t>55</a:t>
            </a:fld>
            <a:endParaRPr lang="en-US"/>
          </a:p>
        </p:txBody>
      </p:sp>
    </p:spTree>
    <p:extLst>
      <p:ext uri="{BB962C8B-B14F-4D97-AF65-F5344CB8AC3E}">
        <p14:creationId xmlns:p14="http://schemas.microsoft.com/office/powerpoint/2010/main" val="18580361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8DCA56C-C189-F642-775B-19C89C5EBD94}"/>
                  </a:ext>
                </a:extLst>
              </p:cNvPr>
              <p:cNvSpPr>
                <a:spLocks noGrp="1"/>
              </p:cNvSpPr>
              <p:nvPr>
                <p:ph type="title"/>
              </p:nvPr>
            </p:nvSpPr>
            <p:spPr/>
            <p:txBody>
              <a:bodyPr/>
              <a:lstStyle/>
              <a:p>
                <a:r>
                  <a:rPr lang="en-US" dirty="0"/>
                  <a:t>How Is Task </a:t>
                </a:r>
                <a14:m>
                  <m:oMath xmlns:m="http://schemas.openxmlformats.org/officeDocument/2006/math">
                    <m:r>
                      <a:rPr lang="en-US" i="1">
                        <a:latin typeface="Cambria Math" panose="02040503050406030204" pitchFamily="18" charset="0"/>
                      </a:rPr>
                      <m:t>𝑗</m:t>
                    </m:r>
                  </m:oMath>
                </a14:m>
                <a:r>
                  <a:rPr lang="en-US" dirty="0"/>
                  <a:t> Performed?</a:t>
                </a:r>
              </a:p>
            </p:txBody>
          </p:sp>
        </mc:Choice>
        <mc:Fallback xmlns="">
          <p:sp>
            <p:nvSpPr>
              <p:cNvPr id="2" name="Title 1">
                <a:extLst>
                  <a:ext uri="{FF2B5EF4-FFF2-40B4-BE49-F238E27FC236}">
                    <a16:creationId xmlns:a16="http://schemas.microsoft.com/office/drawing/2014/main" id="{78DCA56C-C189-F642-775B-19C89C5EBD94}"/>
                  </a:ext>
                </a:extLst>
              </p:cNvPr>
              <p:cNvSpPr>
                <a:spLocks noGrp="1" noRot="1" noChangeAspect="1" noMove="1" noResize="1" noEditPoints="1" noAdjustHandles="1" noChangeArrowheads="1" noChangeShapeType="1" noTextEdit="1"/>
              </p:cNvSpPr>
              <p:nvPr>
                <p:ph type="title"/>
              </p:nvPr>
            </p:nvSpPr>
            <p:spPr>
              <a:blipFill>
                <a:blip r:embed="rId2"/>
                <a:stretch>
                  <a:fillRect b="-85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83674E-C068-8E81-D930-73E8E30016E7}"/>
                  </a:ext>
                </a:extLst>
              </p:cNvPr>
              <p:cNvSpPr>
                <a:spLocks noGrp="1"/>
              </p:cNvSpPr>
              <p:nvPr>
                <p:ph idx="1"/>
              </p:nvPr>
            </p:nvSpPr>
            <p:spPr>
              <a:xfrm>
                <a:off x="609600" y="1600201"/>
                <a:ext cx="10972800" cy="4983161"/>
              </a:xfrm>
            </p:spPr>
            <p:txBody>
              <a:bodyPr/>
              <a:lstStyle/>
              <a:p>
                <a:r>
                  <a:rPr lang="en-US" dirty="0"/>
                  <a:t>Cost of producing task </a:t>
                </a:r>
                <a14:m>
                  <m:oMath xmlns:m="http://schemas.openxmlformats.org/officeDocument/2006/math">
                    <m:r>
                      <a:rPr lang="en-US" b="0" i="1" smtClean="0">
                        <a:latin typeface="Cambria Math" panose="02040503050406030204" pitchFamily="18" charset="0"/>
                      </a:rPr>
                      <m:t>𝑗</m:t>
                    </m:r>
                  </m:oMath>
                </a14:m>
                <a:r>
                  <a:rPr lang="en-US" dirty="0"/>
                  <a:t> with labor: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𝑤</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𝐿</m:t>
                            </m:r>
                          </m:sub>
                        </m:sSub>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en>
                    </m:f>
                  </m:oMath>
                </a14:m>
                <a:endParaRPr lang="en-US" dirty="0"/>
              </a:p>
              <a:p>
                <a:r>
                  <a:rPr lang="en-US" dirty="0"/>
                  <a:t>Cost of producing task </a:t>
                </a:r>
                <a14:m>
                  <m:oMath xmlns:m="http://schemas.openxmlformats.org/officeDocument/2006/math">
                    <m:r>
                      <a:rPr lang="en-US" b="0" i="1" smtClean="0">
                        <a:latin typeface="Cambria Math" panose="02040503050406030204" pitchFamily="18" charset="0"/>
                      </a:rPr>
                      <m:t>𝑗</m:t>
                    </m:r>
                  </m:oMath>
                </a14:m>
                <a:r>
                  <a:rPr lang="en-US" dirty="0"/>
                  <a:t> with capital: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𝑟</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𝐾</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den>
                    </m:f>
                  </m:oMath>
                </a14:m>
                <a:endParaRPr lang="en-US" dirty="0"/>
              </a:p>
              <a:p>
                <a:r>
                  <a:rPr lang="en-US" dirty="0"/>
                  <a:t>Firm will do whichever is cheaper</a:t>
                </a:r>
              </a:p>
              <a:p>
                <a:pPr>
                  <a:spcAft>
                    <a:spcPts val="1200"/>
                  </a:spcAft>
                </a:pPr>
                <a:r>
                  <a:rPr lang="en-US" dirty="0"/>
                  <a:t>Will produce task </a:t>
                </a:r>
                <a14:m>
                  <m:oMath xmlns:m="http://schemas.openxmlformats.org/officeDocument/2006/math">
                    <m:r>
                      <a:rPr lang="en-US" b="0" i="1" smtClean="0">
                        <a:latin typeface="Cambria Math" panose="02040503050406030204" pitchFamily="18" charset="0"/>
                      </a:rPr>
                      <m:t>𝑗</m:t>
                    </m:r>
                  </m:oMath>
                </a14:m>
                <a:r>
                  <a:rPr lang="en-US" dirty="0"/>
                  <a:t> with labor if</a:t>
                </a:r>
              </a:p>
              <a:p>
                <a:pPr marL="0" indent="0">
                  <a:spcAft>
                    <a:spcPts val="1200"/>
                  </a:spcAft>
                  <a:buNone/>
                </a:pPr>
                <a14:m>
                  <m:oMathPara xmlns:m="http://schemas.openxmlformats.org/officeDocument/2006/math">
                    <m:oMath>
                      <m:f>
                        <m:fPr>
                          <m:ctrlPr>
                            <a:rPr lang="en-US" i="1">
                              <a:latin typeface="Cambria Math" panose="02040503050406030204" pitchFamily="18" charset="0"/>
                            </a:rPr>
                          </m:ctrlPr>
                        </m:fPr>
                        <m:num>
                          <m:r>
                            <a:rPr lang="en-US" i="1">
                              <a:latin typeface="Cambria Math" panose="02040503050406030204" pitchFamily="18" charset="0"/>
                            </a:rPr>
                            <m:t>𝑤</m:t>
                          </m:r>
                        </m:num>
                        <m:den>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𝐿</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den>
                      </m:f>
                      <m:r>
                        <a:rPr lang="en-US" b="0" i="1" smtClean="0">
                          <a:latin typeface="Cambria Math" panose="02040503050406030204" pitchFamily="18" charset="0"/>
                        </a:rPr>
                        <m:t>&lt;</m:t>
                      </m:r>
                      <m:f>
                        <m:fPr>
                          <m:ctrlPr>
                            <a:rPr lang="en-US" i="1">
                              <a:latin typeface="Cambria Math" panose="02040503050406030204" pitchFamily="18" charset="0"/>
                            </a:rPr>
                          </m:ctrlPr>
                        </m:fPr>
                        <m:num>
                          <m:r>
                            <a:rPr lang="en-US" i="1">
                              <a:latin typeface="Cambria Math" panose="02040503050406030204" pitchFamily="18" charset="0"/>
                            </a:rPr>
                            <m:t>𝑟</m:t>
                          </m:r>
                        </m:num>
                        <m:den>
                          <m:sSub>
                            <m:sSubPr>
                              <m:ctrlPr>
                                <a:rPr lang="en-US" i="1">
                                  <a:latin typeface="Cambria Math" panose="02040503050406030204" pitchFamily="18" charset="0"/>
                                </a:rPr>
                              </m:ctrlPr>
                            </m:sSubPr>
                            <m:e>
                              <m:r>
                                <a:rPr lang="en-US" i="1">
                                  <a:latin typeface="Cambria Math" panose="02040503050406030204" pitchFamily="18" charset="0"/>
                                </a:rPr>
                                <m:t>𝜓</m:t>
                              </m:r>
                            </m:e>
                            <m:sub>
                              <m:r>
                                <a:rPr lang="en-US" i="1">
                                  <a:latin typeface="Cambria Math" panose="02040503050406030204" pitchFamily="18" charset="0"/>
                                </a:rPr>
                                <m:t>𝐾</m:t>
                              </m:r>
                            </m:sub>
                          </m:sSub>
                          <m:r>
                            <a:rPr lang="en-US" i="1">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m:t>
                          </m:r>
                        </m:den>
                      </m:f>
                    </m:oMath>
                  </m:oMathPara>
                </a14:m>
                <a:endParaRPr lang="en-US" dirty="0"/>
              </a:p>
              <a:p>
                <a:pPr marL="0" indent="0">
                  <a:buNone/>
                </a:pPr>
                <a:r>
                  <a:rPr lang="en-US" dirty="0"/>
                  <a:t>and otherwise with capital</a:t>
                </a:r>
              </a:p>
            </p:txBody>
          </p:sp>
        </mc:Choice>
        <mc:Fallback xmlns="">
          <p:sp>
            <p:nvSpPr>
              <p:cNvPr id="3" name="Content Placeholder 2">
                <a:extLst>
                  <a:ext uri="{FF2B5EF4-FFF2-40B4-BE49-F238E27FC236}">
                    <a16:creationId xmlns:a16="http://schemas.microsoft.com/office/drawing/2014/main" id="{F183674E-C068-8E81-D930-73E8E30016E7}"/>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3"/>
                <a:stretch>
                  <a:fillRect l="-1389" t="-24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32A0BEB-7B39-B05D-1C33-940A909B4D84}"/>
              </a:ext>
            </a:extLst>
          </p:cNvPr>
          <p:cNvSpPr>
            <a:spLocks noGrp="1"/>
          </p:cNvSpPr>
          <p:nvPr>
            <p:ph type="sldNum" sz="quarter" idx="12"/>
          </p:nvPr>
        </p:nvSpPr>
        <p:spPr/>
        <p:txBody>
          <a:bodyPr/>
          <a:lstStyle/>
          <a:p>
            <a:fld id="{BB3BE34B-9575-430D-9A41-469C30B8F0EA}" type="slidenum">
              <a:rPr lang="en-US" smtClean="0"/>
              <a:pPr/>
              <a:t>56</a:t>
            </a:fld>
            <a:endParaRPr lang="en-US"/>
          </a:p>
        </p:txBody>
      </p:sp>
    </p:spTree>
    <p:extLst>
      <p:ext uri="{BB962C8B-B14F-4D97-AF65-F5344CB8AC3E}">
        <p14:creationId xmlns:p14="http://schemas.microsoft.com/office/powerpoint/2010/main" val="3013506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607A97-CF1B-CDF5-CC6B-82F306EF4B3A}"/>
              </a:ext>
            </a:extLst>
          </p:cNvPr>
          <p:cNvSpPr>
            <a:spLocks noGrp="1"/>
          </p:cNvSpPr>
          <p:nvPr>
            <p:ph type="title"/>
          </p:nvPr>
        </p:nvSpPr>
        <p:spPr/>
        <p:txBody>
          <a:bodyPr/>
          <a:lstStyle/>
          <a:p>
            <a:r>
              <a:rPr lang="en-US" dirty="0"/>
              <a:t>Task-Based Production: An Example</a:t>
            </a:r>
          </a:p>
        </p:txBody>
      </p:sp>
      <p:sp>
        <p:nvSpPr>
          <p:cNvPr id="6" name="Content Placeholder 5">
            <a:extLst>
              <a:ext uri="{FF2B5EF4-FFF2-40B4-BE49-F238E27FC236}">
                <a16:creationId xmlns:a16="http://schemas.microsoft.com/office/drawing/2014/main" id="{D204B629-9793-7613-CECB-9DAC32A4EBBE}"/>
              </a:ext>
            </a:extLst>
          </p:cNvPr>
          <p:cNvSpPr>
            <a:spLocks noGrp="1"/>
          </p:cNvSpPr>
          <p:nvPr>
            <p:ph sz="half" idx="1"/>
          </p:nvPr>
        </p:nvSpPr>
        <p:spPr>
          <a:xfrm>
            <a:off x="304800" y="2057400"/>
            <a:ext cx="5638800" cy="4068762"/>
          </a:xfrm>
        </p:spPr>
        <p:txBody>
          <a:bodyPr/>
          <a:lstStyle/>
          <a:p>
            <a:pPr>
              <a:spcAft>
                <a:spcPts val="600"/>
              </a:spcAft>
            </a:pPr>
            <a:r>
              <a:rPr lang="en-US" dirty="0"/>
              <a:t>Good produced with 7 tasks</a:t>
            </a:r>
          </a:p>
          <a:p>
            <a:pPr>
              <a:spcAft>
                <a:spcPts val="600"/>
              </a:spcAft>
            </a:pPr>
            <a:r>
              <a:rPr lang="en-US" dirty="0"/>
              <a:t>Ordered by comparative advantage of labor</a:t>
            </a:r>
          </a:p>
          <a:p>
            <a:pPr>
              <a:spcAft>
                <a:spcPts val="600"/>
              </a:spcAft>
            </a:pPr>
            <a:r>
              <a:rPr lang="en-US" dirty="0"/>
              <a:t>Tasks 1, 2, 3 performed by capital</a:t>
            </a:r>
          </a:p>
          <a:p>
            <a:pPr>
              <a:spcAft>
                <a:spcPts val="600"/>
              </a:spcAft>
            </a:pPr>
            <a:r>
              <a:rPr lang="en-US" dirty="0"/>
              <a:t>Tasks 4, 5, 6, 7, performed by labor</a:t>
            </a:r>
          </a:p>
        </p:txBody>
      </p:sp>
      <p:pic>
        <p:nvPicPr>
          <p:cNvPr id="9" name="Content Placeholder 8">
            <a:extLst>
              <a:ext uri="{FF2B5EF4-FFF2-40B4-BE49-F238E27FC236}">
                <a16:creationId xmlns:a16="http://schemas.microsoft.com/office/drawing/2014/main" id="{BC82B3F0-4CAC-E744-CDD0-B9B8737B8FE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67400" y="1679044"/>
            <a:ext cx="6007114" cy="4340756"/>
          </a:xfrm>
        </p:spPr>
      </p:pic>
      <p:sp>
        <p:nvSpPr>
          <p:cNvPr id="4" name="Slide Number Placeholder 3">
            <a:extLst>
              <a:ext uri="{FF2B5EF4-FFF2-40B4-BE49-F238E27FC236}">
                <a16:creationId xmlns:a16="http://schemas.microsoft.com/office/drawing/2014/main" id="{63F99EBB-5079-A0CB-EFEC-E3FBE9347750}"/>
              </a:ext>
            </a:extLst>
          </p:cNvPr>
          <p:cNvSpPr>
            <a:spLocks noGrp="1"/>
          </p:cNvSpPr>
          <p:nvPr>
            <p:ph type="sldNum" sz="quarter" idx="12"/>
          </p:nvPr>
        </p:nvSpPr>
        <p:spPr/>
        <p:txBody>
          <a:bodyPr/>
          <a:lstStyle/>
          <a:p>
            <a:fld id="{BB3BE34B-9575-430D-9A41-469C30B8F0EA}" type="slidenum">
              <a:rPr lang="en-US" smtClean="0"/>
              <a:pPr/>
              <a:t>57</a:t>
            </a:fld>
            <a:endParaRPr lang="en-US"/>
          </a:p>
        </p:txBody>
      </p:sp>
    </p:spTree>
    <p:extLst>
      <p:ext uri="{BB962C8B-B14F-4D97-AF65-F5344CB8AC3E}">
        <p14:creationId xmlns:p14="http://schemas.microsoft.com/office/powerpoint/2010/main" val="227756184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D8034-DAD6-76A4-8C67-8CBCFADDB8B2}"/>
              </a:ext>
            </a:extLst>
          </p:cNvPr>
          <p:cNvSpPr>
            <a:spLocks noGrp="1"/>
          </p:cNvSpPr>
          <p:nvPr>
            <p:ph type="title"/>
          </p:nvPr>
        </p:nvSpPr>
        <p:spPr/>
        <p:txBody>
          <a:bodyPr/>
          <a:lstStyle/>
          <a:p>
            <a:r>
              <a:rPr lang="en-US" dirty="0"/>
              <a:t>Three Kinds of Technical Progress</a:t>
            </a:r>
          </a:p>
        </p:txBody>
      </p:sp>
      <p:sp>
        <p:nvSpPr>
          <p:cNvPr id="3" name="Content Placeholder 2">
            <a:extLst>
              <a:ext uri="{FF2B5EF4-FFF2-40B4-BE49-F238E27FC236}">
                <a16:creationId xmlns:a16="http://schemas.microsoft.com/office/drawing/2014/main" id="{FDC6A8F6-7697-EAF6-AFC8-8B2A6E3EE720}"/>
              </a:ext>
            </a:extLst>
          </p:cNvPr>
          <p:cNvSpPr>
            <a:spLocks noGrp="1"/>
          </p:cNvSpPr>
          <p:nvPr>
            <p:ph sz="half" idx="1"/>
          </p:nvPr>
        </p:nvSpPr>
        <p:spPr>
          <a:xfrm>
            <a:off x="609600" y="1600201"/>
            <a:ext cx="5384800" cy="4756150"/>
          </a:xfrm>
        </p:spPr>
        <p:txBody>
          <a:bodyPr/>
          <a:lstStyle/>
          <a:p>
            <a:r>
              <a:rPr lang="en-US" dirty="0"/>
              <a:t>Innovation A:</a:t>
            </a:r>
          </a:p>
          <a:p>
            <a:pPr lvl="1"/>
            <a:r>
              <a:rPr lang="en-US" dirty="0"/>
              <a:t>Cost of performing task 2 falls</a:t>
            </a:r>
          </a:p>
          <a:p>
            <a:pPr lvl="1"/>
            <a:r>
              <a:rPr lang="en-US" dirty="0"/>
              <a:t>Machines perform task both before and after innovation</a:t>
            </a:r>
          </a:p>
          <a:p>
            <a:pPr lvl="1"/>
            <a:r>
              <a:rPr lang="en-US" dirty="0"/>
              <a:t>No workers lose their jobs</a:t>
            </a:r>
          </a:p>
          <a:p>
            <a:pPr lvl="1"/>
            <a:r>
              <a:rPr lang="en-US" dirty="0"/>
              <a:t>Cost of producing good falls</a:t>
            </a:r>
          </a:p>
          <a:p>
            <a:pPr lvl="1"/>
            <a:r>
              <a:rPr lang="en-US" dirty="0"/>
              <a:t>Raises real wages of workers (purchasing power of wages)</a:t>
            </a:r>
          </a:p>
          <a:p>
            <a:pPr lvl="1"/>
            <a:r>
              <a:rPr lang="en-US" dirty="0"/>
              <a:t>Workers better off</a:t>
            </a:r>
          </a:p>
          <a:p>
            <a:pPr lvl="1"/>
            <a:r>
              <a:rPr lang="en-US" dirty="0"/>
              <a:t>Pure </a:t>
            </a:r>
            <a:r>
              <a:rPr lang="en-US" b="1" dirty="0"/>
              <a:t>productivity effect</a:t>
            </a:r>
          </a:p>
        </p:txBody>
      </p:sp>
      <p:pic>
        <p:nvPicPr>
          <p:cNvPr id="7" name="Content Placeholder 6">
            <a:extLst>
              <a:ext uri="{FF2B5EF4-FFF2-40B4-BE49-F238E27FC236}">
                <a16:creationId xmlns:a16="http://schemas.microsoft.com/office/drawing/2014/main" id="{B2428C27-CD9B-E413-CF11-03E7B6F769B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1925574"/>
            <a:ext cx="5384800" cy="3875215"/>
          </a:xfrm>
        </p:spPr>
      </p:pic>
      <p:sp>
        <p:nvSpPr>
          <p:cNvPr id="5" name="Slide Number Placeholder 4">
            <a:extLst>
              <a:ext uri="{FF2B5EF4-FFF2-40B4-BE49-F238E27FC236}">
                <a16:creationId xmlns:a16="http://schemas.microsoft.com/office/drawing/2014/main" id="{8670F674-BD70-1354-E62F-EBC44717BA24}"/>
              </a:ext>
            </a:extLst>
          </p:cNvPr>
          <p:cNvSpPr>
            <a:spLocks noGrp="1"/>
          </p:cNvSpPr>
          <p:nvPr>
            <p:ph type="sldNum" sz="quarter" idx="12"/>
          </p:nvPr>
        </p:nvSpPr>
        <p:spPr/>
        <p:txBody>
          <a:bodyPr/>
          <a:lstStyle/>
          <a:p>
            <a:fld id="{BB3BE34B-9575-430D-9A41-469C30B8F0EA}" type="slidenum">
              <a:rPr lang="en-US" smtClean="0"/>
              <a:pPr/>
              <a:t>58</a:t>
            </a:fld>
            <a:endParaRPr lang="en-US"/>
          </a:p>
        </p:txBody>
      </p:sp>
      <p:pic>
        <p:nvPicPr>
          <p:cNvPr id="4" name="Content Placeholder 6">
            <a:extLst>
              <a:ext uri="{FF2B5EF4-FFF2-40B4-BE49-F238E27FC236}">
                <a16:creationId xmlns:a16="http://schemas.microsoft.com/office/drawing/2014/main" id="{0F252792-C6AC-3AB6-3596-0663E0686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1676400"/>
            <a:ext cx="6131295" cy="4449764"/>
          </a:xfrm>
          <a:prstGeom prst="rect">
            <a:avLst/>
          </a:prstGeom>
        </p:spPr>
      </p:pic>
    </p:spTree>
    <p:extLst>
      <p:ext uri="{BB962C8B-B14F-4D97-AF65-F5344CB8AC3E}">
        <p14:creationId xmlns:p14="http://schemas.microsoft.com/office/powerpoint/2010/main" val="1793341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A79A-9394-A505-0487-4A7C4B1DFC40}"/>
              </a:ext>
            </a:extLst>
          </p:cNvPr>
          <p:cNvSpPr>
            <a:spLocks noGrp="1"/>
          </p:cNvSpPr>
          <p:nvPr>
            <p:ph type="title"/>
          </p:nvPr>
        </p:nvSpPr>
        <p:spPr/>
        <p:txBody>
          <a:bodyPr/>
          <a:lstStyle/>
          <a:p>
            <a:r>
              <a:rPr lang="en-US" dirty="0"/>
              <a:t>Three Kinds of Technical Progress</a:t>
            </a:r>
          </a:p>
        </p:txBody>
      </p:sp>
      <p:sp>
        <p:nvSpPr>
          <p:cNvPr id="3" name="Content Placeholder 2">
            <a:extLst>
              <a:ext uri="{FF2B5EF4-FFF2-40B4-BE49-F238E27FC236}">
                <a16:creationId xmlns:a16="http://schemas.microsoft.com/office/drawing/2014/main" id="{CC8E682A-934D-AF9F-C726-AEBB02234B74}"/>
              </a:ext>
            </a:extLst>
          </p:cNvPr>
          <p:cNvSpPr>
            <a:spLocks noGrp="1"/>
          </p:cNvSpPr>
          <p:nvPr>
            <p:ph sz="half" idx="1"/>
          </p:nvPr>
        </p:nvSpPr>
        <p:spPr>
          <a:xfrm>
            <a:off x="421905" y="1925574"/>
            <a:ext cx="5029200" cy="4200590"/>
          </a:xfrm>
        </p:spPr>
        <p:txBody>
          <a:bodyPr/>
          <a:lstStyle/>
          <a:p>
            <a:r>
              <a:rPr lang="en-US" dirty="0"/>
              <a:t>Innovation C:</a:t>
            </a:r>
          </a:p>
          <a:p>
            <a:pPr lvl="1"/>
            <a:r>
              <a:rPr lang="en-US" dirty="0"/>
              <a:t>Machine better at performing task 6</a:t>
            </a:r>
          </a:p>
          <a:p>
            <a:pPr lvl="1"/>
            <a:r>
              <a:rPr lang="en-US" dirty="0"/>
              <a:t>But still worse than labor</a:t>
            </a:r>
          </a:p>
          <a:p>
            <a:pPr lvl="1"/>
            <a:r>
              <a:rPr lang="en-US" dirty="0"/>
              <a:t>Labor performs task both before and after innovation</a:t>
            </a:r>
          </a:p>
          <a:p>
            <a:pPr lvl="1"/>
            <a:r>
              <a:rPr lang="en-US" dirty="0"/>
              <a:t>Innovation has no immediate effect on the economy</a:t>
            </a:r>
          </a:p>
        </p:txBody>
      </p:sp>
      <p:pic>
        <p:nvPicPr>
          <p:cNvPr id="7" name="Content Placeholder 6">
            <a:extLst>
              <a:ext uri="{FF2B5EF4-FFF2-40B4-BE49-F238E27FC236}">
                <a16:creationId xmlns:a16="http://schemas.microsoft.com/office/drawing/2014/main" id="{E481923D-AA5C-A9E9-C692-6EB3E5DF66C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1925574"/>
            <a:ext cx="5384800" cy="3875215"/>
          </a:xfrm>
        </p:spPr>
      </p:pic>
      <p:sp>
        <p:nvSpPr>
          <p:cNvPr id="5" name="Slide Number Placeholder 4">
            <a:extLst>
              <a:ext uri="{FF2B5EF4-FFF2-40B4-BE49-F238E27FC236}">
                <a16:creationId xmlns:a16="http://schemas.microsoft.com/office/drawing/2014/main" id="{D894C673-2B76-1BFE-EC70-4E5D5C46FD8D}"/>
              </a:ext>
            </a:extLst>
          </p:cNvPr>
          <p:cNvSpPr>
            <a:spLocks noGrp="1"/>
          </p:cNvSpPr>
          <p:nvPr>
            <p:ph type="sldNum" sz="quarter" idx="12"/>
          </p:nvPr>
        </p:nvSpPr>
        <p:spPr/>
        <p:txBody>
          <a:bodyPr/>
          <a:lstStyle/>
          <a:p>
            <a:fld id="{BB3BE34B-9575-430D-9A41-469C30B8F0EA}" type="slidenum">
              <a:rPr lang="en-US" smtClean="0"/>
              <a:pPr/>
              <a:t>59</a:t>
            </a:fld>
            <a:endParaRPr lang="en-US"/>
          </a:p>
        </p:txBody>
      </p:sp>
      <p:pic>
        <p:nvPicPr>
          <p:cNvPr id="4" name="Content Placeholder 6">
            <a:extLst>
              <a:ext uri="{FF2B5EF4-FFF2-40B4-BE49-F238E27FC236}">
                <a16:creationId xmlns:a16="http://schemas.microsoft.com/office/drawing/2014/main" id="{ECEAFFA5-574B-70B1-351B-AF409D14FE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1676400"/>
            <a:ext cx="6131295" cy="4449764"/>
          </a:xfrm>
          <a:prstGeom prst="rect">
            <a:avLst/>
          </a:prstGeom>
        </p:spPr>
      </p:pic>
    </p:spTree>
    <p:extLst>
      <p:ext uri="{BB962C8B-B14F-4D97-AF65-F5344CB8AC3E}">
        <p14:creationId xmlns:p14="http://schemas.microsoft.com/office/powerpoint/2010/main" val="36444075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56FE0-F007-DDCE-87BB-279EA0CAAC04}"/>
              </a:ext>
            </a:extLst>
          </p:cNvPr>
          <p:cNvSpPr>
            <a:spLocks noGrp="1"/>
          </p:cNvSpPr>
          <p:nvPr>
            <p:ph type="title"/>
          </p:nvPr>
        </p:nvSpPr>
        <p:spPr/>
        <p:txBody>
          <a:bodyPr/>
          <a:lstStyle/>
          <a:p>
            <a:r>
              <a:rPr lang="en-US" dirty="0"/>
              <a:t>Three Kinds of Technical Progress</a:t>
            </a:r>
          </a:p>
        </p:txBody>
      </p:sp>
      <p:sp>
        <p:nvSpPr>
          <p:cNvPr id="3" name="Content Placeholder 2">
            <a:extLst>
              <a:ext uri="{FF2B5EF4-FFF2-40B4-BE49-F238E27FC236}">
                <a16:creationId xmlns:a16="http://schemas.microsoft.com/office/drawing/2014/main" id="{F84F3C3C-742E-161B-8C6A-323246946A91}"/>
              </a:ext>
            </a:extLst>
          </p:cNvPr>
          <p:cNvSpPr>
            <a:spLocks noGrp="1"/>
          </p:cNvSpPr>
          <p:nvPr>
            <p:ph sz="half" idx="1"/>
          </p:nvPr>
        </p:nvSpPr>
        <p:spPr>
          <a:xfrm>
            <a:off x="609600" y="1600201"/>
            <a:ext cx="5181600" cy="4983161"/>
          </a:xfrm>
        </p:spPr>
        <p:txBody>
          <a:bodyPr/>
          <a:lstStyle/>
          <a:p>
            <a:r>
              <a:rPr lang="en-US" dirty="0"/>
              <a:t>Innovation B:</a:t>
            </a:r>
          </a:p>
          <a:p>
            <a:pPr lvl="1"/>
            <a:r>
              <a:rPr lang="en-US" dirty="0"/>
              <a:t>Machine becomes better at performing task 4</a:t>
            </a:r>
          </a:p>
          <a:p>
            <a:pPr lvl="1"/>
            <a:r>
              <a:rPr lang="en-US" dirty="0"/>
              <a:t>Firm switches from labor to capital for task 4</a:t>
            </a:r>
          </a:p>
          <a:p>
            <a:pPr lvl="1"/>
            <a:r>
              <a:rPr lang="en-US" dirty="0"/>
              <a:t>Workers lose their jobs</a:t>
            </a:r>
          </a:p>
          <a:p>
            <a:pPr lvl="1"/>
            <a:r>
              <a:rPr lang="en-US" dirty="0"/>
              <a:t>This </a:t>
            </a:r>
            <a:r>
              <a:rPr lang="en-US" b="1" dirty="0"/>
              <a:t>displacement effect </a:t>
            </a:r>
            <a:r>
              <a:rPr lang="en-US" dirty="0"/>
              <a:t>hurts workers</a:t>
            </a:r>
          </a:p>
          <a:p>
            <a:pPr lvl="1"/>
            <a:r>
              <a:rPr lang="en-US" dirty="0"/>
              <a:t>Also has a productivity effect like innovation A</a:t>
            </a:r>
          </a:p>
        </p:txBody>
      </p:sp>
      <p:pic>
        <p:nvPicPr>
          <p:cNvPr id="7" name="Content Placeholder 6">
            <a:extLst>
              <a:ext uri="{FF2B5EF4-FFF2-40B4-BE49-F238E27FC236}">
                <a16:creationId xmlns:a16="http://schemas.microsoft.com/office/drawing/2014/main" id="{B0759BBA-DC76-8BBE-E706-85939AE7811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97600" y="1925574"/>
            <a:ext cx="5384800" cy="3875215"/>
          </a:xfrm>
        </p:spPr>
      </p:pic>
      <p:sp>
        <p:nvSpPr>
          <p:cNvPr id="5" name="Slide Number Placeholder 4">
            <a:extLst>
              <a:ext uri="{FF2B5EF4-FFF2-40B4-BE49-F238E27FC236}">
                <a16:creationId xmlns:a16="http://schemas.microsoft.com/office/drawing/2014/main" id="{42CBB2C9-2238-C9AE-2F7B-92A105DBC5A3}"/>
              </a:ext>
            </a:extLst>
          </p:cNvPr>
          <p:cNvSpPr>
            <a:spLocks noGrp="1"/>
          </p:cNvSpPr>
          <p:nvPr>
            <p:ph type="sldNum" sz="quarter" idx="12"/>
          </p:nvPr>
        </p:nvSpPr>
        <p:spPr/>
        <p:txBody>
          <a:bodyPr/>
          <a:lstStyle/>
          <a:p>
            <a:fld id="{BB3BE34B-9575-430D-9A41-469C30B8F0EA}" type="slidenum">
              <a:rPr lang="en-US" smtClean="0"/>
              <a:pPr/>
              <a:t>60</a:t>
            </a:fld>
            <a:endParaRPr lang="en-US"/>
          </a:p>
        </p:txBody>
      </p:sp>
      <p:pic>
        <p:nvPicPr>
          <p:cNvPr id="6" name="Content Placeholder 6">
            <a:extLst>
              <a:ext uri="{FF2B5EF4-FFF2-40B4-BE49-F238E27FC236}">
                <a16:creationId xmlns:a16="http://schemas.microsoft.com/office/drawing/2014/main" id="{CB589662-C9FF-8845-FA29-E503837313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1676400"/>
            <a:ext cx="6131295" cy="4449764"/>
          </a:xfrm>
          <a:prstGeom prst="rect">
            <a:avLst/>
          </a:prstGeom>
        </p:spPr>
      </p:pic>
    </p:spTree>
    <p:extLst>
      <p:ext uri="{BB962C8B-B14F-4D97-AF65-F5344CB8AC3E}">
        <p14:creationId xmlns:p14="http://schemas.microsoft.com/office/powerpoint/2010/main" val="170865392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01E22-F4F1-3658-CB8A-C6863D92A695}"/>
              </a:ext>
            </a:extLst>
          </p:cNvPr>
          <p:cNvSpPr>
            <a:spLocks noGrp="1"/>
          </p:cNvSpPr>
          <p:nvPr>
            <p:ph type="title"/>
          </p:nvPr>
        </p:nvSpPr>
        <p:spPr/>
        <p:txBody>
          <a:bodyPr/>
          <a:lstStyle/>
          <a:p>
            <a:r>
              <a:rPr lang="en-US" dirty="0"/>
              <a:t>Displacement Effect Lowers Wages</a:t>
            </a:r>
          </a:p>
        </p:txBody>
      </p:sp>
      <p:pic>
        <p:nvPicPr>
          <p:cNvPr id="8" name="Content Placeholder 7">
            <a:extLst>
              <a:ext uri="{FF2B5EF4-FFF2-40B4-BE49-F238E27FC236}">
                <a16:creationId xmlns:a16="http://schemas.microsoft.com/office/drawing/2014/main" id="{B89116F6-76A2-81E6-339D-AA0104DD569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19539" y="1799114"/>
            <a:ext cx="7443861" cy="4114800"/>
          </a:xfrm>
        </p:spPr>
      </p:pic>
      <p:sp>
        <p:nvSpPr>
          <p:cNvPr id="9" name="Content Placeholder 8">
            <a:extLst>
              <a:ext uri="{FF2B5EF4-FFF2-40B4-BE49-F238E27FC236}">
                <a16:creationId xmlns:a16="http://schemas.microsoft.com/office/drawing/2014/main" id="{76541CBC-C63F-85D5-8BF0-F6EB224940E6}"/>
              </a:ext>
            </a:extLst>
          </p:cNvPr>
          <p:cNvSpPr>
            <a:spLocks noGrp="1"/>
          </p:cNvSpPr>
          <p:nvPr>
            <p:ph sz="half" idx="2"/>
          </p:nvPr>
        </p:nvSpPr>
        <p:spPr>
          <a:xfrm>
            <a:off x="228600" y="1799114"/>
            <a:ext cx="4267200" cy="4350862"/>
          </a:xfrm>
        </p:spPr>
        <p:txBody>
          <a:bodyPr/>
          <a:lstStyle/>
          <a:p>
            <a:r>
              <a:rPr lang="en-US" dirty="0"/>
              <a:t>Automation of task 4 reduces labor demand and increases capital demand</a:t>
            </a:r>
          </a:p>
          <a:p>
            <a:r>
              <a:rPr lang="en-US" dirty="0"/>
              <a:t>Real wages fall</a:t>
            </a:r>
          </a:p>
          <a:p>
            <a:r>
              <a:rPr lang="en-US" dirty="0"/>
              <a:t>Rental rate on capital increases</a:t>
            </a:r>
          </a:p>
        </p:txBody>
      </p:sp>
      <p:sp>
        <p:nvSpPr>
          <p:cNvPr id="5" name="Slide Number Placeholder 4">
            <a:extLst>
              <a:ext uri="{FF2B5EF4-FFF2-40B4-BE49-F238E27FC236}">
                <a16:creationId xmlns:a16="http://schemas.microsoft.com/office/drawing/2014/main" id="{80F96D97-B85A-EB84-CFEE-6D427879676F}"/>
              </a:ext>
            </a:extLst>
          </p:cNvPr>
          <p:cNvSpPr>
            <a:spLocks noGrp="1"/>
          </p:cNvSpPr>
          <p:nvPr>
            <p:ph type="sldNum" sz="quarter" idx="12"/>
          </p:nvPr>
        </p:nvSpPr>
        <p:spPr/>
        <p:txBody>
          <a:bodyPr/>
          <a:lstStyle/>
          <a:p>
            <a:fld id="{BB3BE34B-9575-430D-9A41-469C30B8F0EA}" type="slidenum">
              <a:rPr lang="en-US" smtClean="0"/>
              <a:pPr/>
              <a:t>61</a:t>
            </a:fld>
            <a:endParaRPr lang="en-US"/>
          </a:p>
        </p:txBody>
      </p:sp>
    </p:spTree>
    <p:extLst>
      <p:ext uri="{BB962C8B-B14F-4D97-AF65-F5344CB8AC3E}">
        <p14:creationId xmlns:p14="http://schemas.microsoft.com/office/powerpoint/2010/main" val="25028204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CC9D85-9A44-71F4-55AA-A07D2BC468C1}"/>
              </a:ext>
            </a:extLst>
          </p:cNvPr>
          <p:cNvSpPr>
            <a:spLocks noGrp="1"/>
          </p:cNvSpPr>
          <p:nvPr>
            <p:ph type="title"/>
          </p:nvPr>
        </p:nvSpPr>
        <p:spPr/>
        <p:txBody>
          <a:bodyPr/>
          <a:lstStyle/>
          <a:p>
            <a:r>
              <a:rPr lang="en-US" dirty="0"/>
              <a:t>Aggregate Effect of Large Innovations</a:t>
            </a:r>
          </a:p>
        </p:txBody>
      </p:sp>
      <p:sp>
        <p:nvSpPr>
          <p:cNvPr id="7" name="Content Placeholder 6">
            <a:extLst>
              <a:ext uri="{FF2B5EF4-FFF2-40B4-BE49-F238E27FC236}">
                <a16:creationId xmlns:a16="http://schemas.microsoft.com/office/drawing/2014/main" id="{E464E5B7-714A-4622-DAB5-A266278D13B6}"/>
              </a:ext>
            </a:extLst>
          </p:cNvPr>
          <p:cNvSpPr>
            <a:spLocks noGrp="1"/>
          </p:cNvSpPr>
          <p:nvPr>
            <p:ph idx="1"/>
          </p:nvPr>
        </p:nvSpPr>
        <p:spPr/>
        <p:txBody>
          <a:bodyPr/>
          <a:lstStyle/>
          <a:p>
            <a:r>
              <a:rPr lang="en-US" dirty="0"/>
              <a:t>Innovation can cause enormous cost reductions:</a:t>
            </a:r>
          </a:p>
          <a:p>
            <a:pPr lvl="1"/>
            <a:r>
              <a:rPr lang="en-US" dirty="0"/>
              <a:t>18</a:t>
            </a:r>
            <a:r>
              <a:rPr lang="en-US" baseline="30000" dirty="0"/>
              <a:t>th</a:t>
            </a:r>
            <a:r>
              <a:rPr lang="en-US" dirty="0"/>
              <a:t> century: Cost of spinning cotton fell by more than </a:t>
            </a:r>
            <a:br>
              <a:rPr lang="en-US" dirty="0"/>
            </a:br>
            <a:r>
              <a:rPr lang="en-US" dirty="0"/>
              <a:t>two orders of magnitude</a:t>
            </a:r>
          </a:p>
          <a:p>
            <a:pPr lvl="1"/>
            <a:r>
              <a:rPr lang="en-US" dirty="0"/>
              <a:t>20</a:t>
            </a:r>
            <a:r>
              <a:rPr lang="en-US" baseline="30000" dirty="0"/>
              <a:t>th</a:t>
            </a:r>
            <a:r>
              <a:rPr lang="en-US" dirty="0"/>
              <a:t> century: Cost of computing fell by more than </a:t>
            </a:r>
            <a:br>
              <a:rPr lang="en-US" dirty="0"/>
            </a:br>
            <a:r>
              <a:rPr lang="en-US" dirty="0"/>
              <a:t>six orders of magnitude</a:t>
            </a:r>
          </a:p>
          <a:p>
            <a:pPr lvl="1"/>
            <a:r>
              <a:rPr lang="en-US" dirty="0"/>
              <a:t>21</a:t>
            </a:r>
            <a:r>
              <a:rPr lang="en-US" baseline="30000" dirty="0"/>
              <a:t>st</a:t>
            </a:r>
            <a:r>
              <a:rPr lang="en-US" dirty="0"/>
              <a:t> century: AI/robotics will dramatically reduce costs </a:t>
            </a:r>
            <a:br>
              <a:rPr lang="en-US" dirty="0"/>
            </a:br>
            <a:r>
              <a:rPr lang="en-US" dirty="0"/>
              <a:t>for various tasks</a:t>
            </a:r>
          </a:p>
          <a:p>
            <a:r>
              <a:rPr lang="en-US" dirty="0"/>
              <a:t>How do such huge innovations affect aggregate output?</a:t>
            </a:r>
          </a:p>
        </p:txBody>
      </p:sp>
      <p:sp>
        <p:nvSpPr>
          <p:cNvPr id="5" name="Slide Number Placeholder 4">
            <a:extLst>
              <a:ext uri="{FF2B5EF4-FFF2-40B4-BE49-F238E27FC236}">
                <a16:creationId xmlns:a16="http://schemas.microsoft.com/office/drawing/2014/main" id="{F11B195B-4558-6081-6572-8AE81943AA96}"/>
              </a:ext>
            </a:extLst>
          </p:cNvPr>
          <p:cNvSpPr>
            <a:spLocks noGrp="1"/>
          </p:cNvSpPr>
          <p:nvPr>
            <p:ph type="sldNum" sz="quarter" idx="12"/>
          </p:nvPr>
        </p:nvSpPr>
        <p:spPr/>
        <p:txBody>
          <a:bodyPr/>
          <a:lstStyle/>
          <a:p>
            <a:fld id="{BB3BE34B-9575-430D-9A41-469C30B8F0EA}" type="slidenum">
              <a:rPr lang="en-US" smtClean="0"/>
              <a:pPr/>
              <a:t>62</a:t>
            </a:fld>
            <a:endParaRPr lang="en-US"/>
          </a:p>
        </p:txBody>
      </p:sp>
    </p:spTree>
    <p:extLst>
      <p:ext uri="{BB962C8B-B14F-4D97-AF65-F5344CB8AC3E}">
        <p14:creationId xmlns:p14="http://schemas.microsoft.com/office/powerpoint/2010/main" val="20461324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9E175-F8D7-C1FE-9378-A5E287129F82}"/>
              </a:ext>
            </a:extLst>
          </p:cNvPr>
          <p:cNvSpPr>
            <a:spLocks noGrp="1"/>
          </p:cNvSpPr>
          <p:nvPr>
            <p:ph type="title"/>
          </p:nvPr>
        </p:nvSpPr>
        <p:spPr/>
        <p:txBody>
          <a:bodyPr/>
          <a:lstStyle/>
          <a:p>
            <a:r>
              <a:rPr lang="en-US" dirty="0"/>
              <a:t>Aggregate Effect of Large Innovations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8407061-ECCA-4B0C-57E4-F3FB01168C3A}"/>
                  </a:ext>
                </a:extLst>
              </p:cNvPr>
              <p:cNvSpPr>
                <a:spLocks noGrp="1"/>
              </p:cNvSpPr>
              <p:nvPr>
                <p:ph idx="1"/>
              </p:nvPr>
            </p:nvSpPr>
            <p:spPr>
              <a:xfrm>
                <a:off x="533400" y="1600201"/>
                <a:ext cx="11125200" cy="4756150"/>
              </a:xfrm>
            </p:spPr>
            <p:txBody>
              <a:bodyPr/>
              <a:lstStyle/>
              <a:p>
                <a:r>
                  <a:rPr lang="en-US" dirty="0"/>
                  <a:t>Depends critically on how substitutable tasks are in production:</a:t>
                </a:r>
              </a:p>
              <a:p>
                <a:pPr marL="0" indent="0">
                  <a:spcAft>
                    <a:spcPts val="1200"/>
                  </a:spcAft>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r>
                        <a:rPr lang="en-US" i="1">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i="1">
                                  <a:latin typeface="Cambria Math" panose="02040503050406030204" pitchFamily="18" charset="0"/>
                                </a:rPr>
                                <m:t>𝑎</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r>
                                <a:rPr lang="en-US" i="1">
                                  <a:latin typeface="Cambria Math" panose="02040503050406030204" pitchFamily="18" charset="0"/>
                                </a:rPr>
                                <m:t>+(1−</m:t>
                              </m:r>
                              <m:r>
                                <a:rPr lang="en-US" i="1">
                                  <a:latin typeface="Cambria Math" panose="02040503050406030204" pitchFamily="18" charset="0"/>
                                </a:rPr>
                                <m:t>𝑎</m:t>
                              </m:r>
                              <m:r>
                                <a:rPr lang="en-US" i="1">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𝑡</m:t>
                                          </m:r>
                                        </m:sub>
                                      </m:sSub>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𝜎</m:t>
                                      </m:r>
                                    </m:den>
                                  </m:f>
                                </m:sup>
                              </m:sSup>
                            </m:e>
                          </m:d>
                        </m:e>
                        <m:sup>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𝜎</m:t>
                              </m:r>
                            </m:num>
                            <m:den>
                              <m:r>
                                <a:rPr lang="en-US" i="1">
                                  <a:latin typeface="Cambria Math" panose="02040503050406030204" pitchFamily="18" charset="0"/>
                                  <a:ea typeface="Cambria Math" panose="02040503050406030204" pitchFamily="18" charset="0"/>
                                </a:rPr>
                                <m:t>𝜎</m:t>
                              </m:r>
                              <m:r>
                                <a:rPr lang="en-US" i="1">
                                  <a:latin typeface="Cambria Math" panose="02040503050406030204" pitchFamily="18" charset="0"/>
                                  <a:ea typeface="Cambria Math" panose="02040503050406030204" pitchFamily="18" charset="0"/>
                                </a:rPr>
                                <m:t>−1</m:t>
                              </m:r>
                            </m:den>
                          </m:f>
                        </m:sup>
                      </m:sSup>
                    </m:oMath>
                  </m:oMathPara>
                </a14:m>
                <a:endParaRPr lang="en-US" dirty="0"/>
              </a:p>
              <a:p>
                <a:r>
                  <a:rPr lang="en-US" dirty="0"/>
                  <a:t>Think of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oMath>
                </a14:m>
                <a:r>
                  <a:rPr lang="en-US" dirty="0"/>
                  <a:t> as bundle of tasks performed by capital</a:t>
                </a:r>
              </a:p>
              <a:p>
                <a:pPr>
                  <a:spcAft>
                    <a:spcPts val="1200"/>
                  </a:spcAft>
                </a:pPr>
                <a:r>
                  <a:rPr lang="en-US" dirty="0"/>
                  <a:t>Suppose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r>
                      <a:rPr lang="en-US" b="0" i="1" smtClean="0">
                        <a:latin typeface="Cambria Math" panose="02040503050406030204" pitchFamily="18" charset="0"/>
                      </a:rPr>
                      <m:t>→∞</m:t>
                    </m:r>
                  </m:oMath>
                </a14:m>
                <a:r>
                  <a:rPr lang="en-US" dirty="0"/>
                  <a:t> (but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oMath>
                </a14:m>
                <a:r>
                  <a:rPr lang="en-US" dirty="0"/>
                  <a:t> unchanged). </a:t>
                </a:r>
              </a:p>
              <a:p>
                <a:pPr>
                  <a:spcAft>
                    <a:spcPts val="1200"/>
                  </a:spcAft>
                </a:pPr>
                <a:r>
                  <a:rPr lang="en-US" dirty="0"/>
                  <a:t>How does this affect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oMath>
                </a14:m>
                <a:r>
                  <a:rPr lang="en-US" dirty="0"/>
                  <a:t>?</a:t>
                </a:r>
              </a:p>
            </p:txBody>
          </p:sp>
        </mc:Choice>
        <mc:Fallback xmlns="">
          <p:sp>
            <p:nvSpPr>
              <p:cNvPr id="3" name="Content Placeholder 2">
                <a:extLst>
                  <a:ext uri="{FF2B5EF4-FFF2-40B4-BE49-F238E27FC236}">
                    <a16:creationId xmlns:a16="http://schemas.microsoft.com/office/drawing/2014/main" id="{78407061-ECCA-4B0C-57E4-F3FB01168C3A}"/>
                  </a:ext>
                </a:extLst>
              </p:cNvPr>
              <p:cNvSpPr>
                <a:spLocks noGrp="1" noRot="1" noChangeAspect="1" noMove="1" noResize="1" noEditPoints="1" noAdjustHandles="1" noChangeArrowheads="1" noChangeShapeType="1" noTextEdit="1"/>
              </p:cNvSpPr>
              <p:nvPr>
                <p:ph idx="1"/>
              </p:nvPr>
            </p:nvSpPr>
            <p:spPr>
              <a:xfrm>
                <a:off x="533400" y="1600201"/>
                <a:ext cx="11125200" cy="4756150"/>
              </a:xfrm>
              <a:blipFill>
                <a:blip r:embed="rId2"/>
                <a:stretch>
                  <a:fillRect l="-1260" t="-1667" r="-5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9CE20F7-41CA-A96E-E012-A3E31E481619}"/>
              </a:ext>
            </a:extLst>
          </p:cNvPr>
          <p:cNvSpPr>
            <a:spLocks noGrp="1"/>
          </p:cNvSpPr>
          <p:nvPr>
            <p:ph type="sldNum" sz="quarter" idx="12"/>
          </p:nvPr>
        </p:nvSpPr>
        <p:spPr/>
        <p:txBody>
          <a:bodyPr/>
          <a:lstStyle/>
          <a:p>
            <a:fld id="{BB3BE34B-9575-430D-9A41-469C30B8F0EA}" type="slidenum">
              <a:rPr lang="en-US" smtClean="0"/>
              <a:pPr/>
              <a:t>63</a:t>
            </a:fld>
            <a:endParaRPr lang="en-US"/>
          </a:p>
        </p:txBody>
      </p:sp>
    </p:spTree>
    <p:extLst>
      <p:ext uri="{BB962C8B-B14F-4D97-AF65-F5344CB8AC3E}">
        <p14:creationId xmlns:p14="http://schemas.microsoft.com/office/powerpoint/2010/main" val="20948304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ACDF1-402E-9628-323C-E9E6BE400E8D}"/>
              </a:ext>
            </a:extLst>
          </p:cNvPr>
          <p:cNvSpPr>
            <a:spLocks noGrp="1"/>
          </p:cNvSpPr>
          <p:nvPr>
            <p:ph type="title"/>
          </p:nvPr>
        </p:nvSpPr>
        <p:spPr/>
        <p:txBody>
          <a:bodyPr/>
          <a:lstStyle/>
          <a:p>
            <a:r>
              <a:rPr lang="en-US" dirty="0"/>
              <a:t>Weak Links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0B4F05-1568-6A1F-398B-B7858DD2C923}"/>
                  </a:ext>
                </a:extLst>
              </p:cNvPr>
              <p:cNvSpPr>
                <a:spLocks noGrp="1"/>
              </p:cNvSpPr>
              <p:nvPr>
                <p:ph sz="half" idx="1"/>
              </p:nvPr>
            </p:nvSpPr>
            <p:spPr>
              <a:xfrm>
                <a:off x="609600" y="1600201"/>
                <a:ext cx="5384800" cy="4983161"/>
              </a:xfrm>
            </p:spPr>
            <p:txBody>
              <a:bodyPr>
                <a:normAutofit/>
              </a:bodyPr>
              <a:lstStyle/>
              <a:p>
                <a:r>
                  <a:rPr lang="en-US" dirty="0"/>
                  <a:t>Suppose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=1/2</m:t>
                    </m:r>
                  </m:oMath>
                </a14:m>
                <a:r>
                  <a:rPr lang="en-US" dirty="0"/>
                  <a:t>. </a:t>
                </a:r>
              </a:p>
              <a:p>
                <a:pPr>
                  <a:spcAft>
                    <a:spcPts val="1200"/>
                  </a:spcAft>
                </a:pPr>
                <a:r>
                  <a:rPr lang="en-US" dirty="0"/>
                  <a:t>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𝜎</m:t>
                        </m:r>
                        <m:r>
                          <a:rPr lang="en-US" b="0" i="1" smtClean="0">
                            <a:latin typeface="Cambria Math" panose="02040503050406030204" pitchFamily="18" charset="0"/>
                          </a:rPr>
                          <m:t>−1</m:t>
                        </m:r>
                      </m:num>
                      <m:den>
                        <m:r>
                          <a:rPr lang="en-US" b="0" i="1" smtClean="0">
                            <a:latin typeface="Cambria Math" panose="02040503050406030204" pitchFamily="18" charset="0"/>
                          </a:rPr>
                          <m:t>𝜎</m:t>
                        </m:r>
                      </m:den>
                    </m:f>
                    <m:r>
                      <a:rPr lang="en-US" b="0" i="1" smtClean="0">
                        <a:latin typeface="Cambria Math" panose="02040503050406030204" pitchFamily="18" charset="0"/>
                      </a:rPr>
                      <m:t>=−1</m:t>
                    </m:r>
                  </m:oMath>
                </a14:m>
                <a:r>
                  <a:rPr lang="en-US" dirty="0"/>
                  <a:t> and production function becomes</a:t>
                </a:r>
              </a:p>
              <a:p>
                <a:pPr marL="0" indent="0" algn="ctr">
                  <a:buNone/>
                </a:pPr>
                <a14:m>
                  <m:oMathPara xmlns:m="http://schemas.openxmlformats.org/officeDocument/2006/math">
                    <m:o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𝑎</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𝑡</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𝑡</m:t>
                              </m:r>
                            </m:sub>
                          </m:sSub>
                        </m:den>
                      </m:f>
                    </m:oMath>
                  </m:oMathPara>
                </a14:m>
                <a:endParaRPr lang="en-US" dirty="0"/>
              </a:p>
              <a:p>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r>
                      <a:rPr lang="en-US" b="0" i="1" smtClean="0">
                        <a:latin typeface="Cambria Math" panose="02040503050406030204" pitchFamily="18" charset="0"/>
                      </a:rPr>
                      <m:t>→∞</m:t>
                    </m:r>
                  </m:oMath>
                </a14:m>
                <a:r>
                  <a:rPr lang="en-US" dirty="0"/>
                  <a:t> then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𝑎</m:t>
                        </m:r>
                      </m:num>
                      <m:den>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den>
                    </m:f>
                    <m:r>
                      <a:rPr lang="en-US" b="0" i="1" smtClean="0">
                        <a:latin typeface="Cambria Math" panose="02040503050406030204" pitchFamily="18" charset="0"/>
                      </a:rPr>
                      <m:t>→0</m:t>
                    </m:r>
                  </m:oMath>
                </a14:m>
                <a:r>
                  <a:rPr lang="en-US" dirty="0"/>
                  <a:t>. So:</a:t>
                </a:r>
              </a:p>
              <a:p>
                <a:pPr marL="0" indent="0" algn="ctr">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r>
                        <a:rPr lang="en-US" b="0" i="1" smtClean="0">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𝑡</m:t>
                              </m:r>
                            </m:sub>
                          </m:sSub>
                        </m:num>
                        <m:den>
                          <m:r>
                            <a:rPr lang="en-US" b="0" i="1" smtClean="0">
                              <a:latin typeface="Cambria Math" panose="02040503050406030204" pitchFamily="18" charset="0"/>
                            </a:rPr>
                            <m:t>1−</m:t>
                          </m:r>
                          <m:r>
                            <a:rPr lang="en-US" b="0" i="1" smtClean="0">
                              <a:latin typeface="Cambria Math" panose="02040503050406030204" pitchFamily="18" charset="0"/>
                            </a:rPr>
                            <m:t>𝑎</m:t>
                          </m:r>
                        </m:den>
                      </m:f>
                    </m:oMath>
                  </m:oMathPara>
                </a14:m>
                <a:endParaRPr lang="en-US" dirty="0"/>
              </a:p>
            </p:txBody>
          </p:sp>
        </mc:Choice>
        <mc:Fallback xmlns="">
          <p:sp>
            <p:nvSpPr>
              <p:cNvPr id="3" name="Content Placeholder 2">
                <a:extLst>
                  <a:ext uri="{FF2B5EF4-FFF2-40B4-BE49-F238E27FC236}">
                    <a16:creationId xmlns:a16="http://schemas.microsoft.com/office/drawing/2014/main" id="{410B4F05-1568-6A1F-398B-B7858DD2C923}"/>
                  </a:ext>
                </a:extLst>
              </p:cNvPr>
              <p:cNvSpPr>
                <a:spLocks noGrp="1" noRot="1" noChangeAspect="1" noMove="1" noResize="1" noEditPoints="1" noAdjustHandles="1" noChangeArrowheads="1" noChangeShapeType="1" noTextEdit="1"/>
              </p:cNvSpPr>
              <p:nvPr>
                <p:ph sz="half" idx="1"/>
              </p:nvPr>
            </p:nvSpPr>
            <p:spPr>
              <a:xfrm>
                <a:off x="609600" y="1600201"/>
                <a:ext cx="5384800" cy="4983161"/>
              </a:xfrm>
              <a:blipFill>
                <a:blip r:embed="rId2"/>
                <a:stretch>
                  <a:fillRect l="-2039" t="-1224"/>
                </a:stretch>
              </a:blipFill>
            </p:spPr>
            <p:txBody>
              <a:bodyPr/>
              <a:lstStyle/>
              <a:p>
                <a:r>
                  <a:rPr lang="en-US">
                    <a:noFill/>
                  </a:rPr>
                  <a:t> </a:t>
                </a:r>
              </a:p>
            </p:txBody>
          </p:sp>
        </mc:Fallback>
      </mc:AlternateContent>
      <p:sp>
        <p:nvSpPr>
          <p:cNvPr id="5" name="Content Placeholder 4">
            <a:extLst>
              <a:ext uri="{FF2B5EF4-FFF2-40B4-BE49-F238E27FC236}">
                <a16:creationId xmlns:a16="http://schemas.microsoft.com/office/drawing/2014/main" id="{32B09D0E-05E1-C371-81E7-D32C065D1990}"/>
              </a:ext>
            </a:extLst>
          </p:cNvPr>
          <p:cNvSpPr>
            <a:spLocks noGrp="1"/>
          </p:cNvSpPr>
          <p:nvPr>
            <p:ph sz="half" idx="2"/>
          </p:nvPr>
        </p:nvSpPr>
        <p:spPr>
          <a:xfrm>
            <a:off x="6197600" y="1600201"/>
            <a:ext cx="5384800" cy="4756150"/>
          </a:xfrm>
        </p:spPr>
        <p:txBody>
          <a:bodyPr>
            <a:normAutofit/>
          </a:bodyPr>
          <a:lstStyle/>
          <a:p>
            <a:r>
              <a:rPr lang="en-US" dirty="0"/>
              <a:t>Capital becomes infinitely productive. But output remains finite.</a:t>
            </a:r>
          </a:p>
          <a:p>
            <a:r>
              <a:rPr lang="en-US" dirty="0"/>
              <a:t>Labor is a “weak link” (bottleneck)</a:t>
            </a:r>
          </a:p>
          <a:p>
            <a:r>
              <a:rPr lang="en-US" dirty="0"/>
              <a:t>Since it is hard to substitute capital for labor, economy runs into rapidly diminishing returns to capital</a:t>
            </a:r>
          </a:p>
        </p:txBody>
      </p:sp>
      <p:sp>
        <p:nvSpPr>
          <p:cNvPr id="4" name="Slide Number Placeholder 3">
            <a:extLst>
              <a:ext uri="{FF2B5EF4-FFF2-40B4-BE49-F238E27FC236}">
                <a16:creationId xmlns:a16="http://schemas.microsoft.com/office/drawing/2014/main" id="{4F0EBA36-EB48-A341-4F5B-FBE15FB9C7C4}"/>
              </a:ext>
            </a:extLst>
          </p:cNvPr>
          <p:cNvSpPr>
            <a:spLocks noGrp="1"/>
          </p:cNvSpPr>
          <p:nvPr>
            <p:ph type="sldNum" sz="quarter" idx="12"/>
          </p:nvPr>
        </p:nvSpPr>
        <p:spPr/>
        <p:txBody>
          <a:bodyPr/>
          <a:lstStyle/>
          <a:p>
            <a:fld id="{BB3BE34B-9575-430D-9A41-469C30B8F0EA}" type="slidenum">
              <a:rPr lang="en-US" smtClean="0"/>
              <a:pPr/>
              <a:t>64</a:t>
            </a:fld>
            <a:endParaRPr lang="en-US"/>
          </a:p>
        </p:txBody>
      </p:sp>
    </p:spTree>
    <p:extLst>
      <p:ext uri="{BB962C8B-B14F-4D97-AF65-F5344CB8AC3E}">
        <p14:creationId xmlns:p14="http://schemas.microsoft.com/office/powerpoint/2010/main" val="33804123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9312C-DEA6-CB79-9186-7AD3174D5DD0}"/>
              </a:ext>
            </a:extLst>
          </p:cNvPr>
          <p:cNvSpPr>
            <a:spLocks noGrp="1"/>
          </p:cNvSpPr>
          <p:nvPr>
            <p:ph type="title"/>
          </p:nvPr>
        </p:nvSpPr>
        <p:spPr/>
        <p:txBody>
          <a:bodyPr/>
          <a:lstStyle/>
          <a:p>
            <a:r>
              <a:rPr lang="en-US" dirty="0"/>
              <a:t>Weak Links</a:t>
            </a:r>
          </a:p>
        </p:txBody>
      </p:sp>
      <p:pic>
        <p:nvPicPr>
          <p:cNvPr id="8" name="Content Placeholder 7">
            <a:extLst>
              <a:ext uri="{FF2B5EF4-FFF2-40B4-BE49-F238E27FC236}">
                <a16:creationId xmlns:a16="http://schemas.microsoft.com/office/drawing/2014/main" id="{A6440E88-5EB5-2A01-99DB-A5E002070F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4258" y="1417637"/>
            <a:ext cx="11251993" cy="4938713"/>
          </a:xfrm>
          <a:prstGeom prst="rect">
            <a:avLst/>
          </a:prstGeom>
        </p:spPr>
      </p:pic>
      <p:sp>
        <p:nvSpPr>
          <p:cNvPr id="5" name="Slide Number Placeholder 4">
            <a:extLst>
              <a:ext uri="{FF2B5EF4-FFF2-40B4-BE49-F238E27FC236}">
                <a16:creationId xmlns:a16="http://schemas.microsoft.com/office/drawing/2014/main" id="{643F8503-ECEB-EAE9-14AF-300FCBFE091B}"/>
              </a:ext>
            </a:extLst>
          </p:cNvPr>
          <p:cNvSpPr>
            <a:spLocks noGrp="1"/>
          </p:cNvSpPr>
          <p:nvPr>
            <p:ph type="sldNum" sz="quarter" idx="12"/>
          </p:nvPr>
        </p:nvSpPr>
        <p:spPr/>
        <p:txBody>
          <a:bodyPr/>
          <a:lstStyle/>
          <a:p>
            <a:fld id="{BB3BE34B-9575-430D-9A41-469C30B8F0EA}" type="slidenum">
              <a:rPr lang="en-US" smtClean="0"/>
              <a:pPr/>
              <a:t>65</a:t>
            </a:fld>
            <a:endParaRPr lang="en-US"/>
          </a:p>
        </p:txBody>
      </p:sp>
    </p:spTree>
    <p:extLst>
      <p:ext uri="{BB962C8B-B14F-4D97-AF65-F5344CB8AC3E}">
        <p14:creationId xmlns:p14="http://schemas.microsoft.com/office/powerpoint/2010/main" val="36006194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24C03-6599-4BF3-B452-E8AAC6E152BD}"/>
              </a:ext>
            </a:extLst>
          </p:cNvPr>
          <p:cNvSpPr>
            <a:spLocks noGrp="1"/>
          </p:cNvSpPr>
          <p:nvPr>
            <p:ph type="title"/>
          </p:nvPr>
        </p:nvSpPr>
        <p:spPr/>
        <p:txBody>
          <a:bodyPr/>
          <a:lstStyle/>
          <a:p>
            <a:r>
              <a:rPr lang="en-US" dirty="0"/>
              <a:t>Aggregate Effect of Large Innovations</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7973A68-5439-E9A1-1996-CDBCFAAC1C74}"/>
                  </a:ext>
                </a:extLst>
              </p:cNvPr>
              <p:cNvSpPr>
                <a:spLocks noGrp="1"/>
              </p:cNvSpPr>
              <p:nvPr>
                <p:ph sz="half" idx="1"/>
              </p:nvPr>
            </p:nvSpPr>
            <p:spPr>
              <a:xfrm>
                <a:off x="304800" y="1600201"/>
                <a:ext cx="5257800" cy="4756150"/>
              </a:xfrm>
            </p:spPr>
            <p:txBody>
              <a:bodyPr>
                <a:normAutofit/>
              </a:bodyPr>
              <a:lstStyle/>
              <a:p>
                <a:r>
                  <a:rPr lang="en-US" dirty="0"/>
                  <a:t>How much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𝑌</m:t>
                        </m:r>
                      </m:e>
                      <m:sub>
                        <m:r>
                          <a:rPr lang="en-US" i="1">
                            <a:latin typeface="Cambria Math" panose="02040503050406030204" pitchFamily="18" charset="0"/>
                          </a:rPr>
                          <m:t>𝑡</m:t>
                        </m:r>
                      </m:sub>
                    </m:sSub>
                  </m:oMath>
                </a14:m>
                <a:r>
                  <a:rPr lang="en-US" dirty="0"/>
                  <a:t> increases depends on initial cost share of tasks exposed to innovation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oMath>
                </a14:m>
                <a:endParaRPr lang="en-US" dirty="0"/>
              </a:p>
              <a:p>
                <a:r>
                  <a:rPr lang="en-US" dirty="0"/>
                  <a:t>Let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e>
                      <m:sub>
                        <m:r>
                          <a:rPr lang="en-US" b="0" i="1" smtClean="0">
                            <a:latin typeface="Cambria Math" panose="02040503050406030204" pitchFamily="18" charset="0"/>
                          </a:rPr>
                          <m:t>𝑡</m:t>
                        </m:r>
                      </m:sub>
                    </m:sSub>
                  </m:oMath>
                </a14:m>
                <a:r>
                  <a:rPr lang="en-US" dirty="0"/>
                  <a:t> denote output when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𝐾</m:t>
                        </m:r>
                        <m:r>
                          <a:rPr lang="en-US" i="1">
                            <a:latin typeface="Cambria Math" panose="02040503050406030204" pitchFamily="18" charset="0"/>
                          </a:rPr>
                          <m:t>,</m:t>
                        </m:r>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𝑡</m:t>
                        </m:r>
                      </m:sub>
                    </m:sSub>
                    <m:r>
                      <a:rPr lang="en-US" i="1">
                        <a:latin typeface="Cambria Math" panose="02040503050406030204" pitchFamily="18" charset="0"/>
                      </a:rPr>
                      <m:t>→∞</m:t>
                    </m:r>
                  </m:oMath>
                </a14:m>
                <a:endParaRPr lang="en-US" dirty="0"/>
              </a:p>
              <a:p>
                <a:r>
                  <a:rPr lang="en-US" dirty="0"/>
                  <a:t>Increase in output from infinitely productive capital:</a:t>
                </a:r>
              </a:p>
              <a:p>
                <a:pPr marL="0" indent="0">
                  <a:buNone/>
                </a:pPr>
                <a14:m>
                  <m:oMathPara xmlns:m="http://schemas.openxmlformats.org/officeDocument/2006/math">
                    <m:o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𝑌</m:t>
                                  </m:r>
                                </m:e>
                              </m:acc>
                            </m:e>
                            <m:sub>
                              <m:r>
                                <a:rPr lang="en-US" i="1">
                                  <a:latin typeface="Cambria Math" panose="02040503050406030204" pitchFamily="18" charset="0"/>
                                </a:rPr>
                                <m:t>𝑡</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𝑡</m:t>
                              </m:r>
                            </m:sub>
                          </m:sSub>
                        </m:den>
                      </m:f>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𝑡</m:t>
                                      </m:r>
                                    </m:sub>
                                  </m:sSub>
                                </m:den>
                              </m:f>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𝜎</m:t>
                              </m:r>
                            </m:num>
                            <m:den>
                              <m:r>
                                <a:rPr lang="en-US" b="0" i="1" smtClean="0">
                                  <a:latin typeface="Cambria Math" panose="02040503050406030204" pitchFamily="18" charset="0"/>
                                </a:rPr>
                                <m:t>1−</m:t>
                              </m:r>
                              <m:r>
                                <a:rPr lang="en-US" b="0" i="1" smtClean="0">
                                  <a:latin typeface="Cambria Math" panose="02040503050406030204" pitchFamily="18" charset="0"/>
                                </a:rPr>
                                <m:t>𝜎</m:t>
                              </m:r>
                            </m:den>
                          </m:f>
                        </m:sup>
                      </m:sSup>
                    </m:oMath>
                  </m:oMathPara>
                </a14:m>
                <a:endParaRPr lang="en-US" dirty="0"/>
              </a:p>
              <a:p>
                <a:pPr marL="0" indent="0">
                  <a:buNone/>
                </a:pPr>
                <a:endParaRPr lang="en-US" dirty="0"/>
              </a:p>
            </p:txBody>
          </p:sp>
        </mc:Choice>
        <mc:Fallback xmlns="">
          <p:sp>
            <p:nvSpPr>
              <p:cNvPr id="5" name="Content Placeholder 4">
                <a:extLst>
                  <a:ext uri="{FF2B5EF4-FFF2-40B4-BE49-F238E27FC236}">
                    <a16:creationId xmlns:a16="http://schemas.microsoft.com/office/drawing/2014/main" id="{47973A68-5439-E9A1-1996-CDBCFAAC1C74}"/>
                  </a:ext>
                </a:extLst>
              </p:cNvPr>
              <p:cNvSpPr>
                <a:spLocks noGrp="1" noRot="1" noChangeAspect="1" noMove="1" noResize="1" noEditPoints="1" noAdjustHandles="1" noChangeArrowheads="1" noChangeShapeType="1" noTextEdit="1"/>
              </p:cNvSpPr>
              <p:nvPr>
                <p:ph sz="half" idx="1"/>
              </p:nvPr>
            </p:nvSpPr>
            <p:spPr>
              <a:xfrm>
                <a:off x="304800" y="1600201"/>
                <a:ext cx="5257800" cy="4756150"/>
              </a:xfrm>
              <a:blipFill>
                <a:blip r:embed="rId2"/>
                <a:stretch>
                  <a:fillRect l="-2086" t="-1282" r="-2549"/>
                </a:stretch>
              </a:blipFill>
            </p:spPr>
            <p:txBody>
              <a:bodyPr/>
              <a:lstStyle/>
              <a:p>
                <a:r>
                  <a:rPr lang="en-US">
                    <a:noFill/>
                  </a:rPr>
                  <a:t> </a:t>
                </a:r>
              </a:p>
            </p:txBody>
          </p:sp>
        </mc:Fallback>
      </mc:AlternateContent>
      <p:pic>
        <p:nvPicPr>
          <p:cNvPr id="8" name="Content Placeholder 7">
            <a:extLst>
              <a:ext uri="{FF2B5EF4-FFF2-40B4-BE49-F238E27FC236}">
                <a16:creationId xmlns:a16="http://schemas.microsoft.com/office/drawing/2014/main" id="{D5820A9B-E446-C5B1-0622-EA3199F6BC6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486400" y="1828800"/>
            <a:ext cx="6553200" cy="4384792"/>
          </a:xfrm>
          <a:prstGeom prst="rect">
            <a:avLst/>
          </a:prstGeom>
        </p:spPr>
      </p:pic>
      <p:sp>
        <p:nvSpPr>
          <p:cNvPr id="4" name="Slide Number Placeholder 3">
            <a:extLst>
              <a:ext uri="{FF2B5EF4-FFF2-40B4-BE49-F238E27FC236}">
                <a16:creationId xmlns:a16="http://schemas.microsoft.com/office/drawing/2014/main" id="{DE36E4C3-65AA-E4A6-1E70-D8449FEC9D6A}"/>
              </a:ext>
            </a:extLst>
          </p:cNvPr>
          <p:cNvSpPr>
            <a:spLocks noGrp="1"/>
          </p:cNvSpPr>
          <p:nvPr>
            <p:ph type="sldNum" sz="quarter" idx="12"/>
          </p:nvPr>
        </p:nvSpPr>
        <p:spPr/>
        <p:txBody>
          <a:bodyPr/>
          <a:lstStyle/>
          <a:p>
            <a:fld id="{BB3BE34B-9575-430D-9A41-469C30B8F0EA}" type="slidenum">
              <a:rPr lang="en-US" smtClean="0"/>
              <a:pPr/>
              <a:t>66</a:t>
            </a:fld>
            <a:endParaRPr lang="en-US"/>
          </a:p>
        </p:txBody>
      </p:sp>
    </p:spTree>
    <p:extLst>
      <p:ext uri="{BB962C8B-B14F-4D97-AF65-F5344CB8AC3E}">
        <p14:creationId xmlns:p14="http://schemas.microsoft.com/office/powerpoint/2010/main" val="34425577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015F565-5535-894D-24F2-5C761D3F3C5E}"/>
              </a:ext>
            </a:extLst>
          </p:cNvPr>
          <p:cNvSpPr>
            <a:spLocks noGrp="1"/>
          </p:cNvSpPr>
          <p:nvPr>
            <p:ph type="title"/>
          </p:nvPr>
        </p:nvSpPr>
        <p:spPr/>
        <p:txBody>
          <a:bodyPr/>
          <a:lstStyle/>
          <a:p>
            <a:r>
              <a:rPr lang="en-US" dirty="0"/>
              <a:t>Will Technology Make Labor Irrelevant</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5EA5ED5A-F56A-1F23-D18E-834124993E72}"/>
                  </a:ext>
                </a:extLst>
              </p:cNvPr>
              <p:cNvSpPr>
                <a:spLocks noGrp="1"/>
              </p:cNvSpPr>
              <p:nvPr>
                <p:ph idx="1"/>
              </p:nvPr>
            </p:nvSpPr>
            <p:spPr>
              <a:xfrm>
                <a:off x="609600" y="1600201"/>
                <a:ext cx="10972800" cy="4983161"/>
              </a:xfrm>
            </p:spPr>
            <p:txBody>
              <a:bodyPr>
                <a:normAutofit/>
              </a:bodyPr>
              <a:lstStyle/>
              <a:p>
                <a:pPr marL="0" indent="0">
                  <a:buNone/>
                </a:pPr>
                <a:r>
                  <a:rPr lang="en-US" dirty="0"/>
                  <a:t>Two forces:</a:t>
                </a:r>
              </a:p>
              <a:p>
                <a:pPr marL="514350" indent="-514350">
                  <a:buFont typeface="+mj-lt"/>
                  <a:buAutoNum type="arabicPeriod"/>
                </a:pPr>
                <a:r>
                  <a:rPr lang="en-US" dirty="0"/>
                  <a:t>Automation of tasks: </a:t>
                </a:r>
              </a:p>
              <a:p>
                <a:pPr lvl="1"/>
                <a:r>
                  <a:rPr lang="en-US" dirty="0"/>
                  <a:t>This tends to lower the labor share of income</a:t>
                </a:r>
              </a:p>
              <a:p>
                <a:pPr marL="514350" indent="-514350">
                  <a:buFont typeface="+mj-lt"/>
                  <a:buAutoNum type="arabicPeriod"/>
                </a:pPr>
                <a:r>
                  <a:rPr lang="en-US" dirty="0"/>
                  <a:t>Continued improvement of machines at what they already do</a:t>
                </a:r>
              </a:p>
              <a:p>
                <a:pPr marL="914400" lvl="1" indent="-514350"/>
                <a:r>
                  <a:rPr lang="en-US" dirty="0"/>
                  <a:t>If </a:t>
                </a:r>
                <a14:m>
                  <m:oMath xmlns:m="http://schemas.openxmlformats.org/officeDocument/2006/math">
                    <m:r>
                      <a:rPr lang="en-US" b="0" i="1" smtClean="0">
                        <a:latin typeface="Cambria Math" panose="02040503050406030204" pitchFamily="18" charset="0"/>
                      </a:rPr>
                      <m:t>𝜎</m:t>
                    </m:r>
                    <m:r>
                      <a:rPr lang="en-US" b="0" i="1" smtClean="0">
                        <a:latin typeface="Cambria Math" panose="02040503050406030204" pitchFamily="18" charset="0"/>
                      </a:rPr>
                      <m:t>&lt;1</m:t>
                    </m:r>
                  </m:oMath>
                </a14:m>
                <a:r>
                  <a:rPr lang="en-US" dirty="0"/>
                  <a:t>, this tends to raise the labor share </a:t>
                </a:r>
              </a:p>
              <a:p>
                <a:pPr marL="914400" lvl="1" indent="-514350"/>
                <a:r>
                  <a:rPr lang="en-US" dirty="0"/>
                  <a:t>Task prices fall faster than quantity rises</a:t>
                </a:r>
              </a:p>
              <a:p>
                <a:pPr marL="914400" lvl="1" indent="-514350"/>
                <a:r>
                  <a:rPr lang="en-US" dirty="0"/>
                  <a:t>This is an example of Baumol’s disease</a:t>
                </a:r>
              </a:p>
              <a:p>
                <a:pPr marL="514350" indent="-514350"/>
                <a:endParaRPr lang="en-US" dirty="0"/>
              </a:p>
              <a:p>
                <a:pPr marL="514350" indent="-514350"/>
                <a:r>
                  <a:rPr lang="en-US" dirty="0"/>
                  <a:t>Not clear that first force will be stronger than second</a:t>
                </a:r>
              </a:p>
            </p:txBody>
          </p:sp>
        </mc:Choice>
        <mc:Fallback xmlns="">
          <p:sp>
            <p:nvSpPr>
              <p:cNvPr id="7" name="Content Placeholder 6">
                <a:extLst>
                  <a:ext uri="{FF2B5EF4-FFF2-40B4-BE49-F238E27FC236}">
                    <a16:creationId xmlns:a16="http://schemas.microsoft.com/office/drawing/2014/main" id="{5EA5ED5A-F56A-1F23-D18E-834124993E72}"/>
                  </a:ext>
                </a:extLst>
              </p:cNvPr>
              <p:cNvSpPr>
                <a:spLocks noGrp="1" noRot="1" noChangeAspect="1" noMove="1" noResize="1" noEditPoints="1" noAdjustHandles="1" noChangeArrowheads="1" noChangeShapeType="1" noTextEdit="1"/>
              </p:cNvSpPr>
              <p:nvPr>
                <p:ph idx="1"/>
              </p:nvPr>
            </p:nvSpPr>
            <p:spPr>
              <a:xfrm>
                <a:off x="609600" y="1600201"/>
                <a:ext cx="10972800" cy="4983161"/>
              </a:xfrm>
              <a:blipFill>
                <a:blip r:embed="rId2"/>
                <a:stretch>
                  <a:fillRect l="-1444" t="-1591" r="-167" b="-367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47DC168F-1A0D-F78B-8100-B77F39C408D7}"/>
              </a:ext>
            </a:extLst>
          </p:cNvPr>
          <p:cNvSpPr>
            <a:spLocks noGrp="1"/>
          </p:cNvSpPr>
          <p:nvPr>
            <p:ph type="sldNum" sz="quarter" idx="12"/>
          </p:nvPr>
        </p:nvSpPr>
        <p:spPr/>
        <p:txBody>
          <a:bodyPr/>
          <a:lstStyle/>
          <a:p>
            <a:fld id="{BB3BE34B-9575-430D-9A41-469C30B8F0EA}" type="slidenum">
              <a:rPr lang="en-US" smtClean="0"/>
              <a:pPr/>
              <a:t>67</a:t>
            </a:fld>
            <a:endParaRPr lang="en-US"/>
          </a:p>
        </p:txBody>
      </p:sp>
    </p:spTree>
    <p:extLst>
      <p:ext uri="{BB962C8B-B14F-4D97-AF65-F5344CB8AC3E}">
        <p14:creationId xmlns:p14="http://schemas.microsoft.com/office/powerpoint/2010/main" val="1794148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12477</TotalTime>
  <Words>3472</Words>
  <Application>Microsoft Office PowerPoint</Application>
  <PresentationFormat>Widescreen</PresentationFormat>
  <Paragraphs>523</Paragraphs>
  <Slides>67</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Calibri</vt:lpstr>
      <vt:lpstr>Cambria Math</vt:lpstr>
      <vt:lpstr>Office Theme</vt:lpstr>
      <vt:lpstr>Lecture 2  Production Macroeconomics (Quantitative) Econ 101B</vt:lpstr>
      <vt:lpstr>A Model of Production</vt:lpstr>
      <vt:lpstr>Simple Canonical Model</vt:lpstr>
      <vt:lpstr>Components of a Model</vt:lpstr>
      <vt:lpstr>Components of a Model</vt:lpstr>
      <vt:lpstr>General Equilibrium Model</vt:lpstr>
      <vt:lpstr>Roadmap</vt:lpstr>
      <vt:lpstr>Roadmap</vt:lpstr>
      <vt:lpstr>Production Function</vt:lpstr>
      <vt:lpstr>Properties of Production Functions</vt:lpstr>
      <vt:lpstr>Properties of Production Functions</vt:lpstr>
      <vt:lpstr>Cobb-Douglas Production Function</vt:lpstr>
      <vt:lpstr>Returns to Scale</vt:lpstr>
      <vt:lpstr>Returns to Scale</vt:lpstr>
      <vt:lpstr>Replication Argument</vt:lpstr>
      <vt:lpstr>Behavior of Firms</vt:lpstr>
      <vt:lpstr>Firm’s Problem</vt:lpstr>
      <vt:lpstr>Firm’s Problem: Solution</vt:lpstr>
      <vt:lpstr>Firm’s Problem: Solution</vt:lpstr>
      <vt:lpstr>Firm’s Problem: Solution</vt:lpstr>
      <vt:lpstr>Optimal Choice of Capital by Firm</vt:lpstr>
      <vt:lpstr>Optimal Choice of Labor by Firm</vt:lpstr>
      <vt:lpstr>Firm’s Problem: Solution</vt:lpstr>
      <vt:lpstr>Firm’s Optimal Choice of Capital</vt:lpstr>
      <vt:lpstr>Firm’s Optimal Choice of Labor</vt:lpstr>
      <vt:lpstr>Firm’s Problem</vt:lpstr>
      <vt:lpstr>Math vs. Economics</vt:lpstr>
      <vt:lpstr>Firm Behavior</vt:lpstr>
      <vt:lpstr>Firm Behavior</vt:lpstr>
      <vt:lpstr>Power of Competition</vt:lpstr>
      <vt:lpstr>Power of Competition</vt:lpstr>
      <vt:lpstr>Completing the Model</vt:lpstr>
      <vt:lpstr>Completing the Model</vt:lpstr>
      <vt:lpstr>Model</vt:lpstr>
      <vt:lpstr>An Equilibrium</vt:lpstr>
      <vt:lpstr>Equilibrium</vt:lpstr>
      <vt:lpstr>How Can We Use The Model?</vt:lpstr>
      <vt:lpstr>How Does Technology Affect Wages?</vt:lpstr>
      <vt:lpstr>Labor Share in Our Model</vt:lpstr>
      <vt:lpstr>Technology and Workers</vt:lpstr>
      <vt:lpstr>Why a Cobb-Douglas Production Function?</vt:lpstr>
      <vt:lpstr>Worries about Labor-Saving Technology</vt:lpstr>
      <vt:lpstr>Is the Labor Share Falling?</vt:lpstr>
      <vt:lpstr>Is the Labor Share Falling?</vt:lpstr>
      <vt:lpstr>Is Labor Share Falling?</vt:lpstr>
      <vt:lpstr>Better and Cheaper Machines?</vt:lpstr>
      <vt:lpstr>More General Production Function</vt:lpstr>
      <vt:lpstr>Elasticity of Substitution</vt:lpstr>
      <vt:lpstr>Labor Share in CES Case</vt:lpstr>
      <vt:lpstr>Better and Cheaper Machines</vt:lpstr>
      <vt:lpstr>Estimating σ is Hard</vt:lpstr>
      <vt:lpstr>Wages and Technology with CES</vt:lpstr>
      <vt:lpstr>Technology Displacing Workers</vt:lpstr>
      <vt:lpstr>Task-Based Production Function</vt:lpstr>
      <vt:lpstr>Production of Tasks</vt:lpstr>
      <vt:lpstr>How Is Task j Performed?</vt:lpstr>
      <vt:lpstr>Task-Based Production: An Example</vt:lpstr>
      <vt:lpstr>Three Kinds of Technical Progress</vt:lpstr>
      <vt:lpstr>Three Kinds of Technical Progress</vt:lpstr>
      <vt:lpstr>Three Kinds of Technical Progress</vt:lpstr>
      <vt:lpstr>Displacement Effect Lowers Wages</vt:lpstr>
      <vt:lpstr>Aggregate Effect of Large Innovations</vt:lpstr>
      <vt:lpstr>Aggregate Effect of Large Innovations</vt:lpstr>
      <vt:lpstr>Weak Links</vt:lpstr>
      <vt:lpstr>Weak Links</vt:lpstr>
      <vt:lpstr>Aggregate Effect of Large Innovations</vt:lpstr>
      <vt:lpstr>Will Technology Make Labor Irrelevant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dc:title>
  <dc:creator> Jon Steinsson</dc:creator>
  <cp:lastModifiedBy>Jon Steinsson</cp:lastModifiedBy>
  <cp:revision>329</cp:revision>
  <cp:lastPrinted>2013-01-25T16:34:19Z</cp:lastPrinted>
  <dcterms:created xsi:type="dcterms:W3CDTF">2009-01-17T00:10:31Z</dcterms:created>
  <dcterms:modified xsi:type="dcterms:W3CDTF">2026-09-17T20:27:16Z</dcterms:modified>
</cp:coreProperties>
</file>