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2"/>
  </p:notesMasterIdLst>
  <p:handoutMasterIdLst>
    <p:handoutMasterId r:id="rId53"/>
  </p:handoutMasterIdLst>
  <p:sldIdLst>
    <p:sldId id="257" r:id="rId2"/>
    <p:sldId id="563" r:id="rId3"/>
    <p:sldId id="532" r:id="rId4"/>
    <p:sldId id="533" r:id="rId5"/>
    <p:sldId id="534" r:id="rId6"/>
    <p:sldId id="535" r:id="rId7"/>
    <p:sldId id="536" r:id="rId8"/>
    <p:sldId id="537" r:id="rId9"/>
    <p:sldId id="544" r:id="rId10"/>
    <p:sldId id="538" r:id="rId11"/>
    <p:sldId id="520" r:id="rId12"/>
    <p:sldId id="521" r:id="rId13"/>
    <p:sldId id="522" r:id="rId14"/>
    <p:sldId id="523" r:id="rId15"/>
    <p:sldId id="524" r:id="rId16"/>
    <p:sldId id="453" r:id="rId17"/>
    <p:sldId id="456" r:id="rId18"/>
    <p:sldId id="545" r:id="rId19"/>
    <p:sldId id="546" r:id="rId20"/>
    <p:sldId id="547" r:id="rId21"/>
    <p:sldId id="591" r:id="rId22"/>
    <p:sldId id="548" r:id="rId23"/>
    <p:sldId id="549" r:id="rId24"/>
    <p:sldId id="550" r:id="rId25"/>
    <p:sldId id="551" r:id="rId26"/>
    <p:sldId id="552" r:id="rId27"/>
    <p:sldId id="553" r:id="rId28"/>
    <p:sldId id="589" r:id="rId29"/>
    <p:sldId id="554" r:id="rId30"/>
    <p:sldId id="555" r:id="rId31"/>
    <p:sldId id="556" r:id="rId32"/>
    <p:sldId id="557" r:id="rId33"/>
    <p:sldId id="558" r:id="rId34"/>
    <p:sldId id="559" r:id="rId35"/>
    <p:sldId id="560" r:id="rId36"/>
    <p:sldId id="564" r:id="rId37"/>
    <p:sldId id="565" r:id="rId38"/>
    <p:sldId id="566" r:id="rId39"/>
    <p:sldId id="567" r:id="rId40"/>
    <p:sldId id="568" r:id="rId41"/>
    <p:sldId id="579" r:id="rId42"/>
    <p:sldId id="580" r:id="rId43"/>
    <p:sldId id="581" r:id="rId44"/>
    <p:sldId id="582" r:id="rId45"/>
    <p:sldId id="588" r:id="rId46"/>
    <p:sldId id="583" r:id="rId47"/>
    <p:sldId id="584" r:id="rId48"/>
    <p:sldId id="585" r:id="rId49"/>
    <p:sldId id="586" r:id="rId50"/>
    <p:sldId id="587" r:id="rId51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5" autoAdjust="0"/>
    <p:restoredTop sz="83942" autoAdjust="0"/>
  </p:normalViewPr>
  <p:slideViewPr>
    <p:cSldViewPr>
      <p:cViewPr varScale="1">
        <p:scale>
          <a:sx n="93" d="100"/>
          <a:sy n="93" d="100"/>
        </p:scale>
        <p:origin x="954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is-I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0DA98C2-FD87-4D1B-AC8F-1ED8006DCF99}" type="datetimeFigureOut">
              <a:rPr lang="is-IS" smtClean="0"/>
              <a:pPr/>
              <a:t>18.10.2026</a:t>
            </a:fld>
            <a:endParaRPr lang="is-I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is-I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0C61E41-E389-4E45-A4F1-9F937F14FB5A}" type="slidenum">
              <a:rPr lang="is-IS" smtClean="0"/>
              <a:pPr/>
              <a:t>‹#›</a:t>
            </a:fld>
            <a:endParaRPr lang="is-IS"/>
          </a:p>
        </p:txBody>
      </p:sp>
    </p:spTree>
    <p:extLst>
      <p:ext uri="{BB962C8B-B14F-4D97-AF65-F5344CB8AC3E}">
        <p14:creationId xmlns:p14="http://schemas.microsoft.com/office/powerpoint/2010/main" val="26781417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5C9348F0-3840-4312-B263-6E9EBFF3BAAA}" type="datetimeFigureOut">
              <a:rPr lang="en-US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 dirty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A3E4E65-4971-49A8-AD20-CBEFD73C7B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0478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57200" y="720725"/>
            <a:ext cx="6400800" cy="36004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is-IS"/>
          </a:p>
        </p:txBody>
      </p:sp>
      <p:sp>
        <p:nvSpPr>
          <p:cNvPr id="153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BA3B37D-829D-43C3-B6C2-EE2CFA474DFD}" type="slidenum">
              <a:rPr lang="en-US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165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90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953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799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884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967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965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23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550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1992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394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856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433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310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584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7453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509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7365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7892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9548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73378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6281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5134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5369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549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7373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935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127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41964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8791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5427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E4E65-4971-49A8-AD20-CBEFD73C7B9A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079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F4132-9046-4154-B86B-981055689941}" type="datetime1">
              <a:rPr lang="en-US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E07F0E-8A50-4163-99AA-A58651E770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321948-382A-4CCC-BB5F-8B793B4DA7EC}" type="datetime1">
              <a:rPr lang="en-US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9AA5AD-3701-488D-8337-65701EB767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8708A-1C42-4883-A8CD-D7F6A3F59E27}" type="datetime1">
              <a:rPr lang="en-US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328387-EA07-4C5C-A9FB-AF36F5DF7F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F2B748-2FB3-496D-A60B-CD4920320A1E}" type="datetime1">
              <a:rPr lang="en-US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15CB4E-B479-4A95-9914-7C2E49B30B8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FC122-20BC-4632-84CA-2E11BF0B558E}" type="datetime1">
              <a:rPr lang="en-US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B87554-FE11-4ECA-A7B1-EE4FBDEA6E1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8E33F-414F-4A74-A0CA-836565F5AF4C}" type="datetime1">
              <a:rPr lang="en-US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150015-2366-4A1F-8D26-26AA101C933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6C9D9F-25AD-418D-AE19-7D042F1EBFEE}" type="datetime1">
              <a:rPr lang="en-US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C133D4-909F-42AF-92EE-6A26B1C566A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BBD0A-89D6-4A5A-AE3A-8060EEDE2C17}" type="datetime1">
              <a:rPr lang="en-US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6FA335-917C-4C35-8E92-8041495DE1B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895D2-FE54-4067-9A84-75FBA4B51101}" type="datetime1">
              <a:rPr lang="en-US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B9290-53BE-4F6C-9737-187894914D1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00F5D-CD3E-44BD-89E0-8EB97FB19723}" type="datetime1">
              <a:rPr lang="en-US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4BC441-6960-45CD-8303-467E3C8645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9C6D2-E118-4B0F-A5D9-89CE7BA9093F}" type="datetime1">
              <a:rPr lang="en-US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FD62AC-461E-4AB2-955E-CBB445F7E25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A260AD-7AE1-4DE9-9EEB-58AD6B833D9D}" type="datetime1">
              <a:rPr lang="en-US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1DC675-25E1-4250-B002-698ED1A28F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s-I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s-I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C2A487-A7E4-43FA-A6B8-289D3B4E08B4}" type="datetime1">
              <a:rPr lang="en-US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581E53-6FD1-4D1D-9FFF-A0B6F0086FB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72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4AC1A9E-C0C6-4159-8F26-2C68EB2411C5}" type="datetime1">
              <a:rPr lang="en-US"/>
              <a:pPr>
                <a:defRPr/>
              </a:pPr>
              <a:t>10/18/2026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355A897-4E2E-46A6-86BA-026321F1014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  <p:sldLayoutId id="2147483684" r:id="rId12"/>
    <p:sldLayoutId id="2147483685" r:id="rId13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/>
          <p:cNvSpPr>
            <a:spLocks noGrp="1"/>
          </p:cNvSpPr>
          <p:nvPr>
            <p:ph type="ctrTitle"/>
          </p:nvPr>
        </p:nvSpPr>
        <p:spPr>
          <a:xfrm>
            <a:off x="914400" y="1600201"/>
            <a:ext cx="10439400" cy="1470025"/>
          </a:xfrm>
        </p:spPr>
        <p:txBody>
          <a:bodyPr/>
          <a:lstStyle/>
          <a:p>
            <a:r>
              <a:rPr lang="en-US"/>
              <a:t>Lecture 5</a:t>
            </a:r>
            <a:br>
              <a:rPr lang="en-US"/>
            </a:br>
            <a:r>
              <a:rPr lang="en-US"/>
              <a:t>Consumption </a:t>
            </a:r>
            <a:r>
              <a:rPr lang="en-US" dirty="0"/>
              <a:t>and Saving</a:t>
            </a:r>
            <a:br>
              <a:rPr lang="en-US" dirty="0"/>
            </a:br>
            <a:r>
              <a:rPr lang="en-US" sz="2400" dirty="0"/>
              <a:t>Macroeconomics (Quantitative)</a:t>
            </a:r>
            <a:br>
              <a:rPr lang="en-US" dirty="0"/>
            </a:br>
            <a:r>
              <a:rPr lang="en-US" sz="2400" dirty="0"/>
              <a:t>Econ 101B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898989"/>
                </a:solidFill>
              </a:rPr>
              <a:t>J</a:t>
            </a:r>
            <a:r>
              <a:rPr lang="is-IS" dirty="0">
                <a:solidFill>
                  <a:srgbClr val="898989"/>
                </a:solidFill>
              </a:rPr>
              <a:t>ón Steinsson</a:t>
            </a:r>
          </a:p>
          <a:p>
            <a:r>
              <a:rPr lang="is-IS" dirty="0">
                <a:solidFill>
                  <a:srgbClr val="898989"/>
                </a:solidFill>
              </a:rPr>
              <a:t>University of California, Berkeley</a:t>
            </a:r>
            <a:endParaRPr lang="en-US" dirty="0">
              <a:solidFill>
                <a:srgbClr val="89898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2980EC-EEAA-41E5-A30C-A8FFA38B94DA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We Stand?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studied:</a:t>
            </a:r>
          </a:p>
          <a:p>
            <a:pPr lvl="1"/>
            <a:r>
              <a:rPr lang="en-US" dirty="0"/>
              <a:t>Production (labor demand and capital demand)</a:t>
            </a:r>
          </a:p>
          <a:p>
            <a:pPr lvl="1"/>
            <a:r>
              <a:rPr lang="en-US" dirty="0"/>
              <a:t>Household Labor-Leisure (labor supply)</a:t>
            </a:r>
          </a:p>
          <a:p>
            <a:pPr lvl="1"/>
            <a:r>
              <a:rPr lang="en-US" dirty="0"/>
              <a:t>Efficiency of private property/free market setting</a:t>
            </a:r>
          </a:p>
          <a:p>
            <a:r>
              <a:rPr lang="en-US" dirty="0"/>
              <a:t>Next topic:</a:t>
            </a:r>
          </a:p>
          <a:p>
            <a:pPr lvl="1"/>
            <a:r>
              <a:rPr lang="en-US" dirty="0"/>
              <a:t>Household Consumption-Savings decision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50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Consumption-Savings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33400" y="1905000"/>
                <a:ext cx="11277600" cy="4221164"/>
              </a:xfrm>
            </p:spPr>
            <p:txBody>
              <a:bodyPr/>
              <a:lstStyle/>
              <a:p>
                <a:r>
                  <a:rPr lang="en-US" dirty="0"/>
                  <a:t>Suppose Robinson Crusoe lives for two periods</a:t>
                </a:r>
              </a:p>
              <a:p>
                <a:r>
                  <a:rPr lang="en-US" dirty="0"/>
                  <a:t>Let’s simplify: Ignore both production and labor-leisure decision</a:t>
                </a:r>
              </a:p>
              <a:p>
                <a:r>
                  <a:rPr lang="en-US" dirty="0"/>
                  <a:t>Instead: Robinson Crusoe gets a set </a:t>
                </a:r>
                <a:r>
                  <a:rPr lang="en-US" dirty="0">
                    <a:solidFill>
                      <a:srgbClr val="C00000"/>
                    </a:solidFill>
                  </a:rPr>
                  <a:t>endowment</a:t>
                </a:r>
                <a:r>
                  <a:rPr lang="en-US" dirty="0"/>
                  <a:t> of coconuts </a:t>
                </a:r>
                <a:br>
                  <a:rPr lang="en-US" dirty="0"/>
                </a:br>
                <a:r>
                  <a:rPr lang="en-US" dirty="0"/>
                  <a:t>in each of the two periods: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For simplicity, we assume that Robinson Crusoe knows values </a:t>
                </a:r>
                <a:br>
                  <a:rPr lang="en-US" dirty="0"/>
                </a:br>
                <a:r>
                  <a:rPr lang="en-US" dirty="0"/>
                  <a:t>of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in period 1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3400" y="1905000"/>
                <a:ext cx="11277600" cy="4221164"/>
              </a:xfrm>
              <a:blipFill>
                <a:blip r:embed="rId3"/>
                <a:stretch>
                  <a:fillRect l="-1243" t="-1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85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Savings Technology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</p:spPr>
            <p:txBody>
              <a:bodyPr/>
              <a:lstStyle/>
              <a:p>
                <a:r>
                  <a:rPr lang="en-US" dirty="0"/>
                  <a:t>Robinson Crusoe has access to a “savings technology” </a:t>
                </a:r>
                <a:br>
                  <a:rPr lang="en-US" dirty="0"/>
                </a:br>
                <a:r>
                  <a:rPr lang="en-US" dirty="0"/>
                  <a:t>(safe investment opportunity)</a:t>
                </a:r>
              </a:p>
              <a:p>
                <a:r>
                  <a:rPr lang="en-US" dirty="0"/>
                  <a:t>He can choose to save some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If he saves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coconuts at time 1, the savings technology </a:t>
                </a:r>
                <a:br>
                  <a:rPr lang="en-US" dirty="0"/>
                </a:br>
                <a:r>
                  <a:rPr lang="en-US" dirty="0"/>
                  <a:t>yields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1+</m:t>
                        </m:r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US" dirty="0"/>
                  <a:t> coconuts at time 2</a:t>
                </a:r>
              </a:p>
              <a:p>
                <a:r>
                  <a:rPr lang="en-US" dirty="0"/>
                  <a:t>We say that the savings technology has a </a:t>
                </a:r>
                <a:r>
                  <a:rPr lang="en-US" dirty="0">
                    <a:solidFill>
                      <a:schemeClr val="accent2"/>
                    </a:solidFill>
                  </a:rPr>
                  <a:t>gross return</a:t>
                </a:r>
                <a:r>
                  <a:rPr lang="en-US" dirty="0"/>
                  <a:t> </a:t>
                </a:r>
                <a:br>
                  <a:rPr lang="en-US" dirty="0"/>
                </a:br>
                <a:r>
                  <a:rPr lang="en-US" dirty="0"/>
                  <a:t>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1+</m:t>
                        </m:r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dirty="0"/>
                  <a:t> and a </a:t>
                </a:r>
                <a:r>
                  <a:rPr lang="en-US" dirty="0">
                    <a:solidFill>
                      <a:schemeClr val="accent2"/>
                    </a:solidFill>
                  </a:rPr>
                  <a:t>net return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𝑅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 is the “interest rate” in the economy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  <a:blipFill>
                <a:blip r:embed="rId3"/>
                <a:stretch>
                  <a:fillRect l="-1278" t="-1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40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Saving and Borrowing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572000"/>
              </a:xfrm>
            </p:spPr>
            <p:txBody>
              <a:bodyPr/>
              <a:lstStyle/>
              <a:p>
                <a:r>
                  <a:rPr lang="en-US" dirty="0"/>
                  <a:t>The “savings technology” is symmetric: Robinson Crusoe </a:t>
                </a:r>
                <a:br>
                  <a:rPr lang="en-US" dirty="0"/>
                </a:br>
                <a:r>
                  <a:rPr lang="en-US" dirty="0"/>
                  <a:t>can either “save” coconuts or “borrow” coconuts</a:t>
                </a:r>
              </a:p>
              <a:p>
                <a:r>
                  <a:rPr lang="en-US" dirty="0"/>
                  <a:t>We can think of the savings technology as borrowing and lending with a neighboring islander (i.e., Friday)</a:t>
                </a:r>
              </a:p>
              <a:p>
                <a:r>
                  <a:rPr lang="en-US" dirty="0"/>
                  <a:t>If Robinson Crusoe borrows,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  <m:r>
                      <a:rPr lang="en-US" b="0" i="1" smtClean="0">
                        <a:latin typeface="Cambria Math"/>
                      </a:rPr>
                      <m:t>&lt;0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both cases, the return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 (for simplicity)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572000"/>
              </a:xfrm>
              <a:blipFill>
                <a:blip r:embed="rId3"/>
                <a:stretch>
                  <a:fillRect l="-1278" t="-1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13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Consumption-Savings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Robinson Crusoe’s budget constraints are:</a:t>
                </a:r>
              </a:p>
              <a:p>
                <a:r>
                  <a:rPr lang="en-US" dirty="0"/>
                  <a:t>In period 1?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𝐵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period 2?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1+</m:t>
                          </m:r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512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Limits on Saving and Borrowing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905000"/>
                <a:ext cx="10972800" cy="4724400"/>
              </a:xfrm>
            </p:spPr>
            <p:txBody>
              <a:bodyPr/>
              <a:lstStyle/>
              <a:p>
                <a:r>
                  <a:rPr lang="en-US" dirty="0"/>
                  <a:t>What is the most Robinson Crusoe can save?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b="0" i="1" smtClean="0">
                          <a:latin typeface="Cambria Math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What is the most Robinson Crusoe can borrow?</a:t>
                </a:r>
              </a:p>
              <a:p>
                <a:pPr lvl="1"/>
                <a:r>
                  <a:rPr lang="en-US" dirty="0"/>
                  <a:t>As much as he can pay off in period 2: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1+</m:t>
                        </m:r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b="0" i="0" dirty="0">
                    <a:latin typeface="Cambria Math"/>
                  </a:rPr>
                  <a:t> </a:t>
                </a:r>
                <a:r>
                  <a:rPr lang="en-US" b="0" i="0" dirty="0">
                    <a:latin typeface="Calibri" pitchFamily="34" charset="0"/>
                    <a:cs typeface="Calibri" pitchFamily="34" charset="0"/>
                  </a:rPr>
                  <a:t>which implies</a:t>
                </a:r>
                <a:r>
                  <a:rPr lang="en-US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1+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𝑅</m:t>
                            </m:r>
                          </m:e>
                        </m:d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905000"/>
                <a:ext cx="10972800" cy="4724400"/>
              </a:xfrm>
              <a:blipFill>
                <a:blip r:embed="rId3"/>
                <a:stretch>
                  <a:fillRect l="-1278" t="-1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5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981200"/>
                <a:ext cx="10972800" cy="4724400"/>
              </a:xfrm>
            </p:spPr>
            <p:txBody>
              <a:bodyPr/>
              <a:lstStyle/>
              <a:p>
                <a:r>
                  <a:rPr lang="en-US" dirty="0"/>
                  <a:t>In general, Robinson Crusoe’s utility function can be written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will, however, specialize and consider the utility function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𝛽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Here,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𝛽</m:t>
                    </m:r>
                  </m:oMath>
                </a14:m>
                <a:r>
                  <a:rPr lang="en-US" dirty="0"/>
                  <a:t> is called Robinson Crusoe’s </a:t>
                </a:r>
                <a:r>
                  <a:rPr lang="en-US" dirty="0">
                    <a:solidFill>
                      <a:schemeClr val="accent2"/>
                    </a:solidFill>
                  </a:rPr>
                  <a:t>subjective discount factor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981200"/>
                <a:ext cx="10972800" cy="4724400"/>
              </a:xfrm>
              <a:blipFill>
                <a:blip r:embed="rId3"/>
                <a:stretch>
                  <a:fillRect l="-1278" t="-1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76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Interpretation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𝛽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1054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latin typeface="Cambria Math"/>
                  <a:ea typeface="Cambria Math"/>
                </a:endParaRPr>
              </a:p>
              <a:p>
                <a:r>
                  <a:rPr lang="en-US" dirty="0"/>
                  <a:t>What is the interpretation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𝛽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𝛽</m:t>
                    </m:r>
                  </m:oMath>
                </a14:m>
                <a:r>
                  <a:rPr lang="en-US" dirty="0"/>
                  <a:t> is the weight Robinson puts on future consumption relative to current consumption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𝛽</m:t>
                    </m:r>
                  </m:oMath>
                </a14:m>
                <a:r>
                  <a:rPr lang="en-US" dirty="0"/>
                  <a:t> governs Robinson Crusoe’s degree of patience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𝛽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&lt;1</m:t>
                    </m:r>
                  </m:oMath>
                </a14:m>
                <a:r>
                  <a:rPr lang="en-US" dirty="0"/>
                  <a:t>, Robinson Crusoe down-weights (discounts) </a:t>
                </a:r>
                <a:br>
                  <a:rPr lang="en-US" dirty="0"/>
                </a:br>
                <a:r>
                  <a:rPr lang="en-US" dirty="0"/>
                  <a:t>future consumption</a:t>
                </a:r>
              </a:p>
              <a:p>
                <a:pPr lvl="1"/>
                <a:r>
                  <a:rPr lang="en-US" dirty="0"/>
                  <a:t>If period length is one year, a typical value used is </a:t>
                </a:r>
                <a:br>
                  <a:rPr lang="en-US" dirty="0"/>
                </a:br>
                <a:r>
                  <a:rPr lang="en-US" dirty="0"/>
                  <a:t>something like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0.9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6</m:t>
                    </m:r>
                  </m:oMath>
                </a14:m>
                <a:r>
                  <a:rPr lang="en-US" dirty="0"/>
                  <a:t> (but lower numbers may be reasonable)</a:t>
                </a:r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105400"/>
              </a:xfrm>
              <a:blipFill>
                <a:blip r:embed="rId4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236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Consumption-Savings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105400"/>
              </a:xfrm>
            </p:spPr>
            <p:txBody>
              <a:bodyPr/>
              <a:lstStyle/>
              <a:p>
                <a:r>
                  <a:rPr lang="en-US" dirty="0"/>
                  <a:t>Robinson Crusoe maximizes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Subject to: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𝐵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1+</m:t>
                          </m:r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r>
                  <a:rPr lang="en-US" dirty="0"/>
                  <a:t>(and limits on borrowing and saving)</a:t>
                </a:r>
              </a:p>
              <a:p>
                <a:r>
                  <a:rPr lang="en-US" dirty="0"/>
                  <a:t>What are the endogenous variables? </a:t>
                </a:r>
                <a:endParaRPr lang="en-US" b="0" dirty="0"/>
              </a:p>
              <a:p>
                <a:r>
                  <a:rPr lang="en-US" dirty="0"/>
                  <a:t>Exogenous variables: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𝑅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Parameters: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  <a:ea typeface="Cambria Math"/>
                      </a:rPr>
                      <m:t>𝛽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105400"/>
              </a:xfrm>
              <a:blipFill>
                <a:blip r:embed="rId3"/>
                <a:stretch>
                  <a:fillRect l="-1278" t="-1553" b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239000" y="4800600"/>
                <a:ext cx="16988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32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sz="32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sz="32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3200" i="1">
                          <a:latin typeface="Cambria Math"/>
                        </a:rPr>
                        <m:t>,</m:t>
                      </m:r>
                      <m:r>
                        <a:rPr lang="en-US" sz="3200" i="1">
                          <a:latin typeface="Cambria Math"/>
                        </a:rPr>
                        <m:t>𝐵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4800600"/>
                <a:ext cx="169886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7254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Model: Plug and Chug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11353800" cy="4876800"/>
              </a:xfrm>
            </p:spPr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Combine budget constraints into one “</a:t>
                </a:r>
                <a:r>
                  <a:rPr lang="en-US" dirty="0" err="1"/>
                  <a:t>intertemporal</a:t>
                </a:r>
                <a:r>
                  <a:rPr lang="en-US" dirty="0"/>
                  <a:t>” budget constraint: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𝑅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𝑅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514350" indent="-514350"/>
                <a:r>
                  <a:rPr lang="en-US" dirty="0"/>
                  <a:t>This eliminates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from the household’s problem</a:t>
                </a:r>
              </a:p>
              <a:p>
                <a:pPr marL="514350" indent="-514350"/>
                <a:r>
                  <a:rPr lang="en-US" dirty="0"/>
                  <a:t>Intertemporal budget constraint says:</a:t>
                </a:r>
              </a:p>
              <a:p>
                <a:pPr marL="914400" lvl="1" indent="-514350"/>
                <a:r>
                  <a:rPr lang="en-US" dirty="0"/>
                  <a:t>“Present value” of consumption must equal “present value” of income</a:t>
                </a:r>
              </a:p>
              <a:p>
                <a:pPr marL="514350" indent="-514350"/>
                <a:r>
                  <a:rPr lang="en-US" dirty="0"/>
                  <a:t>What does “present value” mean?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11353800" cy="4876800"/>
              </a:xfrm>
              <a:blipFill>
                <a:blip r:embed="rId3"/>
                <a:stretch>
                  <a:fillRect l="-1396" t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965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257800"/>
              </a:xfrm>
            </p:spPr>
            <p:txBody>
              <a:bodyPr/>
              <a:lstStyle/>
              <a:p>
                <a:r>
                  <a:rPr lang="en-US" dirty="0"/>
                  <a:t>How much does it cost at time 1 to purchase the right to one coconut in period 2?</a:t>
                </a:r>
              </a:p>
              <a:p>
                <a:r>
                  <a:rPr lang="en-US" dirty="0"/>
                  <a:t>Price must be equal to the number of coconuts you need to store in period 1 to get one coconut in period 2. Which is?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We therefore say that the present value in period 1 of the right to one coconut in period 2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1/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1+</m:t>
                        </m:r>
                        <m:r>
                          <a:rPr lang="en-US" b="0" i="1" smtClean="0">
                            <a:latin typeface="Cambria Math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dirty="0"/>
                  <a:t> coconuts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257800"/>
              </a:xfrm>
              <a:blipFill>
                <a:blip r:embed="rId3"/>
                <a:stretch>
                  <a:fillRect l="-1278" t="-1508" r="-1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11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spcAft>
                    <a:spcPts val="1200"/>
                  </a:spcAft>
                  <a:buFont typeface="+mj-lt"/>
                  <a:buAutoNum type="arabicPeriod" startAt="2"/>
                </a:pPr>
                <a:r>
                  <a:rPr lang="en-US" dirty="0"/>
                  <a:t>Plug </a:t>
                </a:r>
                <a:r>
                  <a:rPr lang="en-US" dirty="0" err="1"/>
                  <a:t>intertemporal</a:t>
                </a:r>
                <a:r>
                  <a:rPr lang="en-US" dirty="0"/>
                  <a:t> budget constraint into objective function: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𝛽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𝑈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  <m:t>1+</m:t>
                                  </m:r>
                                  <m: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  <m:t>1+</m:t>
                                  </m:r>
                                  <m:r>
                                    <a:rPr lang="en-US" b="0" i="1" smtClean="0">
                                      <a:latin typeface="Cambria Math"/>
                                      <a:ea typeface="Cambria Math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514350" indent="-514350"/>
                <a:r>
                  <a:rPr lang="en-US" dirty="0"/>
                  <a:t>This eliminates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from the household’s problem</a:t>
                </a:r>
              </a:p>
              <a:p>
                <a:pPr marL="514350" indent="-514350"/>
                <a:r>
                  <a:rPr lang="en-US" dirty="0"/>
                  <a:t>Now we have a simple optimization problem with </a:t>
                </a:r>
                <a:br>
                  <a:rPr lang="en-US" dirty="0"/>
                </a:br>
                <a:r>
                  <a:rPr lang="en-US" dirty="0"/>
                  <a:t>one choice variable</a:t>
                </a:r>
              </a:p>
              <a:p>
                <a:pPr marL="514350" indent="-514350"/>
                <a:r>
                  <a:rPr lang="en-US" dirty="0"/>
                  <a:t>How is this solved?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4" t="-2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04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756151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 i="1" smtClean="0">
                          <a:latin typeface="Cambria Math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𝑈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𝑅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Differentiate and set to zero: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𝑅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=0</m:t>
                      </m:r>
                    </m:oMath>
                  </m:oMathPara>
                </a14:m>
                <a:endParaRPr lang="en-US" b="0" dirty="0">
                  <a:ea typeface="Cambria Math"/>
                </a:endParaRPr>
              </a:p>
              <a:p>
                <a:pPr>
                  <a:spcAft>
                    <a:spcPts val="1200"/>
                  </a:spcAft>
                </a:pPr>
                <a:r>
                  <a:rPr lang="en-US" dirty="0">
                    <a:ea typeface="Cambria Math"/>
                  </a:rPr>
                  <a:t>Rearrange:</a:t>
                </a:r>
                <a:endParaRPr lang="en-US" b="0" dirty="0">
                  <a:ea typeface="Cambria Math"/>
                </a:endParaRP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1+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𝑅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ea typeface="Cambria Math"/>
                </a:endParaRPr>
              </a:p>
              <a:p>
                <a:r>
                  <a:rPr lang="en-US" dirty="0"/>
                  <a:t>This equation is called the “consumption Euler equation”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756151"/>
              </a:xfrm>
              <a:blipFill>
                <a:blip r:embed="rId3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587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274638"/>
            <a:ext cx="8839200" cy="1143000"/>
          </a:xfrm>
        </p:spPr>
        <p:txBody>
          <a:bodyPr/>
          <a:lstStyle/>
          <a:p>
            <a:r>
              <a:rPr lang="en-US" sz="4200" dirty="0"/>
              <a:t>Euler Equation by </a:t>
            </a:r>
            <a:r>
              <a:rPr lang="en-US" sz="4200" dirty="0" err="1"/>
              <a:t>Variational</a:t>
            </a:r>
            <a:r>
              <a:rPr lang="en-US" sz="4200" dirty="0"/>
              <a:t> Argument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181600"/>
              </a:xfrm>
            </p:spPr>
            <p:txBody>
              <a:bodyPr/>
              <a:lstStyle/>
              <a:p>
                <a:r>
                  <a:rPr lang="en-US" dirty="0"/>
                  <a:t>We can alternatively derive the consumption Euler equation using a “variational argument”</a:t>
                </a:r>
                <a:r>
                  <a:rPr lang="en-US" sz="2800" dirty="0"/>
                  <a:t>(as usual this yields more insight)</a:t>
                </a:r>
              </a:p>
              <a:p>
                <a:r>
                  <a:rPr lang="en-US" dirty="0"/>
                  <a:t>Starting from some candidate optimal choice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suppose Robinson Crusoe contemplates saving a little bit more</a:t>
                </a:r>
              </a:p>
              <a:p>
                <a:r>
                  <a:rPr lang="en-US" dirty="0"/>
                  <a:t>Marginal cost:</a:t>
                </a:r>
              </a:p>
              <a:p>
                <a:r>
                  <a:rPr lang="en-US" dirty="0"/>
                  <a:t>Marginal benefit:</a:t>
                </a:r>
              </a:p>
              <a:p>
                <a:r>
                  <a:rPr lang="en-US" dirty="0"/>
                  <a:t>Robinson Crusoe must set these equal to each other: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1+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𝑅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181600"/>
              </a:xfrm>
              <a:blipFill>
                <a:blip r:embed="rId3"/>
                <a:stretch>
                  <a:fillRect l="-1278" t="-1529" r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63E037-E300-0114-6292-9364943A3702}"/>
                  </a:ext>
                </a:extLst>
              </p:cNvPr>
              <p:cNvSpPr txBox="1"/>
              <p:nvPr/>
            </p:nvSpPr>
            <p:spPr>
              <a:xfrm>
                <a:off x="3505200" y="3733800"/>
                <a:ext cx="146258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32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sz="3200" i="1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63E037-E300-0114-6292-9364943A3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3733800"/>
                <a:ext cx="146258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9361DD-40AA-01CE-F7C2-8D7228F2118E}"/>
                  </a:ext>
                </a:extLst>
              </p:cNvPr>
              <p:cNvSpPr txBox="1"/>
              <p:nvPr/>
            </p:nvSpPr>
            <p:spPr>
              <a:xfrm>
                <a:off x="4038600" y="4318575"/>
                <a:ext cx="306308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i="1" smtClean="0">
                          <a:latin typeface="Cambria Math"/>
                          <a:ea typeface="Cambria Math"/>
                        </a:rPr>
                        <m:t>𝛽</m:t>
                      </m:r>
                      <m:sSup>
                        <m:sSupPr>
                          <m:ctrlPr>
                            <a:rPr lang="en-US" sz="32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sz="3200" i="1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32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/>
                            </a:rPr>
                            <m:t>1+</m:t>
                          </m:r>
                          <m:r>
                            <a:rPr lang="en-US" sz="3200" i="1">
                              <a:latin typeface="Cambria Math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9361DD-40AA-01CE-F7C2-8D7228F21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4318575"/>
                <a:ext cx="306308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4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Utility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gain further insight, we assume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/>
                        </a:rPr>
                        <m:t>𝑈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This implies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Consumption Euler equation becomes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4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Consumption Growth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295400"/>
                <a:ext cx="10972800" cy="54102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1+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How does growth in income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/</m:t>
                    </m:r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 affect Robinson Crusoe’s consumption growth?  </a:t>
                </a:r>
              </a:p>
              <a:p>
                <a:r>
                  <a:rPr lang="en-US" dirty="0"/>
                  <a:t>It doesn’t!!! </a:t>
                </a:r>
              </a:p>
              <a:p>
                <a:r>
                  <a:rPr lang="en-US" dirty="0"/>
                  <a:t>Consumption growth is the same whether bulk of income is received in period 1 or period 2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295400"/>
                <a:ext cx="10972800" cy="5410200"/>
              </a:xfrm>
              <a:blipFill>
                <a:blip r:embed="rId3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757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Consumption-Savings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76800"/>
          </a:xfrm>
        </p:spPr>
        <p:txBody>
          <a:bodyPr>
            <a:normAutofit/>
          </a:bodyPr>
          <a:lstStyle/>
          <a:p>
            <a:r>
              <a:rPr lang="en-US" dirty="0"/>
              <a:t>Suppose most of income is in period 2</a:t>
            </a:r>
          </a:p>
          <a:p>
            <a:r>
              <a:rPr lang="en-US" dirty="0"/>
              <a:t>Robinson Crusoe could have consumption track income</a:t>
            </a:r>
          </a:p>
          <a:p>
            <a:r>
              <a:rPr lang="en-US" dirty="0"/>
              <a:t>Why is this not the “optimal” thing to do?</a:t>
            </a:r>
          </a:p>
          <a:p>
            <a:r>
              <a:rPr lang="en-US" dirty="0"/>
              <a:t>Because of diminishing marginal utility</a:t>
            </a:r>
          </a:p>
          <a:p>
            <a:pPr lvl="1"/>
            <a:r>
              <a:rPr lang="en-US" dirty="0"/>
              <a:t>Marginal utility will be much lower in period 2 than in period 1</a:t>
            </a:r>
          </a:p>
          <a:p>
            <a:pPr lvl="1"/>
            <a:r>
              <a:rPr lang="en-US" dirty="0"/>
              <a:t>Last coconut in period 2 yields much less utility </a:t>
            </a:r>
            <a:br>
              <a:rPr lang="en-US" dirty="0"/>
            </a:br>
            <a:r>
              <a:rPr lang="en-US" dirty="0"/>
              <a:t>than next coconut in period 1</a:t>
            </a:r>
          </a:p>
          <a:p>
            <a:pPr lvl="1"/>
            <a:r>
              <a:rPr lang="en-US" dirty="0"/>
              <a:t>So, Robinson Crusoe should transfer consumption </a:t>
            </a:r>
            <a:br>
              <a:rPr lang="en-US" dirty="0"/>
            </a:br>
            <a:r>
              <a:rPr lang="en-US" dirty="0"/>
              <a:t>to period 1 and increase utility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14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 Smoothing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1+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Suppose for simplicity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𝛽</m:t>
                    </m:r>
                    <m:d>
                      <m:dPr>
                        <m:ctrlPr>
                          <a:rPr lang="en-US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  <a:ea typeface="Cambria Math"/>
                          </a:rPr>
                          <m:t>1+</m:t>
                        </m:r>
                        <m:r>
                          <a:rPr lang="en-US" i="1">
                            <a:latin typeface="Cambria Math"/>
                            <a:ea typeface="Cambria Math"/>
                          </a:rPr>
                          <m:t>𝑅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implies that: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Irrespective of relative 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Robinson Crusoe wants to </a:t>
                </a:r>
                <a:r>
                  <a:rPr lang="en-US" dirty="0">
                    <a:solidFill>
                      <a:srgbClr val="C00000"/>
                    </a:solidFill>
                  </a:rPr>
                  <a:t>smooth</a:t>
                </a:r>
                <a:r>
                  <a:rPr lang="en-US" dirty="0"/>
                  <a:t> his consumption over time because marginal utility is diminishing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 b="-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27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472" y="262110"/>
            <a:ext cx="8081449" cy="606249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280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6AA03-03EB-E895-3D6B-A7EFB90CA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iClicker</a:t>
            </a:r>
            <a:r>
              <a:rPr lang="en-US" dirty="0"/>
              <a:t> Poll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1F124-091A-E174-878D-65946E7D0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the interest rate in the economy rose by 1 percentage point. How much less would you consumer over the next year as a fraction of your annual consumption?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0-0.5%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0.5-1.0%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1.0-2.0%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&gt;2%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07E4D-0119-A605-AB63-44B8D9031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97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 Growth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371600"/>
                <a:ext cx="11125200" cy="5257800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1+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Holding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𝛽</m:t>
                    </m:r>
                  </m:oMath>
                </a14:m>
                <a:r>
                  <a:rPr lang="en-US" dirty="0"/>
                  <a:t> fixed, how does consumptions growth vary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𝑅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The higher is the return on saving, the higher is the growth rate of consumption</a:t>
                </a:r>
              </a:p>
              <a:p>
                <a:r>
                  <a:rPr lang="en-US" dirty="0"/>
                  <a:t>If return to saving is high, Robinson Crusoe decides to save a lot</a:t>
                </a:r>
              </a:p>
              <a:p>
                <a:r>
                  <a:rPr lang="en-US" dirty="0"/>
                  <a:t>This implies that he consumes little in period 1 and a lot in period 2. So,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is big.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371600"/>
                <a:ext cx="11125200" cy="5257800"/>
              </a:xfrm>
              <a:blipFill>
                <a:blip r:embed="rId3"/>
                <a:stretch>
                  <a:fillRect l="-1260" r="-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95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for Level of Consumption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</p:spPr>
            <p:txBody>
              <a:bodyPr/>
              <a:lstStyle/>
              <a:p>
                <a:pPr>
                  <a:spcAft>
                    <a:spcPts val="1200"/>
                  </a:spcAft>
                </a:pPr>
                <a:r>
                  <a:rPr lang="en-US" dirty="0"/>
                  <a:t>With log utility we have:</a:t>
                </a:r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1+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ctr"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1+</m:t>
                          </m:r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1+</m:t>
                          </m:r>
                          <m:r>
                            <a:rPr lang="en-US" i="1">
                              <a:latin typeface="Cambria Math"/>
                            </a:rPr>
                            <m:t>𝑅</m:t>
                          </m:r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spcAft>
                    <a:spcPts val="0"/>
                  </a:spcAft>
                </a:pPr>
                <a:r>
                  <a:rPr lang="en-US" dirty="0"/>
                  <a:t>This is two equations in two unknown.</a:t>
                </a:r>
              </a:p>
              <a:p>
                <a:pPr>
                  <a:spcAft>
                    <a:spcPts val="0"/>
                  </a:spcAft>
                </a:pPr>
                <a:r>
                  <a:rPr lang="en-US" dirty="0"/>
                  <a:t>What are the unknowns?</a:t>
                </a:r>
              </a:p>
              <a:p>
                <a:r>
                  <a:rPr lang="en-US" dirty="0"/>
                  <a:t>We can therefore solve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  <a:blipFill>
                <a:blip r:embed="rId3"/>
                <a:stretch>
                  <a:fillRect l="-1278" t="-1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4120" imgH="215640" progId="Equation.3">
                  <p:embed/>
                </p:oleObj>
              </mc:Choice>
              <mc:Fallback>
                <p:oleObj name="Equation" r:id="rId4" imgW="11412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62600" y="5105400"/>
                <a:ext cx="19084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 </a:t>
                </a:r>
                <a:r>
                  <a:rPr lang="en-US" sz="3200" dirty="0">
                    <a:latin typeface="+mn-lt"/>
                  </a:rPr>
                  <a:t>and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5105400"/>
                <a:ext cx="1908471" cy="584775"/>
              </a:xfrm>
              <a:prstGeom prst="rect">
                <a:avLst/>
              </a:prstGeom>
              <a:blipFill>
                <a:blip r:embed="rId6"/>
                <a:stretch>
                  <a:fillRect t="-12632" b="-34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442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of Consumption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447800"/>
                <a:ext cx="10972800" cy="49530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Solving the two equations on the previous slide yields: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𝛽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/>
                                </a:rPr>
                                <m:t>1+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𝑅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Consumption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is a fraction of the present value of </a:t>
                </a:r>
                <a:br>
                  <a:rPr lang="en-US" dirty="0"/>
                </a:br>
                <a:r>
                  <a:rPr lang="en-US" dirty="0"/>
                  <a:t>life-time income</a:t>
                </a:r>
              </a:p>
              <a:p>
                <a:r>
                  <a:rPr lang="en-US" dirty="0"/>
                  <a:t>Consumption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only depends on current income </a:t>
                </a:r>
                <a:br>
                  <a:rPr lang="en-US" dirty="0"/>
                </a:br>
                <a:r>
                  <a:rPr lang="en-US" dirty="0"/>
                  <a:t>in so far as it affects the present value of life-time income</a:t>
                </a:r>
              </a:p>
              <a:p>
                <a:r>
                  <a:rPr lang="en-US" dirty="0"/>
                  <a:t>Current income is not special when it comes to consumption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447800"/>
                <a:ext cx="10972800" cy="4953000"/>
              </a:xfrm>
              <a:blipFill>
                <a:blip r:embed="rId3"/>
                <a:stretch>
                  <a:fillRect l="-1278" t="-1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0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45 Year Working Life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50292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We can extend our model to a setting in which Robinson Crusoe works for 45 years (say from age 22 to 67)</a:t>
                </a:r>
              </a:p>
              <a:p>
                <a:r>
                  <a:rPr lang="en-US" dirty="0"/>
                  <a:t>Let’s assume for simplicity that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𝛽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Then we have: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45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45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1+</m:t>
                                      </m:r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𝑅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simplicity: No initial wealth/debt and no retirement period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5029200"/>
              </a:xfrm>
              <a:blipFill>
                <a:blip r:embed="rId3"/>
                <a:stretch>
                  <a:fillRect l="-1278" t="-1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76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 and Income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2209800"/>
                <a:ext cx="10972800" cy="41910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45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45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1+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𝑅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Again, consumption is a fraction of present value of </a:t>
                </a:r>
                <a:br>
                  <a:rPr lang="en-US" dirty="0"/>
                </a:br>
                <a:r>
                  <a:rPr lang="en-US" dirty="0"/>
                  <a:t>life-time income</a:t>
                </a:r>
              </a:p>
              <a:p>
                <a:r>
                  <a:rPr lang="en-US" dirty="0"/>
                  <a:t>Does not depend on shape of income profile</a:t>
                </a:r>
              </a:p>
              <a:p>
                <a:r>
                  <a:rPr lang="en-US" dirty="0"/>
                  <a:t>This idea is often called the </a:t>
                </a:r>
                <a:r>
                  <a:rPr lang="en-US" dirty="0">
                    <a:solidFill>
                      <a:schemeClr val="accent2"/>
                    </a:solidFill>
                  </a:rPr>
                  <a:t>permanent income hypothesis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2209800"/>
                <a:ext cx="10972800" cy="4191000"/>
              </a:xfrm>
              <a:blipFill>
                <a:blip r:embed="rId3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87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Permanent Income Hypothesis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pic>
        <p:nvPicPr>
          <p:cNvPr id="5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 b="2480"/>
          <a:stretch>
            <a:fillRect/>
          </a:stretch>
        </p:blipFill>
        <p:spPr bwMode="auto">
          <a:xfrm>
            <a:off x="2057400" y="1143001"/>
            <a:ext cx="7543800" cy="5517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17019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ABE5-6C34-EA42-AD16-321BA484C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iClicker</a:t>
            </a:r>
            <a:r>
              <a:rPr lang="en-US" dirty="0"/>
              <a:t> Poll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FBF5E-30A0-B76C-C204-C42030650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you receive a surprise one-time $1,000 scholarship. How much of the funds would you spend within a year? </a:t>
            </a:r>
            <a:br>
              <a:rPr lang="en-US" dirty="0"/>
            </a:br>
            <a:r>
              <a:rPr lang="en-US" dirty="0"/>
              <a:t>(paying down debts is not spending)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0-20%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20-40%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40-60%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60-80%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80-100%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8798C-8F5F-E568-BC64-A75A84BE0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2974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 and Income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45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45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1+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𝑅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Say you unexpectedly get a large bonus in your first year of working life (very 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 </a:t>
                </a:r>
              </a:p>
              <a:p>
                <a:r>
                  <a:rPr lang="en-US" dirty="0"/>
                  <a:t>Suppose this doesn’t change your beliefs about income in future years</a:t>
                </a:r>
              </a:p>
              <a:p>
                <a:r>
                  <a:rPr lang="en-US" dirty="0"/>
                  <a:t>How large a fraction should you consume of this windfall within a year and how much should you save?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78" b="-1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6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Marginal Propensity to Consume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800600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45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45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1+</m:t>
                                      </m:r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𝑅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An extra dollar of income today only raises consumption today by about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2% (1/45)</a:t>
                </a:r>
              </a:p>
              <a:p>
                <a:r>
                  <a:rPr lang="en-US" dirty="0">
                    <a:solidFill>
                      <a:schemeClr val="accent2"/>
                    </a:solidFill>
                  </a:rPr>
                  <a:t>Marginal propensity to consume </a:t>
                </a:r>
                <a:r>
                  <a:rPr lang="en-US" dirty="0"/>
                  <a:t>(MPC)</a:t>
                </a:r>
                <a:r>
                  <a:rPr lang="en-US" dirty="0">
                    <a:solidFill>
                      <a:schemeClr val="accent2"/>
                    </a:solidFill>
                  </a:rPr>
                  <a:t> </a:t>
                </a:r>
                <a:r>
                  <a:rPr lang="en-US" dirty="0"/>
                  <a:t>is said to be 2%</a:t>
                </a:r>
              </a:p>
              <a:p>
                <a:r>
                  <a:rPr lang="en-US" dirty="0"/>
                  <a:t>MPC should be higher later in life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800600"/>
              </a:xfrm>
              <a:blipFill>
                <a:blip r:embed="rId3"/>
                <a:stretch>
                  <a:fillRect l="-1278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71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Forward-Looking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105400"/>
          </a:xfrm>
        </p:spPr>
        <p:txBody>
          <a:bodyPr>
            <a:normAutofit/>
          </a:bodyPr>
          <a:lstStyle/>
          <a:p>
            <a:r>
              <a:rPr lang="en-US" dirty="0"/>
              <a:t>Consumption-savings model embodies </a:t>
            </a:r>
            <a:r>
              <a:rPr lang="en-US" dirty="0">
                <a:solidFill>
                  <a:schemeClr val="accent2"/>
                </a:solidFill>
              </a:rPr>
              <a:t>forward-looking behavior</a:t>
            </a:r>
            <a:r>
              <a:rPr lang="en-US" dirty="0"/>
              <a:t> on the part of Robinson Crusoe</a:t>
            </a:r>
          </a:p>
          <a:p>
            <a:pPr lvl="1"/>
            <a:r>
              <a:rPr lang="en-US" dirty="0"/>
              <a:t>Nothing special about current period income</a:t>
            </a:r>
          </a:p>
          <a:p>
            <a:pPr lvl="1"/>
            <a:r>
              <a:rPr lang="en-US" dirty="0"/>
              <a:t>Current consumption depends on current and future income, </a:t>
            </a:r>
            <a:br>
              <a:rPr lang="en-US" dirty="0"/>
            </a:br>
            <a:r>
              <a:rPr lang="en-US" dirty="0"/>
              <a:t>NOT past consumption</a:t>
            </a:r>
          </a:p>
          <a:p>
            <a:r>
              <a:rPr lang="en-US" dirty="0"/>
              <a:t>Forward-looking behavior unique to economics </a:t>
            </a:r>
            <a:br>
              <a:rPr lang="en-US" dirty="0"/>
            </a:br>
            <a:r>
              <a:rPr lang="en-US" dirty="0"/>
              <a:t>(nothing like this in physics)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79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Forward-Looking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724400"/>
          </a:xfrm>
        </p:spPr>
        <p:txBody>
          <a:bodyPr>
            <a:normAutofit/>
          </a:bodyPr>
          <a:lstStyle/>
          <a:p>
            <a:r>
              <a:rPr lang="en-US" dirty="0"/>
              <a:t>Suppose you are hiking down a mountain. </a:t>
            </a:r>
          </a:p>
          <a:p>
            <a:pPr lvl="1"/>
            <a:r>
              <a:rPr lang="en-US" dirty="0"/>
              <a:t>You don’t take the easiest first step, the easiest second step, …, </a:t>
            </a:r>
            <a:br>
              <a:rPr lang="en-US" dirty="0"/>
            </a:br>
            <a:r>
              <a:rPr lang="en-US" dirty="0"/>
              <a:t>and then fall off a cliff</a:t>
            </a:r>
          </a:p>
          <a:p>
            <a:pPr lvl="1"/>
            <a:r>
              <a:rPr lang="en-US" dirty="0"/>
              <a:t>You look ahead and plot a route that overall is best. </a:t>
            </a:r>
          </a:p>
          <a:p>
            <a:pPr lvl="1"/>
            <a:r>
              <a:rPr lang="en-US" dirty="0"/>
              <a:t>This is forward-looking behavior</a:t>
            </a:r>
          </a:p>
          <a:p>
            <a:r>
              <a:rPr lang="en-US" dirty="0"/>
              <a:t>Water does not look down the hillside and decide on </a:t>
            </a:r>
            <a:br>
              <a:rPr lang="en-US" dirty="0"/>
            </a:br>
            <a:r>
              <a:rPr lang="en-US" dirty="0"/>
              <a:t>the “best” way down</a:t>
            </a:r>
          </a:p>
          <a:p>
            <a:r>
              <a:rPr lang="en-US" dirty="0"/>
              <a:t>Water is not forward-looking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460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Forward-Looking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60 years ago, economists modeled people as behaving much like water (today’s consumption depending on yesterday’s consumption and current income)</a:t>
            </a:r>
          </a:p>
          <a:p>
            <a:r>
              <a:rPr lang="en-US" dirty="0"/>
              <a:t>The idea that people display forward-looking behavior is one of the most important ideas of 20</a:t>
            </a:r>
            <a:r>
              <a:rPr lang="en-US" baseline="30000" dirty="0"/>
              <a:t>th</a:t>
            </a:r>
            <a:r>
              <a:rPr lang="en-US" dirty="0"/>
              <a:t> century macroeconomics</a:t>
            </a:r>
          </a:p>
          <a:p>
            <a:pPr lvl="1"/>
            <a:r>
              <a:rPr lang="en-US" dirty="0"/>
              <a:t>Pioneered by Milton Friedman and Robert Lucas among others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5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11201400" cy="5211762"/>
          </a:xfrm>
        </p:spPr>
        <p:txBody>
          <a:bodyPr>
            <a:normAutofit/>
          </a:bodyPr>
          <a:lstStyle/>
          <a:p>
            <a:r>
              <a:rPr lang="en-US" dirty="0"/>
              <a:t>Today, most economists model people as forming “</a:t>
            </a:r>
            <a:r>
              <a:rPr lang="en-US" dirty="0">
                <a:solidFill>
                  <a:schemeClr val="accent2"/>
                </a:solidFill>
              </a:rPr>
              <a:t>rational expectations</a:t>
            </a:r>
            <a:r>
              <a:rPr lang="en-US" dirty="0"/>
              <a:t>” about the future and acting optimally given these expectations.</a:t>
            </a:r>
          </a:p>
          <a:p>
            <a:r>
              <a:rPr lang="en-US" dirty="0"/>
              <a:t>Rational expectations: People should form optimal forecasts given their information</a:t>
            </a:r>
          </a:p>
          <a:p>
            <a:pPr lvl="1"/>
            <a:r>
              <a:rPr lang="en-US" dirty="0"/>
              <a:t>They should not make systematic mistakes </a:t>
            </a:r>
            <a:br>
              <a:rPr lang="en-US" dirty="0"/>
            </a:br>
            <a:r>
              <a:rPr lang="en-US" dirty="0"/>
              <a:t>(mistakes they should have been able to avoid given their information)</a:t>
            </a:r>
          </a:p>
          <a:p>
            <a:r>
              <a:rPr lang="en-US" dirty="0"/>
              <a:t>Very strong form of forward-looking behavior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05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Rational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53000"/>
          </a:xfrm>
        </p:spPr>
        <p:txBody>
          <a:bodyPr>
            <a:normAutofit/>
          </a:bodyPr>
          <a:lstStyle/>
          <a:p>
            <a:r>
              <a:rPr lang="en-US" dirty="0"/>
              <a:t>Do people have rational expectations?</a:t>
            </a:r>
          </a:p>
          <a:p>
            <a:pPr lvl="1"/>
            <a:r>
              <a:rPr lang="en-US" dirty="0"/>
              <a:t>Think of a wide-receiver in football. Where does he run?</a:t>
            </a:r>
          </a:p>
          <a:p>
            <a:pPr lvl="1"/>
            <a:r>
              <a:rPr lang="en-US" dirty="0"/>
              <a:t>In contrast, think of a squirrel (or an infant).</a:t>
            </a:r>
          </a:p>
          <a:p>
            <a:r>
              <a:rPr lang="en-US" dirty="0"/>
              <a:t>Needless to say, rational expectations is very controversial</a:t>
            </a:r>
          </a:p>
          <a:p>
            <a:r>
              <a:rPr lang="en-US" dirty="0"/>
              <a:t>Real world is probably somewhere in between:</a:t>
            </a:r>
          </a:p>
          <a:p>
            <a:pPr lvl="1"/>
            <a:r>
              <a:rPr lang="en-US" dirty="0"/>
              <a:t>People are forward-looking</a:t>
            </a:r>
          </a:p>
          <a:p>
            <a:pPr lvl="1"/>
            <a:r>
              <a:rPr lang="en-US" dirty="0"/>
              <a:t>But perhaps not fully rational</a:t>
            </a:r>
          </a:p>
          <a:p>
            <a:r>
              <a:rPr lang="en-US" dirty="0"/>
              <a:t>Much current research focuses on this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025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Consumption-Savings: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Consumption Euler Equation: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1+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𝑅</m:t>
                          </m:r>
                        </m:e>
                      </m:d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𝑈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Marginal benefit of saving an extra dollar equal to marginal cost</a:t>
                </a:r>
              </a:p>
              <a:p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𝑈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latin typeface="Cambria Math"/>
                          </a:rPr>
                          <m:t>𝐶</m:t>
                        </m:r>
                      </m:e>
                    </m:func>
                  </m:oMath>
                </a14:m>
                <a:r>
                  <a:rPr lang="en-US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1+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Consumption growth unrelated to income growth</a:t>
                </a:r>
              </a:p>
              <a:p>
                <a:pPr lvl="1"/>
                <a:r>
                  <a:rPr lang="en-US" dirty="0"/>
                  <a:t>Determined by interest rate and discount factor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0"/>
                <a:ext cx="10972800" cy="4953000"/>
              </a:xfrm>
              <a:blipFill>
                <a:blip r:embed="rId2"/>
                <a:stretch>
                  <a:fillRect l="-1278" t="-1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49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Consumption-Savings: 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Level of consumption if Robinson Crusoe lives for two periods: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1+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𝛽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1+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𝑅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Consumption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is a fraction of the present value of </a:t>
                </a:r>
                <a:br>
                  <a:rPr lang="en-US" dirty="0"/>
                </a:br>
                <a:r>
                  <a:rPr lang="en-US" dirty="0"/>
                  <a:t>life-time income</a:t>
                </a:r>
              </a:p>
              <a:p>
                <a:r>
                  <a:rPr lang="en-US" dirty="0"/>
                  <a:t>Consumption at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only depends on current income in so far as it affects the present value of life-time income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22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3855"/>
            <a:ext cx="8229600" cy="1143000"/>
          </a:xfrm>
        </p:spPr>
        <p:txBody>
          <a:bodyPr/>
          <a:lstStyle/>
          <a:p>
            <a:r>
              <a:rPr lang="en-US" dirty="0"/>
              <a:t>Does the Model Fit the Data?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903852"/>
            <a:ext cx="7239000" cy="5737476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352800" y="5257800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Gourinchas</a:t>
            </a:r>
            <a:r>
              <a:rPr lang="en-US" dirty="0"/>
              <a:t> and Parker (2002)</a:t>
            </a:r>
          </a:p>
        </p:txBody>
      </p:sp>
    </p:spTree>
    <p:extLst>
      <p:ext uri="{BB962C8B-B14F-4D97-AF65-F5344CB8AC3E}">
        <p14:creationId xmlns:p14="http://schemas.microsoft.com/office/powerpoint/2010/main" val="25187650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the Model Fit the Data?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29200"/>
          </a:xfrm>
        </p:spPr>
        <p:txBody>
          <a:bodyPr/>
          <a:lstStyle/>
          <a:p>
            <a:r>
              <a:rPr lang="en-US" dirty="0"/>
              <a:t>No</a:t>
            </a:r>
          </a:p>
          <a:p>
            <a:r>
              <a:rPr lang="en-US" dirty="0"/>
              <a:t>What does it miss?</a:t>
            </a:r>
          </a:p>
          <a:p>
            <a:pPr lvl="1"/>
            <a:r>
              <a:rPr lang="en-US" dirty="0"/>
              <a:t>Model implies a constant growth rate of consumption </a:t>
            </a:r>
            <a:br>
              <a:rPr lang="en-US" dirty="0"/>
            </a:br>
            <a:r>
              <a:rPr lang="en-US" dirty="0"/>
              <a:t>(Euler equation)</a:t>
            </a:r>
          </a:p>
          <a:p>
            <a:pPr lvl="1"/>
            <a:r>
              <a:rPr lang="en-US" dirty="0"/>
              <a:t>Data show a hump shaped pattern of consumption over the life cycle</a:t>
            </a:r>
          </a:p>
          <a:p>
            <a:pPr lvl="1"/>
            <a:r>
              <a:rPr lang="en-US" dirty="0"/>
              <a:t>Consumption profile seems to mimic income profile, </a:t>
            </a:r>
            <a:br>
              <a:rPr lang="en-US" dirty="0"/>
            </a:br>
            <a:r>
              <a:rPr lang="en-US" dirty="0"/>
              <a:t>while model says it shouldn’t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30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Wrong with the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876800"/>
          </a:xfrm>
        </p:spPr>
        <p:txBody>
          <a:bodyPr>
            <a:normAutofit/>
          </a:bodyPr>
          <a:lstStyle/>
          <a:p>
            <a:r>
              <a:rPr lang="en-US" dirty="0"/>
              <a:t>People are not forward looking?</a:t>
            </a:r>
          </a:p>
          <a:p>
            <a:pPr lvl="1"/>
            <a:r>
              <a:rPr lang="en-US" dirty="0"/>
              <a:t>Well, they do save for retirement</a:t>
            </a:r>
          </a:p>
          <a:p>
            <a:r>
              <a:rPr lang="en-US" dirty="0"/>
              <a:t>People’s preferences change over time?</a:t>
            </a:r>
          </a:p>
          <a:p>
            <a:pPr lvl="1"/>
            <a:r>
              <a:rPr lang="en-US" dirty="0"/>
              <a:t>Need more consumption when have young children </a:t>
            </a:r>
            <a:br>
              <a:rPr lang="en-US" dirty="0"/>
            </a:br>
            <a:r>
              <a:rPr lang="en-US" dirty="0"/>
              <a:t>(</a:t>
            </a:r>
            <a:r>
              <a:rPr lang="en-US" dirty="0" err="1"/>
              <a:t>Gourinchas</a:t>
            </a:r>
            <a:r>
              <a:rPr lang="en-US" dirty="0"/>
              <a:t>-Parker try to take this into account) </a:t>
            </a:r>
          </a:p>
          <a:p>
            <a:r>
              <a:rPr lang="en-US" dirty="0"/>
              <a:t>People can’t borrow against future income?</a:t>
            </a:r>
          </a:p>
          <a:p>
            <a:r>
              <a:rPr lang="en-US" dirty="0"/>
              <a:t>Young people want to build up buffer stock of savings </a:t>
            </a:r>
            <a:br>
              <a:rPr lang="en-US" dirty="0"/>
            </a:br>
            <a:r>
              <a:rPr lang="en-US" dirty="0"/>
              <a:t>(“rainy day fund”)?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70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Make Sense of Evidence?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45720" y="1662113"/>
                <a:ext cx="5193080" cy="48768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Gourinchas and Parker (2002):</a:t>
                </a:r>
              </a:p>
              <a:p>
                <a:r>
                  <a:rPr lang="en-US" dirty="0"/>
                  <a:t>People are impatient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𝛽</m:t>
                    </m:r>
                    <m:r>
                      <a:rPr lang="en-US" i="1" smtClean="0">
                        <a:latin typeface="Cambria Math"/>
                        <a:ea typeface="Cambria Math"/>
                      </a:rPr>
                      <m:t>&lt;1+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𝑅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Want downward sloping consumption profile</a:t>
                </a:r>
              </a:p>
              <a:p>
                <a:r>
                  <a:rPr lang="en-US" dirty="0"/>
                  <a:t>But are borrowing constrained earlier in life</a:t>
                </a:r>
              </a:p>
              <a:p>
                <a:r>
                  <a:rPr lang="en-US" dirty="0"/>
                  <a:t>Engage in precautionary savings early in life</a:t>
                </a:r>
              </a:p>
              <a:p>
                <a:r>
                  <a:rPr lang="en-US" dirty="0"/>
                  <a:t>Save for retirement </a:t>
                </a:r>
                <a:br>
                  <a:rPr lang="en-US" dirty="0"/>
                </a:br>
                <a:r>
                  <a:rPr lang="en-US" dirty="0"/>
                  <a:t>late in life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45720" y="1662113"/>
                <a:ext cx="5193080" cy="4876800"/>
              </a:xfrm>
              <a:blipFill>
                <a:blip r:embed="rId2"/>
                <a:stretch>
                  <a:fillRect l="-2347" t="-2125" r="-2700" b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pic>
        <p:nvPicPr>
          <p:cNvPr id="8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029" y="1374065"/>
            <a:ext cx="6075371" cy="4815208"/>
          </a:xfrm>
        </p:spPr>
      </p:pic>
      <p:sp>
        <p:nvSpPr>
          <p:cNvPr id="9" name="TextBox 8"/>
          <p:cNvSpPr txBox="1"/>
          <p:nvPr/>
        </p:nvSpPr>
        <p:spPr>
          <a:xfrm>
            <a:off x="5981882" y="6189273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Gourinchas</a:t>
            </a:r>
            <a:r>
              <a:rPr lang="en-US" dirty="0"/>
              <a:t> and Parker (2002)</a:t>
            </a:r>
          </a:p>
        </p:txBody>
      </p:sp>
    </p:spTree>
    <p:extLst>
      <p:ext uri="{BB962C8B-B14F-4D97-AF65-F5344CB8AC3E}">
        <p14:creationId xmlns:p14="http://schemas.microsoft.com/office/powerpoint/2010/main" val="3740999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Consumption-Saving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29200"/>
          </a:xfrm>
        </p:spPr>
        <p:txBody>
          <a:bodyPr>
            <a:normAutofit/>
          </a:bodyPr>
          <a:lstStyle/>
          <a:p>
            <a:r>
              <a:rPr lang="en-US" dirty="0"/>
              <a:t>Three important ideas: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Consumption smoothing</a:t>
            </a:r>
          </a:p>
          <a:p>
            <a:pPr marL="1371600" lvl="2" indent="-514350"/>
            <a:r>
              <a:rPr lang="en-US" dirty="0"/>
              <a:t>Diminishing marginal utility implies that households should borrow when income is low and save when income is high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Borrowing constraints</a:t>
            </a:r>
          </a:p>
          <a:p>
            <a:pPr marL="1371600" lvl="2" indent="-514350"/>
            <a:r>
              <a:rPr lang="en-US" dirty="0"/>
              <a:t>Prevent households from smoothing consumption as much as </a:t>
            </a:r>
            <a:br>
              <a:rPr lang="en-US" dirty="0"/>
            </a:br>
            <a:r>
              <a:rPr lang="en-US" dirty="0"/>
              <a:t>they would like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Precautionary savings</a:t>
            </a:r>
          </a:p>
          <a:p>
            <a:pPr marL="1371600" lvl="2" indent="-514350"/>
            <a:r>
              <a:rPr lang="en-US" dirty="0"/>
              <a:t>Even when income is low, might want to build up buffer stock of savings </a:t>
            </a:r>
            <a:br>
              <a:rPr lang="en-US" dirty="0"/>
            </a:br>
            <a:r>
              <a:rPr lang="en-US" dirty="0"/>
              <a:t>as a precaution against future setbacks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8D539-6BF2-4C53-B330-167D4393E1AC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64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8686800" cy="1143000"/>
          </a:xfrm>
        </p:spPr>
        <p:txBody>
          <a:bodyPr/>
          <a:lstStyle/>
          <a:p>
            <a:r>
              <a:rPr lang="en-US" dirty="0"/>
              <a:t>History of Thought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447800"/>
                <a:ext cx="10972800" cy="54102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John Maynard Keynes introduced idea of the </a:t>
                </a:r>
                <a:r>
                  <a:rPr lang="en-US" dirty="0">
                    <a:solidFill>
                      <a:schemeClr val="accent2"/>
                    </a:solidFill>
                  </a:rPr>
                  <a:t>consumption function </a:t>
                </a:r>
                <a:r>
                  <a:rPr lang="en-US" dirty="0"/>
                  <a:t>in the 1930’s</a:t>
                </a:r>
              </a:p>
              <a:p>
                <a:pPr lvl="1"/>
                <a:r>
                  <a:rPr lang="en-US" dirty="0"/>
                  <a:t>Consumption a function of current income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𝑎</m:t>
                      </m:r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r>
                        <a:rPr lang="en-US" b="0" i="1" smtClean="0">
                          <a:latin typeface="Cambria Math"/>
                        </a:rPr>
                        <m:t>𝑏</m:t>
                      </m:r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US" dirty="0"/>
                  <a:t> denotes marginal propensity to consume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0&lt;</m:t>
                    </m:r>
                    <m:r>
                      <a:rPr lang="en-US" b="0" i="1" smtClean="0">
                        <a:latin typeface="Cambria Math"/>
                      </a:rPr>
                      <m:t>𝑏</m:t>
                    </m:r>
                    <m:r>
                      <a:rPr lang="en-US" b="0" i="1" smtClean="0">
                        <a:latin typeface="Cambria Math"/>
                      </a:rPr>
                      <m:t>&lt;1</m:t>
                    </m:r>
                  </m:oMath>
                </a14:m>
                <a:r>
                  <a:rPr lang="en-US" dirty="0"/>
                  <a:t>, MPC between zero and one</a:t>
                </a:r>
              </a:p>
              <a:p>
                <a:pPr lvl="1"/>
                <a:r>
                  <a:rPr lang="en-US" dirty="0"/>
                  <a:t>Argued that interest rate was unimportant</a:t>
                </a:r>
              </a:p>
              <a:p>
                <a:r>
                  <a:rPr lang="en-US" dirty="0" err="1"/>
                  <a:t>Tryggve</a:t>
                </a:r>
                <a:r>
                  <a:rPr lang="en-US" dirty="0"/>
                  <a:t> </a:t>
                </a:r>
                <a:r>
                  <a:rPr lang="en-US" dirty="0" err="1"/>
                  <a:t>Haavelmo</a:t>
                </a:r>
                <a:r>
                  <a:rPr lang="en-US" dirty="0"/>
                  <a:t> and Paul Samuelson provided early estimates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𝑀𝑃𝐶</m:t>
                    </m:r>
                    <m:r>
                      <a:rPr lang="en-US" b="0" i="1" smtClean="0">
                        <a:latin typeface="Cambria Math"/>
                      </a:rPr>
                      <m:t>&gt;2/3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Correlation vs. causation??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447800"/>
                <a:ext cx="10972800" cy="5410200"/>
              </a:xfrm>
              <a:blipFill>
                <a:blip r:embed="rId2"/>
                <a:stretch>
                  <a:fillRect l="-1278" t="-1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29200"/>
          </a:xfrm>
        </p:spPr>
        <p:txBody>
          <a:bodyPr>
            <a:normAutofit/>
          </a:bodyPr>
          <a:lstStyle/>
          <a:p>
            <a:r>
              <a:rPr lang="en-US" dirty="0"/>
              <a:t>Keynes’ consumption function implied:</a:t>
            </a:r>
          </a:p>
          <a:p>
            <a:pPr lvl="1"/>
            <a:r>
              <a:rPr lang="en-US" dirty="0"/>
              <a:t>Savings rate should rise as country gets richer</a:t>
            </a:r>
          </a:p>
          <a:p>
            <a:pPr lvl="1"/>
            <a:r>
              <a:rPr lang="en-US" dirty="0"/>
              <a:t>Some economists worried that there wouldn’t be enough profitable investment to absorb increase in savings. This would lead to stagnation.</a:t>
            </a:r>
          </a:p>
          <a:p>
            <a:r>
              <a:rPr lang="en-US" dirty="0"/>
              <a:t>In 1940’s Simon </a:t>
            </a:r>
            <a:r>
              <a:rPr lang="en-US" dirty="0" err="1"/>
              <a:t>Kuznetz</a:t>
            </a:r>
            <a:r>
              <a:rPr lang="en-US" dirty="0"/>
              <a:t> gathered data on GDP and consumption back to 1860’s. </a:t>
            </a:r>
          </a:p>
          <a:p>
            <a:pPr lvl="1"/>
            <a:r>
              <a:rPr lang="en-US" dirty="0"/>
              <a:t>Consumption turned out to be stable as a share of GDP. Savings rate did not seem to rise as economy grew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10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94292-7D56-A51E-1BEF-B80BB0C4E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s-IS" dirty="0"/>
              <a:t>History of Thought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05398-7F80-3007-0D6D-47BCB5D99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11125200" cy="4983161"/>
          </a:xfrm>
        </p:spPr>
        <p:txBody>
          <a:bodyPr/>
          <a:lstStyle/>
          <a:p>
            <a:r>
              <a:rPr lang="is-IS" dirty="0"/>
              <a:t>Dorothy Brady and Rose D. Friedman </a:t>
            </a:r>
            <a:r>
              <a:rPr lang="en-US" dirty="0"/>
              <a:t>(1947):</a:t>
            </a:r>
          </a:p>
          <a:p>
            <a:pPr lvl="1"/>
            <a:r>
              <a:rPr lang="en-US" dirty="0"/>
              <a:t>Re-analyzed budget study data</a:t>
            </a:r>
          </a:p>
          <a:p>
            <a:pPr lvl="1"/>
            <a:r>
              <a:rPr lang="en-US" dirty="0"/>
              <a:t>Consumption function shifts up over time as average income increases</a:t>
            </a:r>
          </a:p>
          <a:p>
            <a:r>
              <a:rPr lang="en-US" dirty="0"/>
              <a:t>Margret Reid (unpublished):</a:t>
            </a:r>
          </a:p>
          <a:p>
            <a:pPr lvl="1"/>
            <a:r>
              <a:rPr lang="en-US" dirty="0"/>
              <a:t>Re-analyzed budget study data</a:t>
            </a:r>
          </a:p>
          <a:p>
            <a:pPr lvl="1"/>
            <a:r>
              <a:rPr lang="en-US" dirty="0"/>
              <a:t>Introduced the concept of “permanent component of income”</a:t>
            </a:r>
          </a:p>
          <a:p>
            <a:pPr marL="0" indent="0" algn="ctr">
              <a:buNone/>
            </a:pPr>
            <a:r>
              <a:rPr lang="en-US" dirty="0"/>
              <a:t>“dealt a fatal blow to this extraordinarily simple view of the savings process” (i.e. the Keynesian consumption function)</a:t>
            </a:r>
          </a:p>
          <a:p>
            <a:pPr marL="0" indent="0">
              <a:buNone/>
            </a:pPr>
            <a:r>
              <a:rPr lang="en-US" dirty="0"/>
              <a:t>							--- Modigliani (1986)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62E2A5-F37E-B2A5-1911-987B9B140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0258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29200"/>
          </a:xfrm>
        </p:spPr>
        <p:txBody>
          <a:bodyPr/>
          <a:lstStyle/>
          <a:p>
            <a:r>
              <a:rPr lang="en-US" dirty="0"/>
              <a:t>In the 1950’s Franco </a:t>
            </a:r>
            <a:r>
              <a:rPr lang="en-US" dirty="0" err="1"/>
              <a:t>Modigliano</a:t>
            </a:r>
            <a:r>
              <a:rPr lang="en-US" dirty="0"/>
              <a:t> (and co-authors) proposed </a:t>
            </a:r>
            <a:br>
              <a:rPr lang="en-US" dirty="0"/>
            </a:br>
            <a:r>
              <a:rPr lang="en-US" dirty="0"/>
              <a:t>the </a:t>
            </a:r>
            <a:r>
              <a:rPr lang="en-US" dirty="0">
                <a:solidFill>
                  <a:schemeClr val="accent2"/>
                </a:solidFill>
              </a:rPr>
              <a:t>life-cycle hypothesis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Consumers smooth consumption relative to income </a:t>
            </a:r>
            <a:br>
              <a:rPr lang="en-US" dirty="0"/>
            </a:br>
            <a:r>
              <a:rPr lang="en-US" dirty="0"/>
              <a:t>(e.g., save for retirement)</a:t>
            </a:r>
          </a:p>
          <a:p>
            <a:pPr lvl="1"/>
            <a:r>
              <a:rPr lang="en-US" dirty="0"/>
              <a:t>Consumers are forward-looking</a:t>
            </a:r>
          </a:p>
          <a:p>
            <a:pPr lvl="1"/>
            <a:r>
              <a:rPr lang="en-US" dirty="0"/>
              <a:t>Savings rate not related to level of income but rather current income relative to average income over life</a:t>
            </a:r>
          </a:p>
          <a:p>
            <a:pPr lvl="1"/>
            <a:r>
              <a:rPr lang="en-US" dirty="0"/>
              <a:t>Savings rate doesn’t rise with life-time income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89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1"/>
            <a:ext cx="11353800" cy="4525963"/>
          </a:xfrm>
        </p:spPr>
        <p:txBody>
          <a:bodyPr/>
          <a:lstStyle/>
          <a:p>
            <a:r>
              <a:rPr lang="en-US" dirty="0"/>
              <a:t>In 1957, Milton Friedman proposed the </a:t>
            </a:r>
            <a:r>
              <a:rPr lang="en-US" dirty="0">
                <a:solidFill>
                  <a:schemeClr val="accent2"/>
                </a:solidFill>
              </a:rPr>
              <a:t>permanent income effect</a:t>
            </a:r>
            <a:br>
              <a:rPr lang="en-US" dirty="0">
                <a:solidFill>
                  <a:schemeClr val="accent2"/>
                </a:solidFill>
              </a:rPr>
            </a:br>
            <a:r>
              <a:rPr lang="en-US" sz="2800" dirty="0"/>
              <a:t>(developed with Brady, Rose Friedman, and Reid)</a:t>
            </a:r>
          </a:p>
          <a:p>
            <a:pPr lvl="1"/>
            <a:r>
              <a:rPr lang="en-US" dirty="0"/>
              <a:t>Consumption not related to current income but rather </a:t>
            </a:r>
            <a:br>
              <a:rPr lang="en-US" dirty="0"/>
            </a:br>
            <a:r>
              <a:rPr lang="en-US" dirty="0"/>
              <a:t>“permanent income”</a:t>
            </a:r>
          </a:p>
          <a:p>
            <a:pPr lvl="1"/>
            <a:r>
              <a:rPr lang="en-US" dirty="0"/>
              <a:t>MPC out of “windfall” much lower than what Keynesians say, </a:t>
            </a:r>
            <a:br>
              <a:rPr lang="en-US" dirty="0"/>
            </a:br>
            <a:r>
              <a:rPr lang="en-US" dirty="0"/>
              <a:t>perhaps about 1/3</a:t>
            </a:r>
          </a:p>
          <a:p>
            <a:pPr lvl="1"/>
            <a:r>
              <a:rPr lang="en-US" dirty="0"/>
              <a:t>Why 1/3 as opposed to 1/45? </a:t>
            </a:r>
            <a:br>
              <a:rPr lang="en-US" dirty="0"/>
            </a:br>
            <a:r>
              <a:rPr lang="en-US" dirty="0"/>
              <a:t>(Today we use the term permanent income hypothesis for </a:t>
            </a:r>
            <a:br>
              <a:rPr lang="en-US" dirty="0"/>
            </a:br>
            <a:r>
              <a:rPr lang="en-US" dirty="0"/>
              <a:t>a model that implies MPC = 1/45)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39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Empirical Evidence in 1950’s and 1960’s:</a:t>
            </a:r>
          </a:p>
          <a:p>
            <a:pPr lvl="1"/>
            <a:r>
              <a:rPr lang="en-US" dirty="0"/>
              <a:t>Spending out of unanticipated payments in 1950 to U.S. veterans holding National Service Life Insurance was between 0.3 and 0.5</a:t>
            </a:r>
          </a:p>
          <a:p>
            <a:pPr lvl="1"/>
            <a:r>
              <a:rPr lang="en-US" dirty="0"/>
              <a:t>Spending out of reparations payments by Germany to Israelis in 1957-58 was about 0.2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48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105400"/>
          </a:xfrm>
        </p:spPr>
        <p:txBody>
          <a:bodyPr>
            <a:normAutofit/>
          </a:bodyPr>
          <a:lstStyle/>
          <a:p>
            <a:r>
              <a:rPr lang="en-US" dirty="0"/>
              <a:t>In 1978, Robert Hall writes down model much like ours and argues for a MPC of 0.05.</a:t>
            </a:r>
          </a:p>
          <a:p>
            <a:pPr lvl="1"/>
            <a:r>
              <a:rPr lang="en-US" dirty="0"/>
              <a:t>Also, consumption should be a </a:t>
            </a:r>
            <a:r>
              <a:rPr lang="en-US" dirty="0">
                <a:solidFill>
                  <a:schemeClr val="accent2"/>
                </a:solidFill>
              </a:rPr>
              <a:t>random walk </a:t>
            </a:r>
            <a:br>
              <a:rPr lang="en-US" dirty="0"/>
            </a:br>
            <a:r>
              <a:rPr lang="en-US" dirty="0"/>
              <a:t>(with trend because of interest rate)</a:t>
            </a:r>
          </a:p>
          <a:p>
            <a:pPr lvl="1"/>
            <a:r>
              <a:rPr lang="en-US" dirty="0"/>
              <a:t>Only unanticipated changes income should affect consumption (anticipated changes should already be factored into consumption since people are forward-looking)</a:t>
            </a:r>
          </a:p>
          <a:p>
            <a:r>
              <a:rPr lang="en-US" dirty="0"/>
              <a:t>In 1982, Hall and </a:t>
            </a:r>
            <a:r>
              <a:rPr lang="en-US" dirty="0" err="1"/>
              <a:t>Mishkin</a:t>
            </a:r>
            <a:r>
              <a:rPr lang="en-US" dirty="0"/>
              <a:t> (1982) estimate MPC to consume of 0.2 and conclude model is wrong because MPC is too high.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465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1980:</a:t>
            </a:r>
          </a:p>
          <a:p>
            <a:pPr lvl="1"/>
            <a:r>
              <a:rPr lang="en-US" dirty="0"/>
              <a:t>Economists incorporate </a:t>
            </a:r>
            <a:r>
              <a:rPr lang="en-US" dirty="0">
                <a:solidFill>
                  <a:schemeClr val="accent2"/>
                </a:solidFill>
              </a:rPr>
              <a:t>borrowing constraints </a:t>
            </a:r>
            <a:r>
              <a:rPr lang="en-US" dirty="0"/>
              <a:t>and </a:t>
            </a:r>
            <a:r>
              <a:rPr lang="en-US" dirty="0">
                <a:solidFill>
                  <a:schemeClr val="accent2"/>
                </a:solidFill>
              </a:rPr>
              <a:t>precautionary savings </a:t>
            </a:r>
            <a:r>
              <a:rPr lang="en-US" dirty="0"/>
              <a:t>due to uncertainty about the future into model</a:t>
            </a:r>
          </a:p>
          <a:p>
            <a:pPr lvl="1"/>
            <a:r>
              <a:rPr lang="en-US" dirty="0"/>
              <a:t>This raises MPC in the model back up to 0.2-0.4</a:t>
            </a:r>
          </a:p>
          <a:p>
            <a:pPr lvl="1"/>
            <a:r>
              <a:rPr lang="en-US" dirty="0"/>
              <a:t>Key </a:t>
            </a:r>
            <a:r>
              <a:rPr lang="en-US" dirty="0" err="1"/>
              <a:t>contributers</a:t>
            </a:r>
            <a:r>
              <a:rPr lang="en-US" dirty="0"/>
              <a:t>: Stephen </a:t>
            </a:r>
            <a:r>
              <a:rPr lang="en-US" dirty="0" err="1"/>
              <a:t>Zeldes</a:t>
            </a:r>
            <a:r>
              <a:rPr lang="en-US" dirty="0"/>
              <a:t>, Christopher </a:t>
            </a:r>
            <a:r>
              <a:rPr lang="en-US" dirty="0" err="1"/>
              <a:t>Carrol</a:t>
            </a:r>
            <a:r>
              <a:rPr lang="en-US" dirty="0"/>
              <a:t>, Pierre-Olivier </a:t>
            </a:r>
            <a:r>
              <a:rPr lang="en-US" dirty="0" err="1"/>
              <a:t>Gourinchas</a:t>
            </a:r>
            <a:r>
              <a:rPr lang="en-US" dirty="0"/>
              <a:t> and Jonathan Parker.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B9AA5AD-3701-488D-8337-65701EB767E3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17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25397</TotalTime>
  <Words>2720</Words>
  <Application>Microsoft Office PowerPoint</Application>
  <PresentationFormat>Widescreen</PresentationFormat>
  <Paragraphs>384</Paragraphs>
  <Slides>50</Slides>
  <Notes>32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5" baseType="lpstr">
      <vt:lpstr>Arial</vt:lpstr>
      <vt:lpstr>Calibri</vt:lpstr>
      <vt:lpstr>Cambria Math</vt:lpstr>
      <vt:lpstr>Office Theme</vt:lpstr>
      <vt:lpstr>Equation</vt:lpstr>
      <vt:lpstr>Lecture 5 Consumption and Saving Macroeconomics (Quantitative) Econ 101B</vt:lpstr>
      <vt:lpstr>Where Do We Stand?</vt:lpstr>
      <vt:lpstr>The Consumption-Savings Model</vt:lpstr>
      <vt:lpstr>A Savings Technology</vt:lpstr>
      <vt:lpstr>Saving and Borrowing</vt:lpstr>
      <vt:lpstr>The Consumption-Savings Model</vt:lpstr>
      <vt:lpstr>Limits on Saving and Borrowing </vt:lpstr>
      <vt:lpstr>Utility Function</vt:lpstr>
      <vt:lpstr>Interpretation of β</vt:lpstr>
      <vt:lpstr>Consumption-Savings Model</vt:lpstr>
      <vt:lpstr>Solving Model: Plug and Chug</vt:lpstr>
      <vt:lpstr>Present Value</vt:lpstr>
      <vt:lpstr>Solving Model</vt:lpstr>
      <vt:lpstr>Solving Model</vt:lpstr>
      <vt:lpstr>Euler Equation by Variational Argument</vt:lpstr>
      <vt:lpstr>Log Utility</vt:lpstr>
      <vt:lpstr>Consumption Growth</vt:lpstr>
      <vt:lpstr>Consumption-Savings</vt:lpstr>
      <vt:lpstr>Consumption Smoothing</vt:lpstr>
      <vt:lpstr>PowerPoint Presentation</vt:lpstr>
      <vt:lpstr>iClicker Poll</vt:lpstr>
      <vt:lpstr>Consumption Growth</vt:lpstr>
      <vt:lpstr>Solving for Level of Consumption</vt:lpstr>
      <vt:lpstr>Level of Consumption</vt:lpstr>
      <vt:lpstr>45 Year Working Life</vt:lpstr>
      <vt:lpstr>Consumption and Income</vt:lpstr>
      <vt:lpstr>Permanent Income Hypothesis</vt:lpstr>
      <vt:lpstr>iClicker Poll</vt:lpstr>
      <vt:lpstr>Consumption and Income</vt:lpstr>
      <vt:lpstr>Marginal Propensity to Consume</vt:lpstr>
      <vt:lpstr>Forward-Looking Behavior</vt:lpstr>
      <vt:lpstr>Forward-Looking Behavior</vt:lpstr>
      <vt:lpstr>Forward-Looking Behavior</vt:lpstr>
      <vt:lpstr>Rational Expectations</vt:lpstr>
      <vt:lpstr>Rational Expectations</vt:lpstr>
      <vt:lpstr>Consumption-Savings: Review</vt:lpstr>
      <vt:lpstr>Consumption-Savings: Review</vt:lpstr>
      <vt:lpstr>Does the Model Fit the Data?</vt:lpstr>
      <vt:lpstr>Does the Model Fit the Data?</vt:lpstr>
      <vt:lpstr>What Is Wrong with the Model?</vt:lpstr>
      <vt:lpstr>How to Make Sense of Evidence?</vt:lpstr>
      <vt:lpstr>Consumption-Saving</vt:lpstr>
      <vt:lpstr>History of Thought</vt:lpstr>
      <vt:lpstr>History of Thought</vt:lpstr>
      <vt:lpstr>History of Thought</vt:lpstr>
      <vt:lpstr>History of Thought</vt:lpstr>
      <vt:lpstr>History of Thought</vt:lpstr>
      <vt:lpstr>History of Thought</vt:lpstr>
      <vt:lpstr>History of Thought</vt:lpstr>
      <vt:lpstr>History of Thought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8</dc:title>
  <dc:creator>Jon Steinsson</dc:creator>
  <cp:lastModifiedBy>Jon Steinsson</cp:lastModifiedBy>
  <cp:revision>1359</cp:revision>
  <cp:lastPrinted>2018-03-06T17:19:18Z</cp:lastPrinted>
  <dcterms:created xsi:type="dcterms:W3CDTF">2009-02-16T13:46:11Z</dcterms:created>
  <dcterms:modified xsi:type="dcterms:W3CDTF">2026-10-18T22:39:19Z</dcterms:modified>
</cp:coreProperties>
</file>